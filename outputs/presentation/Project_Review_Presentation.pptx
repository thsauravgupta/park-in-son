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&lt;&lt;Programme B.Tech/ M.Tech&gt;&gt;</a:t>
            </a:r>
            <a:br/>
            <a:r>
              <a:t>&lt;&lt;Course Code – Course Title&gt;&gt;</a:t>
            </a:r>
          </a:p>
          <a:p>
            <a:br/>
            <a:pPr algn="ctr">
              <a:defRPr sz="2400" b="1">
                <a:solidFill>
                  <a:srgbClr val="003366"/>
                </a:solidFill>
              </a:defRPr>
            </a:pPr>
            <a:r>
              <a:t>Fed-PhenoGraft: Phenotype-Guided Asymmetric Cross-Modal Attention with Shared-Private Latent Decomposition for Federated Multi-Modal Parkinson's Disease Prediction</a:t>
            </a:r>
            <a:br/>
          </a:p>
          <a:p>
            <a:pPr>
              <a:defRPr sz="1600" b="1"/>
            </a:pPr>
            <a:r>
              <a:t>Team members:</a:t>
            </a:r>
            <a:br/>
          </a:p>
          <a:p>
            <a:pPr>
              <a:defRPr sz="1600"/>
            </a:pPr>
            <a:r>
              <a:t>Saurav (&lt;&lt;Reg.No&gt;&gt;)</a:t>
            </a:r>
            <a:br/>
            <a:r>
              <a:t>Amit (&lt;&lt;Reg.No&gt;&gt;)</a:t>
            </a:r>
            <a:br/>
            <a:r>
              <a:t>Shreeyam (&lt;&lt;Reg.No&gt;&gt;)</a:t>
            </a:r>
            <a:br/>
          </a:p>
          <a:p>
            <a:pPr>
              <a:defRPr sz="1600" b="1"/>
            </a:pPr>
            <a:r>
              <a:t>Faculty guide:</a:t>
            </a:r>
            <a:br/>
          </a:p>
          <a:p>
            <a:pPr>
              <a:defRPr sz="1600"/>
            </a:pPr>
            <a:r>
              <a:t>&lt;&lt;Guidename&gt;&gt;</a:t>
            </a:r>
            <a:br/>
            <a:r>
              <a:t>&lt;To …&gt;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21-07-2026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To develop a federated, phenotype-guided multimodal representation learning framework (Fed-PhenoGraft) that improves the prediction of Parkinson's Disease (PD) diagnosis and severity. </a:t>
            </a:r>
            <a:br/>
            <a:br/>
            <a:r>
              <a:t>It achieves this by asymmetrically querying imaging and genetic modalities based on clinical phenotypes, while simultaneously preserving data privacy across multiple clinical sites without centralizing raw patient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21-07-2026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Parkinson’s Disease (PD) diagnosis benefits significantly from multimodal data (clinical, genetics, MRI, PET). However, existing methods treat modalities symmetrically and require centralized data.</a:t>
            </a:r>
            <a:br/>
            <a:br/>
            <a:r>
              <a:t>We propose Fed-PhenoGraft, a novel federated learning framework featuring:</a:t>
            </a:r>
            <a:br/>
            <a:r>
              <a:t>1. Phenotype-Guided Asymmetric Attention: Clinical phenotypes query relevant structural and genetic features.</a:t>
            </a:r>
            <a:br/>
            <a:r>
              <a:t>2. Shared-Private Latent Decomposition: Uses HSIC orthogonality to disentangle disease-relevant info from modality noise.</a:t>
            </a:r>
            <a:br/>
            <a:br/>
            <a:r>
              <a:t>Evaluated on the PPMI cohort, Fed-PhenoGraft aims to achieve superior prognostic accuracy and patient-specific interpretable biomarkers, all while maintaining privacy via Federated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21-07-2026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Modality Fusion: Combining heterogeneous data (MRI, PET, UPDRS, genetics) from the PPMI database consistently outperforms unimodal approaches for PD progression tracking [1].</a:t>
            </a:r>
            <a:br/>
            <a:br/>
            <a:r>
              <a:t>• Architectural Innovations: Recent models utilize cross-attention modules to align different data modalities and dynamically weight their importance, extracting more informative features [2].</a:t>
            </a:r>
            <a:br/>
            <a:br/>
            <a:r>
              <a:t>• Explainability (XAI): There is an increasing demand for explainable AI frameworks in PD diagnosis to identify affected brain regions and relevant genetic variants, moving away from "black-box" deep learning [3].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21-07-2026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Symmetric Treatment of Modalities: Current models treat all data sources as equal peers, lacking the biological motivation where clinical symptoms should actively guide the analysis of imaging data.</a:t>
            </a:r>
            <a:br/>
            <a:br/>
            <a:r>
              <a:t>• Entangled Latent Spaces: Existing fusion methods fail to cleanly separate disease-relevant information from modality-specific variations (e.g., scanner noise, demographic differences).</a:t>
            </a:r>
            <a:br/>
            <a:br/>
            <a:r>
              <a:t>• Data Privacy Issues: State-of-the-art multimodal PD models require centralizing sensitive multi-site patient records, which presents major legal and practical barriers.</a:t>
            </a:r>
            <a:br/>
            <a:br/>
            <a:r>
              <a:t>• Handling Missing Data: In real clinical settings, not all modalities are available; current models often struggle with incomplete patient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21-07-2026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1. To design a Phenotype-Guided Asymmetric Attention mechanism where clinical features selectively query MRI, PET, and genetics.</a:t>
            </a:r>
            <a:br/>
            <a:br/>
            <a:r>
              <a:t>2. To implement a Shared-Private Latent Decomposition using HSIC orthogonality to disentangle disease biomarkers from noise.</a:t>
            </a:r>
            <a:br/>
            <a:br/>
            <a:r>
              <a:t>3. To build a federated learning pipeline (FedAvg) that trains across multiple clinical sites without centralizing raw data.</a:t>
            </a:r>
            <a:br/>
            <a:br/>
            <a:r>
              <a:t>4. To incorporate robustness features (learned mask tokens for missing modalities, Monte Carlo Dropout for uncertainty).</a:t>
            </a:r>
            <a:br/>
            <a:br/>
            <a:r>
              <a:t>5. To provide a multi-level explainability suite (Attention Maps, Integrated Gradients, Counterfactuals).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21-07-2026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Identified: Sustainable Development Goals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Identified: Sustainable Development Goals</a:t>
            </a:r>
          </a:p>
          <a:p>
            <a:pPr>
              <a:defRPr sz="1800"/>
            </a:pPr>
            <a:r>
              <a:t>• SDG 3: Good Health and Well-being (Improving diagnostic accuracy and personalized treatment for Parkinson's Disease)</a:t>
            </a:r>
            <a:br/>
            <a:r>
              <a:t>• SDG 9: Industry, Innovation, and Infrastructure (Developing advanced, privacy-preserving AI infrastructure for healthcare)</a:t>
            </a:r>
            <a:br/>
          </a:p>
          <a:p>
            <a:pPr>
              <a:defRPr b="1" sz="2000"/>
            </a:pPr>
            <a:r>
              <a:t>Outcomes</a:t>
            </a:r>
          </a:p>
          <a:p>
            <a:pPr>
              <a:defRPr sz="1800"/>
            </a:pPr>
            <a:r>
              <a:t>• Journal (Scopus): Target publication in high-impact Q1 journals (e.g., IEEE JBHI, Elsevier Computers in Biology and Medicine).</a:t>
            </a:r>
            <a:br/>
            <a:r>
              <a:t>• Product/Others: A robust, federated AI framework applicable to other multimodal neurodegenerative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21-07-2026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[1] S. P. et al., "Multimodal deep learning for Parkinson's disease diagnosis and progression tracking using PPMI dataset," IEEE Transactions on Medical Imaging, vol. 42, no. 5, pp. 1200-1212, May 2023.</a:t>
            </a:r>
            <a:br/>
            <a:br/>
            <a:r>
              <a:t>[2] A. R. et al., "Residual attention contrastive fusion for multimodal neuroimaging in Parkinson's disease," Medical Image Analysis, vol. 84, 102715, 2023.</a:t>
            </a:r>
            <a:br/>
            <a:br/>
            <a:r>
              <a:t>[3] K. M. et al., "Explainable AI in multimodal deep learning for Parkinson's disease," Computers in Biology and Medicine, vol. 150, 106138,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
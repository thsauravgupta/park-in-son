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113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D97706"/>
                </a:solidFill>
                <a:latin typeface="Trebuchet MS"/>
              </a:defRPr>
            </a:pPr>
            <a:r>
              <a:rPr dirty="0"/>
              <a:t>Fed-CM-CADT Network</a:t>
            </a:r>
          </a:p>
          <a:p>
            <a:pPr>
              <a:spcAft>
                <a:spcPts val="30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dirty="0"/>
              <a:t>Federated Cross-Modal Co-Attentive Dual-Twin Network for Parkinson's Disease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Phase 1 Baseline &amp; Data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D9488"/>
                </a:solidFill>
                <a:latin typeface="Trebuchet MS"/>
              </a:defRPr>
            </a:pPr>
            <a:r>
              <a:t>Embedded Dataset Modalities</a:t>
            </a:r>
          </a:p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• Clinical Data: </a:t>
            </a:r>
            <a:r>
              <a:rPr sz="1300" b="0">
                <a:solidFill>
                  <a:srgbClr val="1E293B"/>
                </a:solidFill>
              </a:rPr>
              <a:t>Standardized scales (MoCA, Age, Demographics) autoencoded into a 32-dim latent space.</a:t>
            </a:r>
          </a:p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• Genetic Markers: </a:t>
            </a:r>
            <a:r>
              <a:rPr sz="1300" b="0">
                <a:solidFill>
                  <a:srgbClr val="1E293B"/>
                </a:solidFill>
              </a:rPr>
              <a:t>PPMI genotyping arrays projected to a 32-dim latent space.</a:t>
            </a:r>
          </a:p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• Structural MRI: </a:t>
            </a:r>
            <a:r>
              <a:rPr sz="1300" b="0">
                <a:solidFill>
                  <a:srgbClr val="1E293B"/>
                </a:solidFill>
              </a:rPr>
              <a:t>FreeSurfer regional brain volumes modeled as a synthetic KNN graph and passed through a 2-layer GCN to output a 64-dim embedding.</a:t>
            </a:r>
          </a:p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• PET / DATScan: </a:t>
            </a:r>
            <a:r>
              <a:rPr sz="1300" b="0">
                <a:solidFill>
                  <a:srgbClr val="1E293B"/>
                </a:solidFill>
              </a:rPr>
              <a:t>Striatum dopamine transporter binding ratios (SBR) passed through a GAT (Graph Attention Network) to yield a 16-dim embedding.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8016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630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D9488"/>
                </a:solidFill>
                <a:latin typeface="Trebuchet MS"/>
              </a:defRPr>
            </a:pPr>
            <a:r>
              <a:rPr dirty="0"/>
              <a:t>14 Baseline Models Evaluated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We constructed a rigorous, leak-proof baseline (SMOTE + MICE imputation inside nested CV folds) evaluating 14 different classifiers and regressors: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✔ Traditional ML: Random Forest,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LightGBM</a:t>
            </a:r>
            <a:r>
              <a:rPr dirty="0"/>
              <a:t>, SVM, Ridge, AdaBoost, Naive Bayes, </a:t>
            </a:r>
            <a:r>
              <a:rPr dirty="0" err="1"/>
              <a:t>ElasticNet</a:t>
            </a:r>
            <a:r>
              <a:rPr dirty="0"/>
              <a:t>, KNN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✔ Deep Learning: Multi-Layer Perceptron (MLP), 1D-CNN, </a:t>
            </a:r>
            <a:r>
              <a:rPr dirty="0" err="1"/>
              <a:t>TabNet</a:t>
            </a:r>
            <a:endParaRPr dirty="0"/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✔ Graph &amp; Federated GNNs: Patient similarity Graph Neural Network, and Simulated </a:t>
            </a:r>
            <a:r>
              <a:rPr dirty="0" err="1"/>
              <a:t>FedAvg</a:t>
            </a:r>
            <a:r>
              <a:rPr dirty="0"/>
              <a:t> GNN (3 clients)</a:t>
            </a:r>
          </a:p>
          <a:p>
            <a:br>
              <a:rPr dirty="0"/>
            </a:br>
            <a:r>
              <a:rPr dirty="0"/>
              <a:t>Key Baseline Results (Tabular Embeddings)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dirty="0"/>
              <a:t>• Best Regression: </a:t>
            </a:r>
            <a:r>
              <a:rPr dirty="0" err="1"/>
              <a:t>XGBoost</a:t>
            </a:r>
            <a:r>
              <a:rPr dirty="0"/>
              <a:t> R² = 0.679, Random Forest CCC = 0.808</a:t>
            </a:r>
            <a:br>
              <a:rPr dirty="0"/>
            </a:br>
            <a:r>
              <a:rPr dirty="0"/>
              <a:t>• Best Classification: AdaBoost AUC = 0.561 (Tested on synthetic labels)</a:t>
            </a:r>
            <a:br>
              <a:rPr dirty="0"/>
            </a:br>
            <a:r>
              <a:rPr dirty="0"/>
              <a:t>• Total Patients/Rows in Intersection Dataset: 3,551 patients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Why Baseline Architectures are Insufficient for Top-Tier Journals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332841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D97706"/>
                </a:solidFill>
                <a:latin typeface="Trebuchet MS"/>
              </a:defRPr>
            </a:pPr>
            <a:r>
              <a:rPr dirty="0"/>
              <a:t>1. Simple Feature Concatenation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Concatenating embeddings assumes clinical, genetic, and imaging modalities operate independently. Reviewers expect a model that dynamically captures cross-talk and inter-modality biological correlations.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62856" y="1828800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D97706"/>
                </a:solidFill>
                <a:latin typeface="Trebuchet MS"/>
              </a:defRPr>
            </a:pPr>
            <a:r>
              <a:rPr dirty="0"/>
              <a:t>2. Data Scale &amp; Overfitting Risk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Training complex deep networks directly on classification/regression with only 3,551 medical samples results in high variance and overfitting. A robust similarity-based feature space is missing.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5592" y="1645920"/>
            <a:ext cx="332841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1828800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D97706"/>
                </a:solidFill>
                <a:latin typeface="Trebuchet MS"/>
              </a:defRPr>
            </a:pPr>
            <a:r>
              <a:t>3. Lack of Privacy &amp; Hospital Simulation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PPMI is a multi-site clinical study. Standard central training ignores hospital-level data isolation. Top-tier medical informatics journals demand realistic Federated Learning evaluations.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Proposed Architecture: Cross-Modal Co-Attentive Dual-Twin Network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D9488"/>
                </a:solidFill>
                <a:latin typeface="Trebuchet MS"/>
              </a:defRPr>
            </a:pPr>
            <a:r>
              <a:t>How CM-CADT Operates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✔ Step 1: Unified Projection: </a:t>
            </a:r>
            <a:r>
              <a:rPr sz="1200" b="0"/>
              <a:t>Clinical, Genetic, GCN, and GAT outputs are projected into a unified 64-dimensional space as 'tokens'.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✔ Step 2: Cross-Modal Attention: </a:t>
            </a:r>
            <a:r>
              <a:rPr sz="1200" b="0"/>
              <a:t>A Multi-Head Self-Attention Transformer lets tokens attend to each other, computing complex inter-modality representations.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✔ Step 3: Dual-Twin Encoders: </a:t>
            </a:r>
            <a:r>
              <a:rPr sz="1200" b="0"/>
              <a:t>Weight-shared projection networks process patient pairs ($x_i, x_j$) into a contrastive latent space.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✔ Step 4: Multi-Task Head: </a:t>
            </a:r>
            <a:r>
              <a:rPr sz="1200" b="0"/>
              <a:t>The output is optimized jointly for Supervised Contrastive Loss, Diagnosis classification, and UPDRS-III regression.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8016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63040"/>
            <a:ext cx="4937760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D9488"/>
                </a:solidFill>
                <a:latin typeface="Trebuchet MS"/>
              </a:defRPr>
            </a:pPr>
            <a:r>
              <a:rPr dirty="0"/>
              <a:t>Why This is a Journal-Grade Contribution</a:t>
            </a:r>
          </a:p>
          <a:p>
            <a:pPr>
              <a:spcAft>
                <a:spcPts val="1000"/>
              </a:spcAft>
              <a:defRPr sz="1300" b="1">
                <a:solidFill>
                  <a:srgbClr val="D97706"/>
                </a:solidFill>
              </a:defRPr>
            </a:pPr>
            <a:r>
              <a:rPr dirty="0"/>
              <a:t>★ Mathematical Novelty</a:t>
            </a:r>
            <a:br>
              <a:rPr dirty="0"/>
            </a:br>
            <a:r>
              <a:rPr sz="1200" b="0" dirty="0">
                <a:solidFill>
                  <a:srgbClr val="1E293B"/>
                </a:solidFill>
              </a:rPr>
              <a:t>Instead of arbitrary concatenation, Multi-Head Attention allows clinical symptoms to dynamically query brain morphology tokens.</a:t>
            </a:r>
          </a:p>
          <a:p>
            <a:pPr>
              <a:spcAft>
                <a:spcPts val="1000"/>
              </a:spcAft>
              <a:defRPr sz="1300" b="1">
                <a:solidFill>
                  <a:srgbClr val="D97706"/>
                </a:solidFill>
              </a:defRPr>
            </a:pPr>
            <a:r>
              <a:rPr dirty="0"/>
              <a:t>★ Effective Sample Size Boost</a:t>
            </a:r>
            <a:br>
              <a:rPr dirty="0"/>
            </a:br>
            <a:r>
              <a:rPr sz="1200" b="0" dirty="0">
                <a:solidFill>
                  <a:srgbClr val="1E293B"/>
                </a:solidFill>
              </a:rPr>
              <a:t>By training on pairs (Dual-Twin) instead of individual patients, the effective training data expands quadratically (O(N^2)), mitigating overfitting.</a:t>
            </a:r>
          </a:p>
          <a:p>
            <a:pPr>
              <a:spcAft>
                <a:spcPts val="1000"/>
              </a:spcAft>
              <a:defRPr sz="1300" b="1">
                <a:solidFill>
                  <a:srgbClr val="D97706"/>
                </a:solidFill>
              </a:defRPr>
            </a:pPr>
            <a:r>
              <a:rPr dirty="0"/>
              <a:t>★ Supervised Contrastive Loss (</a:t>
            </a:r>
            <a:r>
              <a:rPr dirty="0" err="1"/>
              <a:t>SupCon</a:t>
            </a:r>
            <a:r>
              <a:rPr dirty="0"/>
              <a:t>)</a:t>
            </a:r>
            <a:br>
              <a:rPr dirty="0"/>
            </a:br>
            <a:r>
              <a:rPr sz="1200" b="0" dirty="0">
                <a:solidFill>
                  <a:srgbClr val="1E293B"/>
                </a:solidFill>
              </a:rPr>
              <a:t>Rather than unsupervised clustering, </a:t>
            </a:r>
            <a:r>
              <a:rPr sz="1200" b="0" dirty="0" err="1">
                <a:solidFill>
                  <a:srgbClr val="1E293B"/>
                </a:solidFill>
              </a:rPr>
              <a:t>SupCon</a:t>
            </a:r>
            <a:r>
              <a:rPr sz="1200" b="0" dirty="0">
                <a:solidFill>
                  <a:srgbClr val="1E293B"/>
                </a:solidFill>
              </a:rPr>
              <a:t> leverages diagnosis labels to push PD patients closer to each other while isolating Healthy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Pillar 2: Site-Based Federated Learning (FedAvg)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D9488"/>
                </a:solidFill>
                <a:latin typeface="Trebuchet MS"/>
              </a:defRPr>
            </a:pPr>
            <a:r>
              <a:t>Real-World Data Distribution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PPMI is naturally collected across dozens of global clinical sites. Rather than artificial random federated splits, we implement a realistic Site-Based Federated framework:</a:t>
            </a:r>
            <a:br/>
            <a:br/>
            <a:r>
              <a:t>• Clinic Sites as Local Clients: We group patients by their actual CLINICAL_SITE IDs in PPMI.</a:t>
            </a:r>
            <a:br/>
            <a:r>
              <a:t>• Non-IID Cohorts: Different hospitals have different scanner brands, genetic pools, and patient counts, introducing realistic non-IID challenges.</a:t>
            </a:r>
            <a:br/>
            <a:r>
              <a:t>• Multi-Center Evaluation: The model is validated on the ability to generalize to new, unseen hospitals.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8016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630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D9488"/>
                </a:solidFill>
                <a:latin typeface="Trebuchet MS"/>
              </a:defRPr>
            </a:pPr>
            <a:r>
              <a:t>Fed-CM-CADT Training Scheme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• 1. Broadcast: </a:t>
            </a:r>
            <a:r>
              <a:rPr sz="1200" b="0"/>
              <a:t>The central server broadcasts the initial CM-CADT model parameters to each hospital site client.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• 2. Local Optimization: </a:t>
            </a:r>
            <a:r>
              <a:rPr sz="1200" b="0"/>
              <a:t>Each hospital client trains the model on its local patient cohort for a set number of epochs using SupCon and classification losses.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• 3. Parameter Aggregation: </a:t>
            </a:r>
            <a:r>
              <a:rPr sz="1200" b="0"/>
              <a:t>Hospitals securely send only model updates/gradients (no patient data is shared) back to the central server.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• 4. FedAvg Update: </a:t>
            </a:r>
            <a:r>
              <a:rPr sz="1200" b="0"/>
              <a:t>The server averages the client weights weighted by site sample sizes, updating the global model. Repeat for N rounds.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Pillar 3: The 3-Level Explainable AI (XAI) 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332841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D9488"/>
                </a:solidFill>
                <a:latin typeface="Trebuchet MS"/>
              </a:defRPr>
            </a:pPr>
            <a:r>
              <a:rPr dirty="0"/>
              <a:t>Level 1: Cross-Modal Attention Maps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We extract the self-attention weights from the Transformer layer. This visualizes exactly how much attention the model places on structural brain regions (MRI/PET) during clinical and genetic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62856" y="1828800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D9488"/>
                </a:solidFill>
                <a:latin typeface="Trebuchet MS"/>
              </a:defRPr>
            </a:pPr>
            <a:r>
              <a:rPr dirty="0"/>
              <a:t>Level 2: Tabular SHAP Values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SHAP (Shapley Additive </a:t>
            </a:r>
            <a:r>
              <a:rPr dirty="0" err="1"/>
              <a:t>exPlanations</a:t>
            </a:r>
            <a:r>
              <a:rPr dirty="0"/>
              <a:t>) is applied to the Clinical and Genetic MLP encoders. This identifies individual input features (e.g. MoCA score, specific risk genes) driving the patient's latent projection.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5592" y="1645920"/>
            <a:ext cx="332841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1828800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D9488"/>
                </a:solidFill>
                <a:latin typeface="Trebuchet MS"/>
              </a:defRPr>
            </a:pPr>
            <a:r>
              <a:rPr dirty="0"/>
              <a:t>Level 3: Latent Proximity Biomarker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A patient's severity index is mathematically defined as their Euclidean distance to the centroid of the Healthy Control cluster in the dual-twin space. We map this distance to clinical UPDRS-III scores.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896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Saurav Kumar Gupta</cp:lastModifiedBy>
  <cp:revision>2</cp:revision>
  <dcterms:created xsi:type="dcterms:W3CDTF">2013-01-27T09:14:16Z</dcterms:created>
  <dcterms:modified xsi:type="dcterms:W3CDTF">2026-06-21T09:47:39Z</dcterms:modified>
  <cp:category/>
</cp:coreProperties>
</file>
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9"/>
  </p:notesMasterIdLst>
  <p:sldIdLst>
    <p:sldId id="256" r:id="rId2"/>
    <p:sldId id="263" r:id="rId3"/>
    <p:sldId id="257" r:id="rId4"/>
    <p:sldId id="258" r:id="rId5"/>
    <p:sldId id="259" r:id="rId6"/>
    <p:sldId id="271" r:id="rId7"/>
    <p:sldId id="260" r:id="rId8"/>
    <p:sldId id="261" r:id="rId9"/>
    <p:sldId id="272" r:id="rId10"/>
    <p:sldId id="264" r:id="rId11"/>
    <p:sldId id="265" r:id="rId12"/>
    <p:sldId id="266" r:id="rId13"/>
    <p:sldId id="267" r:id="rId14"/>
    <p:sldId id="269" r:id="rId15"/>
    <p:sldId id="270" r:id="rId16"/>
    <p:sldId id="268" r:id="rId17"/>
    <p:sldId id="26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3" d="100"/>
          <a:sy n="93" d="100"/>
        </p:scale>
        <p:origin x="106"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58E2E1-8886-43B2-B986-F2B06DAA2FAC}" type="datetimeFigureOut">
              <a:rPr lang="en-IN" smtClean="0"/>
              <a:t>09-09-2026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59FDF3-42B5-4A41-B75E-186C389084C2}" type="slidenum">
              <a:rPr lang="en-IN" smtClean="0"/>
              <a:t>‹#›</a:t>
            </a:fld>
            <a:endParaRPr lang="en-IN"/>
          </a:p>
        </p:txBody>
      </p:sp>
    </p:spTree>
    <p:extLst>
      <p:ext uri="{BB962C8B-B14F-4D97-AF65-F5344CB8AC3E}">
        <p14:creationId xmlns:p14="http://schemas.microsoft.com/office/powerpoint/2010/main" val="1029858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592BF-19BE-9BF0-E2FC-07A36D054E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83AB4F9-CBB3-B18D-E917-C3B0641867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50F18A0-E201-1900-A139-E830DD3EA1D1}"/>
              </a:ext>
            </a:extLst>
          </p:cNvPr>
          <p:cNvSpPr>
            <a:spLocks noGrp="1"/>
          </p:cNvSpPr>
          <p:nvPr>
            <p:ph type="dt" sz="half" idx="10"/>
          </p:nvPr>
        </p:nvSpPr>
        <p:spPr/>
        <p:txBody>
          <a:bodyPr/>
          <a:lstStyle/>
          <a:p>
            <a:fld id="{8F3E78AE-7F97-4550-9DD8-BF69171FDC30}" type="datetime1">
              <a:rPr lang="en-IN" smtClean="0"/>
              <a:t>09-09-2026</a:t>
            </a:fld>
            <a:endParaRPr lang="en-IN"/>
          </a:p>
        </p:txBody>
      </p:sp>
      <p:sp>
        <p:nvSpPr>
          <p:cNvPr id="5" name="Footer Placeholder 4">
            <a:extLst>
              <a:ext uri="{FF2B5EF4-FFF2-40B4-BE49-F238E27FC236}">
                <a16:creationId xmlns:a16="http://schemas.microsoft.com/office/drawing/2014/main" id="{ED0906B9-B1F6-B52E-2EE0-7595B1EBF0FF}"/>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97A13AE1-F96E-D540-8DE1-8D903DB30CE2}"/>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17651971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2F7EA-3EC9-99AF-13A9-22A3F8B2D21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C71419B-73DB-15DA-D2EE-0FC01B435F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B080259-8D20-E29B-4DC5-312C3DB01BB3}"/>
              </a:ext>
            </a:extLst>
          </p:cNvPr>
          <p:cNvSpPr>
            <a:spLocks noGrp="1"/>
          </p:cNvSpPr>
          <p:nvPr>
            <p:ph type="dt" sz="half" idx="10"/>
          </p:nvPr>
        </p:nvSpPr>
        <p:spPr/>
        <p:txBody>
          <a:bodyPr/>
          <a:lstStyle/>
          <a:p>
            <a:fld id="{FEA886FF-1BA7-4533-94E6-869CE1E2970B}" type="datetime1">
              <a:rPr lang="en-IN" smtClean="0"/>
              <a:t>09-09-2026</a:t>
            </a:fld>
            <a:endParaRPr lang="en-IN"/>
          </a:p>
        </p:txBody>
      </p:sp>
      <p:sp>
        <p:nvSpPr>
          <p:cNvPr id="5" name="Footer Placeholder 4">
            <a:extLst>
              <a:ext uri="{FF2B5EF4-FFF2-40B4-BE49-F238E27FC236}">
                <a16:creationId xmlns:a16="http://schemas.microsoft.com/office/drawing/2014/main" id="{E101830E-3502-194A-88FA-DC3E0F1B309A}"/>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ECF6703C-229C-43C6-0484-38EC263AD4A9}"/>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6939907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CE344-6494-09A6-A5E4-811EEE0CD2A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351A0E2-2B9B-B96E-A3FD-0B26BDDBEB4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767CE67-8E8A-4D0D-42DF-DDC842B1B17A}"/>
              </a:ext>
            </a:extLst>
          </p:cNvPr>
          <p:cNvSpPr>
            <a:spLocks noGrp="1"/>
          </p:cNvSpPr>
          <p:nvPr>
            <p:ph type="dt" sz="half" idx="10"/>
          </p:nvPr>
        </p:nvSpPr>
        <p:spPr/>
        <p:txBody>
          <a:bodyPr/>
          <a:lstStyle/>
          <a:p>
            <a:fld id="{93E22BD8-A2C4-424B-809A-C64DDCC305D9}" type="datetime1">
              <a:rPr lang="en-IN" smtClean="0"/>
              <a:t>09-09-2026</a:t>
            </a:fld>
            <a:endParaRPr lang="en-IN"/>
          </a:p>
        </p:txBody>
      </p:sp>
      <p:sp>
        <p:nvSpPr>
          <p:cNvPr id="5" name="Footer Placeholder 4">
            <a:extLst>
              <a:ext uri="{FF2B5EF4-FFF2-40B4-BE49-F238E27FC236}">
                <a16:creationId xmlns:a16="http://schemas.microsoft.com/office/drawing/2014/main" id="{73A78C3E-C139-1FD1-979B-D71679959D2B}"/>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9932F297-889B-B694-6DD5-92F8A6AAFF71}"/>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958143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2C89C-FEA2-11F6-7988-ADD14A7B22F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0E5DE7B-A406-1142-36EA-1C149874023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4355A2B-361E-86CB-ABBE-C510D2B2215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0DA5E84-A1E0-A1C4-F7E6-DA9E7B124C77}"/>
              </a:ext>
            </a:extLst>
          </p:cNvPr>
          <p:cNvSpPr>
            <a:spLocks noGrp="1"/>
          </p:cNvSpPr>
          <p:nvPr>
            <p:ph type="dt" sz="half" idx="10"/>
          </p:nvPr>
        </p:nvSpPr>
        <p:spPr/>
        <p:txBody>
          <a:bodyPr/>
          <a:lstStyle/>
          <a:p>
            <a:fld id="{B620F4BC-B3A4-46AF-9AEC-8478EF1369D5}" type="datetime1">
              <a:rPr lang="en-IN" smtClean="0"/>
              <a:t>09-09-2026</a:t>
            </a:fld>
            <a:endParaRPr lang="en-IN"/>
          </a:p>
        </p:txBody>
      </p:sp>
      <p:sp>
        <p:nvSpPr>
          <p:cNvPr id="6" name="Footer Placeholder 5">
            <a:extLst>
              <a:ext uri="{FF2B5EF4-FFF2-40B4-BE49-F238E27FC236}">
                <a16:creationId xmlns:a16="http://schemas.microsoft.com/office/drawing/2014/main" id="{D5DDA460-54C8-F2AC-C053-53FF3FAFCCD5}"/>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EE6F132A-BD40-58D2-CEEC-A1BA2B9E2EF2}"/>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438223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823BE-2514-8722-ED45-41E13E46B67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4BFEE3B-6ABA-1D24-97FE-717EBBC999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C653C42-4C6D-988F-42A0-8639A508A61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2B662B4-F942-A78F-394F-74F6037179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B445FBE-A81E-92E1-36E3-99D1586F83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6D20C02-77C2-CB2A-62F8-60B8C62629ED}"/>
              </a:ext>
            </a:extLst>
          </p:cNvPr>
          <p:cNvSpPr>
            <a:spLocks noGrp="1"/>
          </p:cNvSpPr>
          <p:nvPr>
            <p:ph type="dt" sz="half" idx="10"/>
          </p:nvPr>
        </p:nvSpPr>
        <p:spPr/>
        <p:txBody>
          <a:bodyPr/>
          <a:lstStyle/>
          <a:p>
            <a:fld id="{4C9A2993-B405-4F4D-B968-A01C27211659}" type="datetime1">
              <a:rPr lang="en-IN" smtClean="0"/>
              <a:t>09-09-2026</a:t>
            </a:fld>
            <a:endParaRPr lang="en-IN"/>
          </a:p>
        </p:txBody>
      </p:sp>
      <p:sp>
        <p:nvSpPr>
          <p:cNvPr id="8" name="Footer Placeholder 7">
            <a:extLst>
              <a:ext uri="{FF2B5EF4-FFF2-40B4-BE49-F238E27FC236}">
                <a16:creationId xmlns:a16="http://schemas.microsoft.com/office/drawing/2014/main" id="{AD033241-EB08-777E-F678-5D641F6495A5}"/>
              </a:ext>
            </a:extLst>
          </p:cNvPr>
          <p:cNvSpPr>
            <a:spLocks noGrp="1"/>
          </p:cNvSpPr>
          <p:nvPr>
            <p:ph type="ftr" sz="quarter" idx="11"/>
          </p:nvPr>
        </p:nvSpPr>
        <p:spPr/>
        <p:txBody>
          <a:bodyPr/>
          <a:lstStyle/>
          <a:p>
            <a:r>
              <a:rPr lang="en-IN"/>
              <a:t>SCOPE</a:t>
            </a:r>
          </a:p>
        </p:txBody>
      </p:sp>
      <p:sp>
        <p:nvSpPr>
          <p:cNvPr id="9" name="Slide Number Placeholder 8">
            <a:extLst>
              <a:ext uri="{FF2B5EF4-FFF2-40B4-BE49-F238E27FC236}">
                <a16:creationId xmlns:a16="http://schemas.microsoft.com/office/drawing/2014/main" id="{40D711ED-181F-C690-A3B3-1D82670FC5D5}"/>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159272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468B4-E355-69B3-7598-80ADF2F9CC1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2F1AB3B-AFC6-3627-62E6-22313061FA80}"/>
              </a:ext>
            </a:extLst>
          </p:cNvPr>
          <p:cNvSpPr>
            <a:spLocks noGrp="1"/>
          </p:cNvSpPr>
          <p:nvPr>
            <p:ph type="dt" sz="half" idx="10"/>
          </p:nvPr>
        </p:nvSpPr>
        <p:spPr/>
        <p:txBody>
          <a:bodyPr/>
          <a:lstStyle/>
          <a:p>
            <a:fld id="{79378C8C-5FBB-4DD7-A06D-BE263480794B}" type="datetime1">
              <a:rPr lang="en-IN" smtClean="0"/>
              <a:t>09-09-2026</a:t>
            </a:fld>
            <a:endParaRPr lang="en-IN"/>
          </a:p>
        </p:txBody>
      </p:sp>
      <p:sp>
        <p:nvSpPr>
          <p:cNvPr id="4" name="Footer Placeholder 3">
            <a:extLst>
              <a:ext uri="{FF2B5EF4-FFF2-40B4-BE49-F238E27FC236}">
                <a16:creationId xmlns:a16="http://schemas.microsoft.com/office/drawing/2014/main" id="{2B2C6591-48E4-480E-7965-DE9F830154A3}"/>
              </a:ext>
            </a:extLst>
          </p:cNvPr>
          <p:cNvSpPr>
            <a:spLocks noGrp="1"/>
          </p:cNvSpPr>
          <p:nvPr>
            <p:ph type="ftr" sz="quarter" idx="11"/>
          </p:nvPr>
        </p:nvSpPr>
        <p:spPr/>
        <p:txBody>
          <a:bodyPr/>
          <a:lstStyle/>
          <a:p>
            <a:r>
              <a:rPr lang="en-IN"/>
              <a:t>SCOPE</a:t>
            </a:r>
          </a:p>
        </p:txBody>
      </p:sp>
      <p:sp>
        <p:nvSpPr>
          <p:cNvPr id="5" name="Slide Number Placeholder 4">
            <a:extLst>
              <a:ext uri="{FF2B5EF4-FFF2-40B4-BE49-F238E27FC236}">
                <a16:creationId xmlns:a16="http://schemas.microsoft.com/office/drawing/2014/main" id="{F10C9D68-A16A-B2D3-C8A6-B5221AF744BC}"/>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1075061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3F289A-3AD7-C11D-1594-90A35E592B5C}"/>
              </a:ext>
            </a:extLst>
          </p:cNvPr>
          <p:cNvSpPr>
            <a:spLocks noGrp="1"/>
          </p:cNvSpPr>
          <p:nvPr>
            <p:ph type="dt" sz="half" idx="10"/>
          </p:nvPr>
        </p:nvSpPr>
        <p:spPr/>
        <p:txBody>
          <a:bodyPr/>
          <a:lstStyle/>
          <a:p>
            <a:fld id="{31FD2985-06EC-459B-80C8-F6F4362A1C03}" type="datetime1">
              <a:rPr lang="en-IN" smtClean="0"/>
              <a:t>09-09-2026</a:t>
            </a:fld>
            <a:endParaRPr lang="en-IN"/>
          </a:p>
        </p:txBody>
      </p:sp>
      <p:sp>
        <p:nvSpPr>
          <p:cNvPr id="3" name="Footer Placeholder 2">
            <a:extLst>
              <a:ext uri="{FF2B5EF4-FFF2-40B4-BE49-F238E27FC236}">
                <a16:creationId xmlns:a16="http://schemas.microsoft.com/office/drawing/2014/main" id="{8C252269-BBE3-199F-299B-38D4E9CC1899}"/>
              </a:ext>
            </a:extLst>
          </p:cNvPr>
          <p:cNvSpPr>
            <a:spLocks noGrp="1"/>
          </p:cNvSpPr>
          <p:nvPr>
            <p:ph type="ftr" sz="quarter" idx="11"/>
          </p:nvPr>
        </p:nvSpPr>
        <p:spPr/>
        <p:txBody>
          <a:bodyPr/>
          <a:lstStyle/>
          <a:p>
            <a:r>
              <a:rPr lang="en-IN"/>
              <a:t>SCOPE</a:t>
            </a:r>
          </a:p>
        </p:txBody>
      </p:sp>
      <p:sp>
        <p:nvSpPr>
          <p:cNvPr id="4" name="Slide Number Placeholder 3">
            <a:extLst>
              <a:ext uri="{FF2B5EF4-FFF2-40B4-BE49-F238E27FC236}">
                <a16:creationId xmlns:a16="http://schemas.microsoft.com/office/drawing/2014/main" id="{F7407FDC-B2A9-1304-047F-5808A0B6B226}"/>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047265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A4847-FC20-D9BF-0BDE-26EC7EF743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8D9C584-AC19-D7B4-9DFE-7C1BC2E1BC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F4A3262-CE8D-2419-DCCC-C536E9FDAC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4758D6-7AF2-29C5-E0EE-3B7BE155EC20}"/>
              </a:ext>
            </a:extLst>
          </p:cNvPr>
          <p:cNvSpPr>
            <a:spLocks noGrp="1"/>
          </p:cNvSpPr>
          <p:nvPr>
            <p:ph type="dt" sz="half" idx="10"/>
          </p:nvPr>
        </p:nvSpPr>
        <p:spPr/>
        <p:txBody>
          <a:bodyPr/>
          <a:lstStyle/>
          <a:p>
            <a:fld id="{71D7E9DA-13C6-48A4-9305-B592482DE8CE}" type="datetime1">
              <a:rPr lang="en-IN" smtClean="0"/>
              <a:t>09-09-2026</a:t>
            </a:fld>
            <a:endParaRPr lang="en-IN"/>
          </a:p>
        </p:txBody>
      </p:sp>
      <p:sp>
        <p:nvSpPr>
          <p:cNvPr id="6" name="Footer Placeholder 5">
            <a:extLst>
              <a:ext uri="{FF2B5EF4-FFF2-40B4-BE49-F238E27FC236}">
                <a16:creationId xmlns:a16="http://schemas.microsoft.com/office/drawing/2014/main" id="{45AAC7E7-68C4-7616-2DE1-0333E2C446CC}"/>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5E9EF51B-1685-66FF-0783-23584C251751}"/>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7563877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39D0E-3A71-7252-C837-B8281F0DED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FE3D557-6893-299F-57A8-A7B173F101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4CC8BA2-BB08-F4E3-5660-C7370BA568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57E1CE-C7CA-966D-8661-1E99A7DA2174}"/>
              </a:ext>
            </a:extLst>
          </p:cNvPr>
          <p:cNvSpPr>
            <a:spLocks noGrp="1"/>
          </p:cNvSpPr>
          <p:nvPr>
            <p:ph type="dt" sz="half" idx="10"/>
          </p:nvPr>
        </p:nvSpPr>
        <p:spPr/>
        <p:txBody>
          <a:bodyPr/>
          <a:lstStyle/>
          <a:p>
            <a:fld id="{F45E7C4B-C575-4DCF-9B63-045662930500}" type="datetime1">
              <a:rPr lang="en-IN" smtClean="0"/>
              <a:t>09-09-2026</a:t>
            </a:fld>
            <a:endParaRPr lang="en-IN"/>
          </a:p>
        </p:txBody>
      </p:sp>
      <p:sp>
        <p:nvSpPr>
          <p:cNvPr id="6" name="Footer Placeholder 5">
            <a:extLst>
              <a:ext uri="{FF2B5EF4-FFF2-40B4-BE49-F238E27FC236}">
                <a16:creationId xmlns:a16="http://schemas.microsoft.com/office/drawing/2014/main" id="{66055516-3E64-07E5-10C5-DE056657E44B}"/>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AFBA5AD5-9867-E76D-C035-2856CCFBC128}"/>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9400179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1D7EC-16EA-5009-5D33-ABFC55F2813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B09EC6D-8ED5-29E9-9444-CC2D6A1CB8A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1ADFC6-7CEA-ABEE-94C2-870B1E65737A}"/>
              </a:ext>
            </a:extLst>
          </p:cNvPr>
          <p:cNvSpPr>
            <a:spLocks noGrp="1"/>
          </p:cNvSpPr>
          <p:nvPr>
            <p:ph type="dt" sz="half" idx="10"/>
          </p:nvPr>
        </p:nvSpPr>
        <p:spPr/>
        <p:txBody>
          <a:bodyPr/>
          <a:lstStyle/>
          <a:p>
            <a:fld id="{5576931C-EA1A-43DD-B3B3-66F5BA587712}" type="datetime1">
              <a:rPr lang="en-IN" smtClean="0"/>
              <a:t>09-09-2026</a:t>
            </a:fld>
            <a:endParaRPr lang="en-IN"/>
          </a:p>
        </p:txBody>
      </p:sp>
      <p:sp>
        <p:nvSpPr>
          <p:cNvPr id="5" name="Footer Placeholder 4">
            <a:extLst>
              <a:ext uri="{FF2B5EF4-FFF2-40B4-BE49-F238E27FC236}">
                <a16:creationId xmlns:a16="http://schemas.microsoft.com/office/drawing/2014/main" id="{7B1FA3A5-596E-6C2A-F853-30C5DC6FBF0D}"/>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312CE6B1-CE87-B68F-9494-FA6D109F3896}"/>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6598095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0FF105-FC99-2BCB-131F-2B902F8BAE2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0354FD6-064F-6E12-E8DE-81EC913CDB0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F1D2109-32D1-4A0F-F903-5142A204EF48}"/>
              </a:ext>
            </a:extLst>
          </p:cNvPr>
          <p:cNvSpPr>
            <a:spLocks noGrp="1"/>
          </p:cNvSpPr>
          <p:nvPr>
            <p:ph type="dt" sz="half" idx="10"/>
          </p:nvPr>
        </p:nvSpPr>
        <p:spPr/>
        <p:txBody>
          <a:bodyPr/>
          <a:lstStyle/>
          <a:p>
            <a:fld id="{82C9B0E1-7C95-4C20-B9C6-BA51F388E878}" type="datetime1">
              <a:rPr lang="en-IN" smtClean="0"/>
              <a:t>09-09-2026</a:t>
            </a:fld>
            <a:endParaRPr lang="en-IN"/>
          </a:p>
        </p:txBody>
      </p:sp>
      <p:sp>
        <p:nvSpPr>
          <p:cNvPr id="5" name="Footer Placeholder 4">
            <a:extLst>
              <a:ext uri="{FF2B5EF4-FFF2-40B4-BE49-F238E27FC236}">
                <a16:creationId xmlns:a16="http://schemas.microsoft.com/office/drawing/2014/main" id="{73E5353D-EEF9-CF3C-A97F-F0F0EBFA7C59}"/>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3DF2F1DC-3958-BCDE-9A16-88E928E7ED2D}"/>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153354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454249-E28B-CF91-F4A6-9762E4F38B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1E3D641-7C66-CA7D-30A7-7F95AC27EF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5E1D408-B228-838E-3E43-4304680A53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827C3E-786B-4150-9177-1C28966A2ADC}" type="datetime1">
              <a:rPr lang="en-IN" smtClean="0"/>
              <a:t>09-09-2026</a:t>
            </a:fld>
            <a:endParaRPr lang="en-IN"/>
          </a:p>
        </p:txBody>
      </p:sp>
      <p:sp>
        <p:nvSpPr>
          <p:cNvPr id="5" name="Footer Placeholder 4">
            <a:extLst>
              <a:ext uri="{FF2B5EF4-FFF2-40B4-BE49-F238E27FC236}">
                <a16:creationId xmlns:a16="http://schemas.microsoft.com/office/drawing/2014/main" id="{DCEC7A69-1922-F157-900C-FF95668316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SCOPE</a:t>
            </a:r>
          </a:p>
        </p:txBody>
      </p:sp>
      <p:sp>
        <p:nvSpPr>
          <p:cNvPr id="6" name="Slide Number Placeholder 5">
            <a:extLst>
              <a:ext uri="{FF2B5EF4-FFF2-40B4-BE49-F238E27FC236}">
                <a16:creationId xmlns:a16="http://schemas.microsoft.com/office/drawing/2014/main" id="{51B80E76-E345-1553-9664-0BCF569B55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201FD4-9D8D-4491-815B-63C7BF4F0034}" type="slidenum">
              <a:rPr lang="en-IN" smtClean="0"/>
              <a:t>‹#›</a:t>
            </a:fld>
            <a:endParaRPr lang="en-IN"/>
          </a:p>
        </p:txBody>
      </p:sp>
    </p:spTree>
    <p:extLst>
      <p:ext uri="{BB962C8B-B14F-4D97-AF65-F5344CB8AC3E}">
        <p14:creationId xmlns:p14="http://schemas.microsoft.com/office/powerpoint/2010/main" val="13918410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E9E27CD-EF84-CB3A-3D07-A3152356892A}"/>
              </a:ext>
            </a:extLst>
          </p:cNvPr>
          <p:cNvPicPr>
            <a:picLocks noChangeAspect="1"/>
          </p:cNvPicPr>
          <p:nvPr/>
        </p:nvPicPr>
        <p:blipFill>
          <a:blip r:embed="rId2"/>
          <a:stretch>
            <a:fillRect/>
          </a:stretch>
        </p:blipFill>
        <p:spPr>
          <a:xfrm>
            <a:off x="3837236" y="-11493"/>
            <a:ext cx="4517528" cy="1871634"/>
          </a:xfrm>
          <a:prstGeom prst="rect">
            <a:avLst/>
          </a:prstGeom>
        </p:spPr>
      </p:pic>
      <p:sp>
        <p:nvSpPr>
          <p:cNvPr id="7" name="Title 6">
            <a:extLst>
              <a:ext uri="{FF2B5EF4-FFF2-40B4-BE49-F238E27FC236}">
                <a16:creationId xmlns:a16="http://schemas.microsoft.com/office/drawing/2014/main" id="{8BAD67C4-20B4-E1F6-A7E7-C8C33181D0C9}"/>
              </a:ext>
            </a:extLst>
          </p:cNvPr>
          <p:cNvSpPr txBox="1">
            <a:spLocks noGrp="1"/>
          </p:cNvSpPr>
          <p:nvPr>
            <p:ph type="ctrTitle"/>
          </p:nvPr>
        </p:nvSpPr>
        <p:spPr>
          <a:xfrm>
            <a:off x="1907459" y="1934141"/>
            <a:ext cx="8924544" cy="1089529"/>
          </a:xfrm>
          <a:prstGeom prst="rect">
            <a:avLst/>
          </a:prstGeom>
          <a:noFill/>
        </p:spPr>
        <p:txBody>
          <a:bodyPr wrap="square" rtlCol="0">
            <a:spAutoFit/>
          </a:bodyPr>
          <a:lstStyle/>
          <a:p>
            <a:pPr algn="ctr"/>
            <a:r>
              <a:rPr sz="1800" b="1" dirty="0" err="1">
                <a:latin typeface="Times New Roman"/>
              </a:rPr>
              <a:t>Programme</a:t>
            </a:r>
            <a:r>
              <a:rPr sz="1800" b="1" dirty="0">
                <a:latin typeface="Times New Roman"/>
              </a:rPr>
              <a:t> </a:t>
            </a:r>
            <a:r>
              <a:rPr sz="1800" b="1" dirty="0" err="1">
                <a:latin typeface="Times New Roman"/>
              </a:rPr>
              <a:t>B.Tech</a:t>
            </a:r>
            <a:r>
              <a:rPr sz="1800" b="1" dirty="0">
                <a:latin typeface="Times New Roman"/>
              </a:rPr>
              <a:t> — BCSE497J · Project I</a:t>
            </a:r>
          </a:p>
          <a:p>
            <a:pPr algn="ctr"/>
            <a:r>
              <a:rPr sz="2100" b="1" dirty="0">
                <a:latin typeface="Times New Roman"/>
              </a:rPr>
              <a:t>Fed-</a:t>
            </a:r>
            <a:r>
              <a:rPr sz="2100" b="1" dirty="0" err="1">
                <a:latin typeface="Times New Roman"/>
              </a:rPr>
              <a:t>PhenoGraft</a:t>
            </a:r>
            <a:r>
              <a:rPr sz="2100" b="1" dirty="0">
                <a:latin typeface="Times New Roman"/>
              </a:rPr>
              <a:t>: Phenotype-Guided Asymmetric Cross-Modal Attention with Shared-Private Latent Decomposition for Federated Multi-Modal Parkinson's Disease Prediction</a:t>
            </a:r>
          </a:p>
        </p:txBody>
      </p:sp>
      <p:sp>
        <p:nvSpPr>
          <p:cNvPr id="9" name="object 3">
            <a:extLst>
              <a:ext uri="{FF2B5EF4-FFF2-40B4-BE49-F238E27FC236}">
                <a16:creationId xmlns:a16="http://schemas.microsoft.com/office/drawing/2014/main" id="{68BC382C-506F-4908-6AC3-C0AA73064F47}"/>
              </a:ext>
            </a:extLst>
          </p:cNvPr>
          <p:cNvSpPr txBox="1"/>
          <p:nvPr/>
        </p:nvSpPr>
        <p:spPr>
          <a:xfrm>
            <a:off x="2609088" y="3208471"/>
            <a:ext cx="7071360" cy="2460809"/>
          </a:xfrm>
          <a:prstGeom prst="rect">
            <a:avLst/>
          </a:prstGeom>
        </p:spPr>
        <p:txBody>
          <a:bodyPr vert="horz" wrap="square" lIns="0" tIns="12700" rIns="0" bIns="0" rtlCol="0">
            <a:spAutoFit/>
          </a:bodyPr>
          <a:lstStyle/>
          <a:p>
            <a:pPr>
              <a:lnSpc>
                <a:spcPct val="100000"/>
              </a:lnSpc>
              <a:spcBef>
                <a:spcPts val="200"/>
              </a:spcBef>
              <a:spcAft>
                <a:spcPts val="200"/>
              </a:spcAft>
            </a:pPr>
            <a:r>
              <a:rPr sz="1800" b="0">
                <a:latin typeface="Times New Roman"/>
              </a:rPr>
              <a:t>Team members:</a:t>
            </a:r>
            <a:endParaRPr sz="1800" dirty="0">
              <a:latin typeface="Times New Roman"/>
              <a:cs typeface="Times New Roman"/>
            </a:endParaRPr>
          </a:p>
          <a:p>
            <a:pPr>
              <a:spcAft>
                <a:spcPts val="200"/>
              </a:spcAft>
            </a:pPr>
            <a:r>
              <a:rPr sz="1800" b="1">
                <a:latin typeface="Times New Roman"/>
              </a:rPr>
              <a:t>Saurav Kumar Gupta		(23BCE2336)</a:t>
            </a:r>
          </a:p>
          <a:p>
            <a:pPr>
              <a:spcAft>
                <a:spcPts val="200"/>
              </a:spcAft>
            </a:pPr>
            <a:r>
              <a:rPr sz="1800" b="1">
                <a:latin typeface="Times New Roman"/>
              </a:rPr>
              <a:t>Amit Adhikari			(23BCE2327)</a:t>
            </a:r>
          </a:p>
          <a:p>
            <a:pPr>
              <a:spcAft>
                <a:spcPts val="200"/>
              </a:spcAft>
            </a:pPr>
            <a:r>
              <a:rPr sz="1800" b="1">
                <a:latin typeface="Times New Roman"/>
              </a:rPr>
              <a:t>Shreeyam Acharya		(23BCE2330)</a:t>
            </a:r>
          </a:p>
          <a:p>
            <a:pPr>
              <a:spcAft>
                <a:spcPts val="200"/>
              </a:spcAft>
            </a:pPr>
            <a:endParaRPr sz="1800" b="1">
              <a:latin typeface="Times New Roman"/>
            </a:endParaRPr>
          </a:p>
          <a:p>
            <a:pPr>
              <a:spcAft>
                <a:spcPts val="200"/>
              </a:spcAft>
            </a:pPr>
            <a:r>
              <a:rPr sz="1800" b="0">
                <a:latin typeface="Times New Roman"/>
              </a:rPr>
              <a:t>Faculty guide:</a:t>
            </a:r>
          </a:p>
          <a:p>
            <a:pPr>
              <a:spcAft>
                <a:spcPts val="200"/>
              </a:spcAft>
            </a:pPr>
            <a:r>
              <a:rPr sz="1800" b="1">
                <a:latin typeface="Times New Roman"/>
              </a:rPr>
              <a:t>Dhivyaa CR			(20701)</a:t>
            </a:r>
          </a:p>
        </p:txBody>
      </p:sp>
    </p:spTree>
    <p:extLst>
      <p:ext uri="{BB962C8B-B14F-4D97-AF65-F5344CB8AC3E}">
        <p14:creationId xmlns:p14="http://schemas.microsoft.com/office/powerpoint/2010/main" val="4243036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CBE13-A9D6-9564-DA47-597E38E09F70}"/>
              </a:ext>
            </a:extLst>
          </p:cNvPr>
          <p:cNvSpPr>
            <a:spLocks noGrp="1"/>
          </p:cNvSpPr>
          <p:nvPr>
            <p:ph type="title"/>
          </p:nvPr>
        </p:nvSpPr>
        <p:spPr/>
        <p:txBody>
          <a:bodyPr>
            <a:normAutofit/>
          </a:bodyPr>
          <a:lstStyle/>
          <a:p>
            <a:r>
              <a:rPr lang="en-IN" sz="2800" b="1" dirty="0">
                <a:latin typeface="Times New Roman" panose="02020603050405020304" pitchFamily="18" charset="0"/>
                <a:cs typeface="Times New Roman" panose="02020603050405020304" pitchFamily="18" charset="0"/>
              </a:rPr>
              <a:t>Approval Mail From Guide</a:t>
            </a:r>
          </a:p>
        </p:txBody>
      </p:sp>
      <p:sp>
        <p:nvSpPr>
          <p:cNvPr id="4" name="Date Placeholder 3">
            <a:extLst>
              <a:ext uri="{FF2B5EF4-FFF2-40B4-BE49-F238E27FC236}">
                <a16:creationId xmlns:a16="http://schemas.microsoft.com/office/drawing/2014/main" id="{C7827C50-3ED3-2DB6-C227-6784C6CA9E30}"/>
              </a:ext>
            </a:extLst>
          </p:cNvPr>
          <p:cNvSpPr>
            <a:spLocks noGrp="1"/>
          </p:cNvSpPr>
          <p:nvPr>
            <p:ph type="dt" sz="half" idx="10"/>
          </p:nvPr>
        </p:nvSpPr>
        <p:spPr/>
        <p:txBody>
          <a:bodyPr/>
          <a:lstStyle/>
          <a:p>
            <a:r>
              <a:rPr lang="en-IN" dirty="0"/>
              <a:t>09-09-2026</a:t>
            </a:r>
          </a:p>
        </p:txBody>
      </p:sp>
      <p:sp>
        <p:nvSpPr>
          <p:cNvPr id="5" name="Footer Placeholder 4">
            <a:extLst>
              <a:ext uri="{FF2B5EF4-FFF2-40B4-BE49-F238E27FC236}">
                <a16:creationId xmlns:a16="http://schemas.microsoft.com/office/drawing/2014/main" id="{56664170-792F-28F8-1C31-5F7A8D69F97E}"/>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EE16528B-72DB-0275-6A94-33ABB5CD7075}"/>
              </a:ext>
            </a:extLst>
          </p:cNvPr>
          <p:cNvSpPr>
            <a:spLocks noGrp="1"/>
          </p:cNvSpPr>
          <p:nvPr>
            <p:ph type="sldNum" sz="quarter" idx="12"/>
          </p:nvPr>
        </p:nvSpPr>
        <p:spPr/>
        <p:txBody>
          <a:bodyPr/>
          <a:lstStyle/>
          <a:p>
            <a:fld id="{65201FD4-9D8D-4491-815B-63C7BF4F0034}" type="slidenum">
              <a:rPr lang="en-IN" smtClean="0"/>
              <a:t>2</a:t>
            </a:fld>
            <a:endParaRPr lang="en-IN"/>
          </a:p>
        </p:txBody>
      </p:sp>
      <p:pic>
        <p:nvPicPr>
          <p:cNvPr id="7" name="Picture 6">
            <a:extLst>
              <a:ext uri="{FF2B5EF4-FFF2-40B4-BE49-F238E27FC236}">
                <a16:creationId xmlns:a16="http://schemas.microsoft.com/office/drawing/2014/main" id="{0CEDEE5C-B00F-8DAD-B53C-A241831A3522}"/>
              </a:ext>
            </a:extLst>
          </p:cNvPr>
          <p:cNvPicPr>
            <a:picLocks noChangeAspect="1"/>
          </p:cNvPicPr>
          <p:nvPr/>
        </p:nvPicPr>
        <p:blipFill>
          <a:blip r:embed="rId2"/>
          <a:stretch>
            <a:fillRect/>
          </a:stretch>
        </p:blipFill>
        <p:spPr>
          <a:xfrm>
            <a:off x="1359878" y="1690688"/>
            <a:ext cx="8670560" cy="3789049"/>
          </a:xfrm>
          <a:prstGeom prst="rect">
            <a:avLst/>
          </a:prstGeom>
        </p:spPr>
      </p:pic>
    </p:spTree>
    <p:extLst>
      <p:ext uri="{BB962C8B-B14F-4D97-AF65-F5344CB8AC3E}">
        <p14:creationId xmlns:p14="http://schemas.microsoft.com/office/powerpoint/2010/main" val="12565606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68A428-04DA-E6A8-7606-5D2FE5F31C52}"/>
              </a:ext>
            </a:extLst>
          </p:cNvPr>
          <p:cNvSpPr>
            <a:spLocks noGrp="1"/>
          </p:cNvSpPr>
          <p:nvPr>
            <p:ph idx="1"/>
          </p:nvPr>
        </p:nvSpPr>
        <p:spPr/>
        <p:txBody>
          <a:bodyPr wrap="square">
            <a:normAutofit/>
          </a:bodyPr>
          <a:lstStyle/>
          <a:p>
            <a:pPr>
              <a:spcAft>
                <a:spcPts val="1400"/>
              </a:spcAft>
            </a:pPr>
            <a:r>
              <a:rPr sz="2000" b="0">
                <a:solidFill>
                  <a:srgbClr val="44546A"/>
                </a:solidFill>
                <a:latin typeface="Times New Roman"/>
              </a:rPr>
              <a:t>To develop a federated, phenotype-guided multimodal representation learning framework (Fed-PhenoGraft) that improves the prediction of Parkinson's Disease (PD) diagnosis and progression severity.</a:t>
            </a:r>
          </a:p>
          <a:p>
            <a:pPr>
              <a:spcAft>
                <a:spcPts val="1400"/>
              </a:spcAft>
            </a:pPr>
            <a:r>
              <a:rPr sz="2000" b="0">
                <a:solidFill>
                  <a:srgbClr val="44546A"/>
                </a:solidFill>
                <a:latin typeface="Times New Roman"/>
              </a:rPr>
              <a:t>It achieves this by asymmetrically querying imaging and genetic modalities based on clinical phenotypes, while simultaneously preserving data privacy across multiple clinical sites without centralizing raw patient data.</a:t>
            </a:r>
          </a:p>
        </p:txBody>
      </p:sp>
      <p:sp>
        <p:nvSpPr>
          <p:cNvPr id="4" name="object 2">
            <a:extLst>
              <a:ext uri="{FF2B5EF4-FFF2-40B4-BE49-F238E27FC236}">
                <a16:creationId xmlns:a16="http://schemas.microsoft.com/office/drawing/2014/main" id="{027305EA-516C-11F8-8A54-2BA046094ABC}"/>
              </a:ext>
            </a:extLst>
          </p:cNvPr>
          <p:cNvSpPr txBox="1">
            <a:spLocks noGrp="1"/>
          </p:cNvSpPr>
          <p:nvPr>
            <p:ph type="title"/>
          </p:nvPr>
        </p:nvSpPr>
        <p:spPr>
          <a:xfrm>
            <a:off x="838200" y="739558"/>
            <a:ext cx="10515600" cy="576696"/>
          </a:xfrm>
          <a:prstGeom prst="rect">
            <a:avLst/>
          </a:prstGeom>
        </p:spPr>
        <p:txBody>
          <a:bodyPr vert="horz" wrap="square" lIns="0" tIns="113919" rIns="0" bIns="0" rtlCol="0">
            <a:spAutoFit/>
          </a:bodyPr>
          <a:lstStyle/>
          <a:p>
            <a:pPr marL="486409">
              <a:lnSpc>
                <a:spcPct val="100000"/>
              </a:lnSpc>
              <a:spcBef>
                <a:spcPts val="130"/>
              </a:spcBef>
            </a:pPr>
            <a:r>
              <a:rPr sz="3000" b="1">
                <a:latin typeface="Times New Roman"/>
              </a:rPr>
              <a:t>Aim</a:t>
            </a:r>
            <a:endParaRPr sz="3000" b="1" dirty="0">
              <a:latin typeface="Times New Roman" panose="02020603050405020304" pitchFamily="18" charset="0"/>
              <a:cs typeface="Times New Roman" panose="02020603050405020304" pitchFamily="18" charset="0"/>
            </a:endParaRPr>
          </a:p>
        </p:txBody>
      </p:sp>
      <p:sp>
        <p:nvSpPr>
          <p:cNvPr id="7" name="Date Placeholder 6">
            <a:extLst>
              <a:ext uri="{FF2B5EF4-FFF2-40B4-BE49-F238E27FC236}">
                <a16:creationId xmlns:a16="http://schemas.microsoft.com/office/drawing/2014/main" id="{779E6AA7-AE20-8A91-BA42-261BF76A2F8B}"/>
              </a:ext>
            </a:extLst>
          </p:cNvPr>
          <p:cNvSpPr>
            <a:spLocks noGrp="1"/>
          </p:cNvSpPr>
          <p:nvPr>
            <p:ph type="dt" sz="half" idx="10"/>
          </p:nvPr>
        </p:nvSpPr>
        <p:spPr/>
        <p:txBody>
          <a:bodyPr/>
          <a:lstStyle/>
          <a:p>
            <a:r>
              <a:rPr lang="en-IN" dirty="0"/>
              <a:t>09-09-2026</a:t>
            </a:r>
          </a:p>
          <a:p>
            <a:endParaRPr lang="en-IN" dirty="0"/>
          </a:p>
        </p:txBody>
      </p:sp>
      <p:sp>
        <p:nvSpPr>
          <p:cNvPr id="8" name="Footer Placeholder 7">
            <a:extLst>
              <a:ext uri="{FF2B5EF4-FFF2-40B4-BE49-F238E27FC236}">
                <a16:creationId xmlns:a16="http://schemas.microsoft.com/office/drawing/2014/main" id="{B77FE434-77F0-B8BE-9198-66090332F3F0}"/>
              </a:ext>
            </a:extLst>
          </p:cNvPr>
          <p:cNvSpPr>
            <a:spLocks noGrp="1"/>
          </p:cNvSpPr>
          <p:nvPr>
            <p:ph type="ftr" sz="quarter" idx="11"/>
          </p:nvPr>
        </p:nvSpPr>
        <p:spPr/>
        <p:txBody>
          <a:bodyPr/>
          <a:lstStyle/>
          <a:p>
            <a:r>
              <a:rPr lang="en-IN"/>
              <a:t>SCOPE</a:t>
            </a:r>
          </a:p>
        </p:txBody>
      </p:sp>
      <p:sp>
        <p:nvSpPr>
          <p:cNvPr id="9" name="Slide Number Placeholder 8">
            <a:extLst>
              <a:ext uri="{FF2B5EF4-FFF2-40B4-BE49-F238E27FC236}">
                <a16:creationId xmlns:a16="http://schemas.microsoft.com/office/drawing/2014/main" id="{5AD6A9DA-AEE9-F6FE-EFA8-06396314F7E6}"/>
              </a:ext>
            </a:extLst>
          </p:cNvPr>
          <p:cNvSpPr>
            <a:spLocks noGrp="1"/>
          </p:cNvSpPr>
          <p:nvPr>
            <p:ph type="sldNum" sz="quarter" idx="12"/>
          </p:nvPr>
        </p:nvSpPr>
        <p:spPr/>
        <p:txBody>
          <a:bodyPr/>
          <a:lstStyle/>
          <a:p>
            <a:fld id="{65201FD4-9D8D-4491-815B-63C7BF4F0034}" type="slidenum">
              <a:rPr lang="en-IN" smtClean="0"/>
              <a:t>3</a:t>
            </a:fld>
            <a:endParaRPr lang="en-IN"/>
          </a:p>
        </p:txBody>
      </p:sp>
    </p:spTree>
    <p:extLst>
      <p:ext uri="{BB962C8B-B14F-4D97-AF65-F5344CB8AC3E}">
        <p14:creationId xmlns:p14="http://schemas.microsoft.com/office/powerpoint/2010/main" val="25435188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D95E8-8D7C-F548-8B75-23C3B2B15B1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DDED8F-1EBD-2E10-598E-0CA3F56F05DF}"/>
              </a:ext>
            </a:extLst>
          </p:cNvPr>
          <p:cNvSpPr>
            <a:spLocks noGrp="1"/>
          </p:cNvSpPr>
          <p:nvPr>
            <p:ph idx="1"/>
          </p:nvPr>
        </p:nvSpPr>
        <p:spPr/>
        <p:txBody>
          <a:bodyPr wrap="square">
            <a:normAutofit/>
          </a:bodyPr>
          <a:lstStyle/>
          <a:p>
            <a:pPr>
              <a:spcAft>
                <a:spcPts val="1000"/>
              </a:spcAft>
            </a:pPr>
            <a:r>
              <a:rPr sz="1500" b="0">
                <a:solidFill>
                  <a:srgbClr val="44546A"/>
                </a:solidFill>
                <a:latin typeface="Times New Roman"/>
              </a:rPr>
              <a:t>Parkinson's Disease management depends on multimodal data (clinical scales, MRI, DaTScan PET, genetics), yet modalities are unequal in reliability, frequently missing per patient, and held by sites that cannot pool raw records.</a:t>
            </a:r>
          </a:p>
          <a:p>
            <a:pPr>
              <a:spcAft>
                <a:spcPts val="1000"/>
              </a:spcAft>
            </a:pPr>
            <a:r>
              <a:rPr sz="1500" b="0">
                <a:solidFill>
                  <a:srgbClr val="44546A"/>
                </a:solidFill>
                <a:latin typeface="Times New Roman"/>
              </a:rPr>
              <a:t>We propose Fed-PhenoGraft, a federated framework with three contributions: (1) Phenotype-Guided Asymmetric Attention, where clinical embeddings act as the query over imaging and genetic keys; (2) Shared-Private Latent Decomposition using an HSIC orthogonality penalty to separate disease signal from modality noise; and (3) learned mask tokens that consume patients with missing modalities.</a:t>
            </a:r>
          </a:p>
          <a:p>
            <a:pPr>
              <a:spcAft>
                <a:spcPts val="1000"/>
              </a:spcAft>
            </a:pPr>
            <a:r>
              <a:rPr sz="1500" b="0">
                <a:solidFill>
                  <a:srgbClr val="44546A"/>
                </a:solidFill>
                <a:latin typeface="Times New Roman"/>
              </a:rPr>
              <a:t>Trained by sample-weighted FedAvg over 4 non-IID sites (Dirichlet α = 0.5) and evaluated once on a held-out subject-level split of 3,472 PPMI subjects, the model attains ROC-AUC 0.982 and accuracy 0.937 for PD vs HC, and CCC 0.147 [95% CI 0.041–0.244] for two-year Δ UPDRS-III progression.</a:t>
            </a:r>
          </a:p>
          <a:p>
            <a:pPr>
              <a:spcAft>
                <a:spcPts val="1000"/>
              </a:spcAft>
            </a:pPr>
            <a:r>
              <a:rPr sz="1500" b="0">
                <a:solidFill>
                  <a:srgbClr val="44546A"/>
                </a:solidFill>
                <a:latin typeface="Times New Roman"/>
              </a:rPr>
              <a:t>An 8-variant ablation and an integrated-gradients analysis identify DaTScan as the dominant imaging signal and quantify the cost of the current synthetic-MRI branch.</a:t>
            </a:r>
          </a:p>
        </p:txBody>
      </p:sp>
      <p:sp>
        <p:nvSpPr>
          <p:cNvPr id="4" name="object 2">
            <a:extLst>
              <a:ext uri="{FF2B5EF4-FFF2-40B4-BE49-F238E27FC236}">
                <a16:creationId xmlns:a16="http://schemas.microsoft.com/office/drawing/2014/main" id="{156C6ACB-BF9E-DB99-B99C-4896C652737E}"/>
              </a:ext>
            </a:extLst>
          </p:cNvPr>
          <p:cNvSpPr txBox="1">
            <a:spLocks noGrp="1"/>
          </p:cNvSpPr>
          <p:nvPr>
            <p:ph type="title"/>
          </p:nvPr>
        </p:nvSpPr>
        <p:spPr>
          <a:xfrm>
            <a:off x="838200" y="739558"/>
            <a:ext cx="10515600" cy="576696"/>
          </a:xfrm>
          <a:prstGeom prst="rect">
            <a:avLst/>
          </a:prstGeom>
        </p:spPr>
        <p:txBody>
          <a:bodyPr vert="horz" wrap="square" lIns="0" tIns="113919" rIns="0" bIns="0" rtlCol="0">
            <a:spAutoFit/>
          </a:bodyPr>
          <a:lstStyle/>
          <a:p>
            <a:pPr marL="486409">
              <a:lnSpc>
                <a:spcPct val="100000"/>
              </a:lnSpc>
              <a:spcBef>
                <a:spcPts val="130"/>
              </a:spcBef>
            </a:pPr>
            <a:r>
              <a:rPr sz="3000" b="1">
                <a:latin typeface="Times New Roman"/>
              </a:rPr>
              <a:t>Abstract</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7C3D067F-DF0A-3BD2-0B9E-C22E39B7F8C0}"/>
              </a:ext>
            </a:extLst>
          </p:cNvPr>
          <p:cNvSpPr>
            <a:spLocks noGrp="1"/>
          </p:cNvSpPr>
          <p:nvPr>
            <p:ph type="dt" sz="half" idx="10"/>
          </p:nvPr>
        </p:nvSpPr>
        <p:spPr/>
        <p:txBody>
          <a:bodyPr/>
          <a:lstStyle/>
          <a:p>
            <a:r>
              <a:rPr lang="en-IN" dirty="0"/>
              <a:t>09-09-2026</a:t>
            </a:r>
          </a:p>
          <a:p>
            <a:endParaRPr lang="en-IN" dirty="0"/>
          </a:p>
        </p:txBody>
      </p:sp>
      <p:sp>
        <p:nvSpPr>
          <p:cNvPr id="5" name="Footer Placeholder 4">
            <a:extLst>
              <a:ext uri="{FF2B5EF4-FFF2-40B4-BE49-F238E27FC236}">
                <a16:creationId xmlns:a16="http://schemas.microsoft.com/office/drawing/2014/main" id="{E1EFD8C3-C2D0-4BBB-7FD8-43FE2C084A64}"/>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8BB9991A-41D4-F0AB-EF39-ACE70C817D43}"/>
              </a:ext>
            </a:extLst>
          </p:cNvPr>
          <p:cNvSpPr>
            <a:spLocks noGrp="1"/>
          </p:cNvSpPr>
          <p:nvPr>
            <p:ph type="sldNum" sz="quarter" idx="12"/>
          </p:nvPr>
        </p:nvSpPr>
        <p:spPr/>
        <p:txBody>
          <a:bodyPr/>
          <a:lstStyle/>
          <a:p>
            <a:fld id="{65201FD4-9D8D-4491-815B-63C7BF4F0034}" type="slidenum">
              <a:rPr lang="en-IN" smtClean="0"/>
              <a:t>4</a:t>
            </a:fld>
            <a:endParaRPr lang="en-IN"/>
          </a:p>
        </p:txBody>
      </p:sp>
    </p:spTree>
    <p:extLst>
      <p:ext uri="{BB962C8B-B14F-4D97-AF65-F5344CB8AC3E}">
        <p14:creationId xmlns:p14="http://schemas.microsoft.com/office/powerpoint/2010/main" val="34530979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0AE58-8206-476A-BECC-A1ADC0EA154A}"/>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435FB437-6170-6BA2-1A38-A902855A3E61}"/>
              </a:ext>
            </a:extLst>
          </p:cNvPr>
          <p:cNvSpPr txBox="1">
            <a:spLocks noGrp="1"/>
          </p:cNvSpPr>
          <p:nvPr>
            <p:ph type="title"/>
          </p:nvPr>
        </p:nvSpPr>
        <p:spPr>
          <a:xfrm>
            <a:off x="448056"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US" sz="3000" b="1" dirty="0">
                <a:solidFill>
                  <a:schemeClr val="accent1"/>
                </a:solidFill>
                <a:latin typeface="Times New Roman" panose="02020603050405020304" pitchFamily="18" charset="0"/>
                <a:cs typeface="Times New Roman" panose="02020603050405020304" pitchFamily="18" charset="0"/>
              </a:rPr>
              <a:t>Literature Review</a:t>
            </a:r>
            <a:endParaRPr sz="3000" b="1" dirty="0">
              <a:solidFill>
                <a:schemeClr val="accent1"/>
              </a:solidFill>
              <a:latin typeface="Times New Roman" panose="02020603050405020304" pitchFamily="18" charset="0"/>
              <a:cs typeface="Times New Roman" panose="02020603050405020304" pitchFamily="18" charset="0"/>
            </a:endParaRPr>
          </a:p>
        </p:txBody>
      </p:sp>
      <p:sp>
        <p:nvSpPr>
          <p:cNvPr id="8" name="Date Placeholder 7">
            <a:extLst>
              <a:ext uri="{FF2B5EF4-FFF2-40B4-BE49-F238E27FC236}">
                <a16:creationId xmlns:a16="http://schemas.microsoft.com/office/drawing/2014/main" id="{913BC6E0-D294-E70D-8B27-13FBFEE5E6F7}"/>
              </a:ext>
            </a:extLst>
          </p:cNvPr>
          <p:cNvSpPr>
            <a:spLocks noGrp="1"/>
          </p:cNvSpPr>
          <p:nvPr>
            <p:ph type="dt" sz="half" idx="10"/>
          </p:nvPr>
        </p:nvSpPr>
        <p:spPr/>
        <p:txBody>
          <a:bodyPr/>
          <a:lstStyle/>
          <a:p>
            <a:r>
              <a:rPr lang="en-IN" dirty="0"/>
              <a:t>09-09-2026</a:t>
            </a:r>
          </a:p>
          <a:p>
            <a:endParaRPr lang="en-IN" dirty="0"/>
          </a:p>
        </p:txBody>
      </p:sp>
      <p:sp>
        <p:nvSpPr>
          <p:cNvPr id="9" name="Footer Placeholder 8">
            <a:extLst>
              <a:ext uri="{FF2B5EF4-FFF2-40B4-BE49-F238E27FC236}">
                <a16:creationId xmlns:a16="http://schemas.microsoft.com/office/drawing/2014/main" id="{1F284BA2-3334-3EC1-0E81-4C909589729F}"/>
              </a:ext>
            </a:extLst>
          </p:cNvPr>
          <p:cNvSpPr>
            <a:spLocks noGrp="1"/>
          </p:cNvSpPr>
          <p:nvPr>
            <p:ph type="ftr" sz="quarter" idx="11"/>
          </p:nvPr>
        </p:nvSpPr>
        <p:spPr/>
        <p:txBody>
          <a:bodyPr/>
          <a:lstStyle/>
          <a:p>
            <a:r>
              <a:rPr lang="en-IN"/>
              <a:t>SCOPE</a:t>
            </a:r>
          </a:p>
        </p:txBody>
      </p:sp>
      <p:sp>
        <p:nvSpPr>
          <p:cNvPr id="10" name="Slide Number Placeholder 9">
            <a:extLst>
              <a:ext uri="{FF2B5EF4-FFF2-40B4-BE49-F238E27FC236}">
                <a16:creationId xmlns:a16="http://schemas.microsoft.com/office/drawing/2014/main" id="{5A8F14EB-D02F-8EDE-87F4-A3F7E8D20C44}"/>
              </a:ext>
            </a:extLst>
          </p:cNvPr>
          <p:cNvSpPr>
            <a:spLocks noGrp="1"/>
          </p:cNvSpPr>
          <p:nvPr>
            <p:ph type="sldNum" sz="quarter" idx="12"/>
          </p:nvPr>
        </p:nvSpPr>
        <p:spPr/>
        <p:txBody>
          <a:bodyPr/>
          <a:lstStyle/>
          <a:p>
            <a:fld id="{65201FD4-9D8D-4491-815B-63C7BF4F0034}" type="slidenum">
              <a:rPr lang="en-IN" smtClean="0"/>
              <a:t>5</a:t>
            </a:fld>
            <a:endParaRPr lang="en-IN"/>
          </a:p>
        </p:txBody>
      </p:sp>
      <p:pic>
        <p:nvPicPr>
          <p:cNvPr id="11" name="Picture 10">
            <a:extLst>
              <a:ext uri="{FF2B5EF4-FFF2-40B4-BE49-F238E27FC236}">
                <a16:creationId xmlns:a16="http://schemas.microsoft.com/office/drawing/2014/main" id="{D1DE085E-4956-BD9F-6583-78A0AF5C43D3}"/>
              </a:ext>
            </a:extLst>
          </p:cNvPr>
          <p:cNvPicPr>
            <a:picLocks noChangeAspect="1"/>
          </p:cNvPicPr>
          <p:nvPr/>
        </p:nvPicPr>
        <p:blipFill>
          <a:blip r:embed="rId2"/>
          <a:srcRect t="17577"/>
          <a:stretch>
            <a:fillRect/>
          </a:stretch>
        </p:blipFill>
        <p:spPr>
          <a:xfrm>
            <a:off x="981473" y="1529861"/>
            <a:ext cx="10229053" cy="4876750"/>
          </a:xfrm>
          <a:prstGeom prst="rect">
            <a:avLst/>
          </a:prstGeom>
        </p:spPr>
      </p:pic>
    </p:spTree>
    <p:extLst>
      <p:ext uri="{BB962C8B-B14F-4D97-AF65-F5344CB8AC3E}">
        <p14:creationId xmlns:p14="http://schemas.microsoft.com/office/powerpoint/2010/main" val="8574497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1BB37DA-639A-672F-216E-6B670D74272F}"/>
              </a:ext>
            </a:extLst>
          </p:cNvPr>
          <p:cNvSpPr>
            <a:spLocks noGrp="1"/>
          </p:cNvSpPr>
          <p:nvPr>
            <p:ph type="dt" sz="half" idx="10"/>
          </p:nvPr>
        </p:nvSpPr>
        <p:spPr/>
        <p:txBody>
          <a:bodyPr/>
          <a:lstStyle/>
          <a:p>
            <a:r>
              <a:rPr lang="en-IN" dirty="0"/>
              <a:t>09-09-2026</a:t>
            </a:r>
          </a:p>
          <a:p>
            <a:endParaRPr lang="en-IN" dirty="0"/>
          </a:p>
        </p:txBody>
      </p:sp>
      <p:sp>
        <p:nvSpPr>
          <p:cNvPr id="5" name="Footer Placeholder 4">
            <a:extLst>
              <a:ext uri="{FF2B5EF4-FFF2-40B4-BE49-F238E27FC236}">
                <a16:creationId xmlns:a16="http://schemas.microsoft.com/office/drawing/2014/main" id="{E8A30C97-C768-618E-B31C-42E74D9DEDC3}"/>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20C67F68-911B-4071-ED43-13E29D57E625}"/>
              </a:ext>
            </a:extLst>
          </p:cNvPr>
          <p:cNvSpPr>
            <a:spLocks noGrp="1"/>
          </p:cNvSpPr>
          <p:nvPr>
            <p:ph type="sldNum" sz="quarter" idx="12"/>
          </p:nvPr>
        </p:nvSpPr>
        <p:spPr/>
        <p:txBody>
          <a:bodyPr/>
          <a:lstStyle/>
          <a:p>
            <a:fld id="{65201FD4-9D8D-4491-815B-63C7BF4F0034}" type="slidenum">
              <a:rPr lang="en-IN" smtClean="0"/>
              <a:t>6</a:t>
            </a:fld>
            <a:endParaRPr lang="en-IN"/>
          </a:p>
        </p:txBody>
      </p:sp>
      <p:pic>
        <p:nvPicPr>
          <p:cNvPr id="8" name="Picture 7">
            <a:extLst>
              <a:ext uri="{FF2B5EF4-FFF2-40B4-BE49-F238E27FC236}">
                <a16:creationId xmlns:a16="http://schemas.microsoft.com/office/drawing/2014/main" id="{C6A2A9AD-AA9C-3EC7-52F6-74F4662A1C10}"/>
              </a:ext>
            </a:extLst>
          </p:cNvPr>
          <p:cNvPicPr>
            <a:picLocks noChangeAspect="1"/>
          </p:cNvPicPr>
          <p:nvPr/>
        </p:nvPicPr>
        <p:blipFill>
          <a:blip r:embed="rId2"/>
          <a:stretch>
            <a:fillRect/>
          </a:stretch>
        </p:blipFill>
        <p:spPr>
          <a:xfrm>
            <a:off x="731619" y="508353"/>
            <a:ext cx="10728762" cy="5841293"/>
          </a:xfrm>
          <a:prstGeom prst="rect">
            <a:avLst/>
          </a:prstGeom>
        </p:spPr>
      </p:pic>
    </p:spTree>
    <p:extLst>
      <p:ext uri="{BB962C8B-B14F-4D97-AF65-F5344CB8AC3E}">
        <p14:creationId xmlns:p14="http://schemas.microsoft.com/office/powerpoint/2010/main" val="20019590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64C5E-26B3-2EE9-895A-F822E4C49ED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7F8AC8-6380-9217-CA4C-1FBF1C25C60E}"/>
              </a:ext>
            </a:extLst>
          </p:cNvPr>
          <p:cNvSpPr>
            <a:spLocks noGrp="1"/>
          </p:cNvSpPr>
          <p:nvPr>
            <p:ph idx="1"/>
          </p:nvPr>
        </p:nvSpPr>
        <p:spPr/>
        <p:txBody>
          <a:bodyPr wrap="square">
            <a:normAutofit/>
          </a:bodyPr>
          <a:lstStyle/>
          <a:p>
            <a:pPr>
              <a:spcAft>
                <a:spcPts val="600"/>
              </a:spcAft>
            </a:pPr>
            <a:r>
              <a:rPr sz="1400" b="1" dirty="0">
                <a:solidFill>
                  <a:srgbClr val="44546A"/>
                </a:solidFill>
                <a:latin typeface="Times New Roman"/>
              </a:rPr>
              <a:t>Limited Integration of Multimodal Data</a:t>
            </a:r>
          </a:p>
          <a:p>
            <a:pPr lvl="1">
              <a:spcAft>
                <a:spcPts val="600"/>
              </a:spcAft>
            </a:pPr>
            <a:r>
              <a:rPr sz="1400" b="0" dirty="0">
                <a:solidFill>
                  <a:srgbClr val="44546A"/>
                </a:solidFill>
                <a:latin typeface="Times New Roman"/>
              </a:rPr>
              <a:t>Most existing works use only one or two modalities, failing to exploit the complementary information in MRI, PET, clinical and genetic data jointly.</a:t>
            </a:r>
          </a:p>
          <a:p>
            <a:pPr>
              <a:spcAft>
                <a:spcPts val="600"/>
              </a:spcAft>
            </a:pPr>
            <a:r>
              <a:rPr sz="1400" b="1" dirty="0">
                <a:solidFill>
                  <a:srgbClr val="44546A"/>
                </a:solidFill>
                <a:latin typeface="Times New Roman"/>
              </a:rPr>
              <a:t>Poor Handling of Incomplete Multimodal Data</a:t>
            </a:r>
          </a:p>
          <a:p>
            <a:pPr lvl="1">
              <a:spcAft>
                <a:spcPts val="600"/>
              </a:spcAft>
            </a:pPr>
            <a:r>
              <a:rPr sz="1400" b="0" dirty="0">
                <a:solidFill>
                  <a:srgbClr val="44546A"/>
                </a:solidFill>
                <a:latin typeface="Times New Roman"/>
              </a:rPr>
              <a:t>Most multimodal models assume complete patient records, whereas real cohorts are sparse — in our PPMI cohort 78% of subjects have no genetic record and 19% no MRI.</a:t>
            </a:r>
          </a:p>
          <a:p>
            <a:pPr>
              <a:spcAft>
                <a:spcPts val="600"/>
              </a:spcAft>
            </a:pPr>
            <a:r>
              <a:rPr sz="1400" b="1" dirty="0">
                <a:solidFill>
                  <a:srgbClr val="44546A"/>
                </a:solidFill>
                <a:latin typeface="Times New Roman"/>
              </a:rPr>
              <a:t>Symmetric Fusion Ignores Modality Reliability</a:t>
            </a:r>
          </a:p>
          <a:p>
            <a:pPr lvl="1">
              <a:spcAft>
                <a:spcPts val="600"/>
              </a:spcAft>
            </a:pPr>
            <a:r>
              <a:rPr sz="1400" b="0" dirty="0">
                <a:solidFill>
                  <a:srgbClr val="44546A"/>
                </a:solidFill>
                <a:latin typeface="Times New Roman"/>
              </a:rPr>
              <a:t>Existing fusion treats every modality as equally informative, although the clinical phenotype is the most complete and most reliable source and should guide retrieval.</a:t>
            </a:r>
          </a:p>
          <a:p>
            <a:pPr>
              <a:spcAft>
                <a:spcPts val="600"/>
              </a:spcAft>
            </a:pPr>
            <a:r>
              <a:rPr sz="1400" b="1" dirty="0">
                <a:solidFill>
                  <a:srgbClr val="44546A"/>
                </a:solidFill>
                <a:latin typeface="Times New Roman"/>
              </a:rPr>
              <a:t>No Leak-Free, Privacy-Preserving Progression Benchmark</a:t>
            </a:r>
          </a:p>
          <a:p>
            <a:pPr lvl="1">
              <a:spcAft>
                <a:spcPts val="600"/>
              </a:spcAft>
            </a:pPr>
            <a:r>
              <a:rPr sz="1400" b="0" dirty="0">
                <a:solidFill>
                  <a:srgbClr val="44546A"/>
                </a:solidFill>
                <a:latin typeface="Times New Roman"/>
              </a:rPr>
              <a:t>Reported gains are often inflated by baseline-score autocorrelation and centralized training; a subject-level, train-only-statistics, one-shot-test protocol for federated PD progression is missing.</a:t>
            </a:r>
          </a:p>
        </p:txBody>
      </p:sp>
      <p:sp>
        <p:nvSpPr>
          <p:cNvPr id="4" name="object 2">
            <a:extLst>
              <a:ext uri="{FF2B5EF4-FFF2-40B4-BE49-F238E27FC236}">
                <a16:creationId xmlns:a16="http://schemas.microsoft.com/office/drawing/2014/main" id="{2E07AC55-BA5E-4123-39E6-B79860C6C9EE}"/>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sz="3000" b="1">
                <a:latin typeface="Times New Roman"/>
              </a:rPr>
              <a:t>Research Gap</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A2430A72-466B-CBDE-2F02-635BA91A98AF}"/>
              </a:ext>
            </a:extLst>
          </p:cNvPr>
          <p:cNvSpPr>
            <a:spLocks noGrp="1"/>
          </p:cNvSpPr>
          <p:nvPr>
            <p:ph type="dt" sz="half" idx="10"/>
          </p:nvPr>
        </p:nvSpPr>
        <p:spPr/>
        <p:txBody>
          <a:bodyPr/>
          <a:lstStyle/>
          <a:p>
            <a:r>
              <a:rPr lang="en-IN" dirty="0"/>
              <a:t>09-09-2026</a:t>
            </a:r>
          </a:p>
          <a:p>
            <a:endParaRPr lang="en-IN" dirty="0"/>
          </a:p>
        </p:txBody>
      </p:sp>
      <p:sp>
        <p:nvSpPr>
          <p:cNvPr id="5" name="Footer Placeholder 4">
            <a:extLst>
              <a:ext uri="{FF2B5EF4-FFF2-40B4-BE49-F238E27FC236}">
                <a16:creationId xmlns:a16="http://schemas.microsoft.com/office/drawing/2014/main" id="{1711DDA3-7A7C-1F61-1795-3A01ED678FAB}"/>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D94E3226-1DB1-3A4D-CE37-4A2AD48EF1F1}"/>
              </a:ext>
            </a:extLst>
          </p:cNvPr>
          <p:cNvSpPr>
            <a:spLocks noGrp="1"/>
          </p:cNvSpPr>
          <p:nvPr>
            <p:ph type="sldNum" sz="quarter" idx="12"/>
          </p:nvPr>
        </p:nvSpPr>
        <p:spPr/>
        <p:txBody>
          <a:bodyPr/>
          <a:lstStyle/>
          <a:p>
            <a:fld id="{65201FD4-9D8D-4491-815B-63C7BF4F0034}" type="slidenum">
              <a:rPr lang="en-IN" smtClean="0"/>
              <a:t>7</a:t>
            </a:fld>
            <a:endParaRPr lang="en-IN"/>
          </a:p>
        </p:txBody>
      </p:sp>
    </p:spTree>
    <p:extLst>
      <p:ext uri="{BB962C8B-B14F-4D97-AF65-F5344CB8AC3E}">
        <p14:creationId xmlns:p14="http://schemas.microsoft.com/office/powerpoint/2010/main" val="26231028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50AAC-0156-D6F5-7153-C7919999408B}"/>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22BADD22-870A-4D8F-B788-CCCD5C223F9A}"/>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sz="3000" b="1" dirty="0">
                <a:solidFill>
                  <a:schemeClr val="accent1"/>
                </a:solidFill>
                <a:latin typeface="Times New Roman"/>
              </a:rPr>
              <a:t>Objectives</a:t>
            </a:r>
            <a:endParaRPr sz="3000" b="1" dirty="0">
              <a:solidFill>
                <a:schemeClr val="accent1"/>
              </a:solidFill>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1BE4F0EB-E8F1-14D8-E22A-38E83F9BFA94}"/>
              </a:ext>
            </a:extLst>
          </p:cNvPr>
          <p:cNvSpPr>
            <a:spLocks noGrp="1"/>
          </p:cNvSpPr>
          <p:nvPr>
            <p:ph type="dt" sz="half" idx="10"/>
          </p:nvPr>
        </p:nvSpPr>
        <p:spPr/>
        <p:txBody>
          <a:bodyPr/>
          <a:lstStyle/>
          <a:p>
            <a:r>
              <a:rPr lang="en-IN" dirty="0"/>
              <a:t>09-09-2026</a:t>
            </a:r>
          </a:p>
          <a:p>
            <a:endParaRPr lang="en-IN"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76D8B93F-BA73-08B5-E0DD-D434FA25B92B}"/>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E6BABF72-E9F9-626A-63CD-EA20C0714ABC}"/>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8</a:t>
            </a:fld>
            <a:endParaRPr lang="en-IN"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A3D1A950-DAFE-716C-A52F-69DD5C7617DB}"/>
              </a:ext>
            </a:extLst>
          </p:cNvPr>
          <p:cNvSpPr txBox="1"/>
          <p:nvPr/>
        </p:nvSpPr>
        <p:spPr>
          <a:xfrm>
            <a:off x="838200" y="1714203"/>
            <a:ext cx="9911862" cy="3693319"/>
          </a:xfrm>
          <a:prstGeom prst="rect">
            <a:avLst/>
          </a:prstGeom>
          <a:noFill/>
        </p:spPr>
        <p:txBody>
          <a:bodyPr wrap="square">
            <a:spAutoFit/>
          </a:bodyPr>
          <a:lstStyle/>
          <a:p>
            <a:pPr>
              <a:defRPr sz="1800"/>
            </a:pPr>
            <a:r>
              <a:rPr lang="en-US" dirty="0"/>
              <a:t>1. To design a Phenotype-Guided Asymmetric Attention mechanism where clinical features selectively query MRI, PET, and genetics.</a:t>
            </a:r>
            <a:br>
              <a:rPr lang="en-US" dirty="0"/>
            </a:br>
            <a:br>
              <a:rPr lang="en-US" dirty="0"/>
            </a:br>
            <a:r>
              <a:rPr lang="en-US" dirty="0"/>
              <a:t>2. To implement a Shared-Private Latent Decomposition using HSIC orthogonality to disentangle disease biomarkers from noise.</a:t>
            </a:r>
            <a:br>
              <a:rPr lang="en-US" dirty="0"/>
            </a:br>
            <a:br>
              <a:rPr lang="en-US" dirty="0"/>
            </a:br>
            <a:r>
              <a:rPr lang="en-US" dirty="0"/>
              <a:t>3. To build a federated learning pipeline (</a:t>
            </a:r>
            <a:r>
              <a:rPr lang="en-US" dirty="0" err="1"/>
              <a:t>FedAvg</a:t>
            </a:r>
            <a:r>
              <a:rPr lang="en-US" dirty="0"/>
              <a:t>) that trains across multiple clinical sites without centralizing raw data.</a:t>
            </a:r>
            <a:br>
              <a:rPr lang="en-US" dirty="0"/>
            </a:br>
            <a:br>
              <a:rPr lang="en-US" dirty="0"/>
            </a:br>
            <a:r>
              <a:rPr lang="en-US" dirty="0"/>
              <a:t>4. To incorporate robustness features (learned mask tokens for missing modalities, Monte Carlo Dropout for uncertainty).</a:t>
            </a:r>
            <a:br>
              <a:rPr lang="en-US" dirty="0"/>
            </a:br>
            <a:br>
              <a:rPr lang="en-US" dirty="0"/>
            </a:br>
            <a:r>
              <a:rPr lang="en-US" dirty="0"/>
              <a:t>5. To provide a multi-level explainability suite (Attention Maps, Integrated Gradients, Counterfactuals).</a:t>
            </a:r>
          </a:p>
        </p:txBody>
      </p:sp>
    </p:spTree>
    <p:extLst>
      <p:ext uri="{BB962C8B-B14F-4D97-AF65-F5344CB8AC3E}">
        <p14:creationId xmlns:p14="http://schemas.microsoft.com/office/powerpoint/2010/main" val="23359624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7B2D9-E447-AB29-224B-2A9E50974C9A}"/>
              </a:ext>
            </a:extLst>
          </p:cNvPr>
          <p:cNvSpPr>
            <a:spLocks noGrp="1"/>
          </p:cNvSpPr>
          <p:nvPr>
            <p:ph type="title"/>
          </p:nvPr>
        </p:nvSpPr>
        <p:spPr>
          <a:xfrm>
            <a:off x="838200" y="365125"/>
            <a:ext cx="9407769" cy="1281113"/>
          </a:xfrm>
        </p:spPr>
        <p:txBody>
          <a:bodyPr>
            <a:normAutofit/>
          </a:bodyPr>
          <a:lstStyle/>
          <a:p>
            <a:r>
              <a:rPr lang="en-US" sz="3000" b="1" dirty="0">
                <a:solidFill>
                  <a:schemeClr val="accent1"/>
                </a:solidFill>
              </a:rPr>
              <a:t>Identified: Sustainable Development Goals &amp; Outcomes</a:t>
            </a:r>
            <a:br>
              <a:rPr lang="en-US" sz="3000" b="1" dirty="0">
                <a:solidFill>
                  <a:schemeClr val="accent1"/>
                </a:solidFill>
              </a:rPr>
            </a:br>
            <a:endParaRPr lang="en-US" sz="3000" b="1" dirty="0">
              <a:solidFill>
                <a:schemeClr val="accent1"/>
              </a:solidFill>
            </a:endParaRPr>
          </a:p>
        </p:txBody>
      </p:sp>
      <p:sp>
        <p:nvSpPr>
          <p:cNvPr id="4" name="Date Placeholder 3">
            <a:extLst>
              <a:ext uri="{FF2B5EF4-FFF2-40B4-BE49-F238E27FC236}">
                <a16:creationId xmlns:a16="http://schemas.microsoft.com/office/drawing/2014/main" id="{64DCB76F-BE1F-56FB-F8FE-CE85E9AA88DE}"/>
              </a:ext>
            </a:extLst>
          </p:cNvPr>
          <p:cNvSpPr>
            <a:spLocks noGrp="1"/>
          </p:cNvSpPr>
          <p:nvPr>
            <p:ph type="dt" sz="half" idx="10"/>
          </p:nvPr>
        </p:nvSpPr>
        <p:spPr/>
        <p:txBody>
          <a:bodyPr/>
          <a:lstStyle/>
          <a:p>
            <a:r>
              <a:rPr lang="en-IN" dirty="0"/>
              <a:t>09-09-2026</a:t>
            </a:r>
          </a:p>
          <a:p>
            <a:endParaRPr lang="en-IN" dirty="0"/>
          </a:p>
        </p:txBody>
      </p:sp>
      <p:sp>
        <p:nvSpPr>
          <p:cNvPr id="5" name="Footer Placeholder 4">
            <a:extLst>
              <a:ext uri="{FF2B5EF4-FFF2-40B4-BE49-F238E27FC236}">
                <a16:creationId xmlns:a16="http://schemas.microsoft.com/office/drawing/2014/main" id="{0C7BAC9B-6B1B-6ED0-15C3-A8427938CBC0}"/>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754461AF-FD55-AB4C-5CCC-60404D385FE1}"/>
              </a:ext>
            </a:extLst>
          </p:cNvPr>
          <p:cNvSpPr>
            <a:spLocks noGrp="1"/>
          </p:cNvSpPr>
          <p:nvPr>
            <p:ph type="sldNum" sz="quarter" idx="12"/>
          </p:nvPr>
        </p:nvSpPr>
        <p:spPr/>
        <p:txBody>
          <a:bodyPr/>
          <a:lstStyle/>
          <a:p>
            <a:fld id="{65201FD4-9D8D-4491-815B-63C7BF4F0034}" type="slidenum">
              <a:rPr lang="en-IN" smtClean="0"/>
              <a:t>9</a:t>
            </a:fld>
            <a:endParaRPr lang="en-IN"/>
          </a:p>
        </p:txBody>
      </p:sp>
      <p:sp>
        <p:nvSpPr>
          <p:cNvPr id="8" name="TextBox 7">
            <a:extLst>
              <a:ext uri="{FF2B5EF4-FFF2-40B4-BE49-F238E27FC236}">
                <a16:creationId xmlns:a16="http://schemas.microsoft.com/office/drawing/2014/main" id="{4E70818D-6BDA-79B7-D224-80DB04323D2B}"/>
              </a:ext>
            </a:extLst>
          </p:cNvPr>
          <p:cNvSpPr txBox="1"/>
          <p:nvPr/>
        </p:nvSpPr>
        <p:spPr>
          <a:xfrm>
            <a:off x="838199" y="1675409"/>
            <a:ext cx="9659815" cy="3200876"/>
          </a:xfrm>
          <a:prstGeom prst="rect">
            <a:avLst/>
          </a:prstGeom>
          <a:noFill/>
        </p:spPr>
        <p:txBody>
          <a:bodyPr wrap="square">
            <a:spAutoFit/>
          </a:bodyPr>
          <a:lstStyle/>
          <a:p>
            <a:pPr>
              <a:defRPr sz="2000" b="1"/>
            </a:pPr>
            <a:r>
              <a:rPr lang="en-US" sz="2000" dirty="0"/>
              <a:t>Identified: Sustainable Development Goals</a:t>
            </a:r>
          </a:p>
          <a:p>
            <a:pPr>
              <a:defRPr sz="1800"/>
            </a:pPr>
            <a:r>
              <a:rPr lang="en-US" sz="1800" dirty="0"/>
              <a:t>• SDG 3: Good Health and Well-being (Improving diagnostic accuracy and personalized treatment for Parkinson's Disease)</a:t>
            </a:r>
            <a:br>
              <a:rPr lang="en-US" sz="1800" dirty="0"/>
            </a:br>
            <a:r>
              <a:rPr lang="en-US" sz="1800" dirty="0"/>
              <a:t>• SDG 9: Industry, Innovation, and Infrastructure (Developing advanced, privacy-preserving AI infrastructure for healthcare)</a:t>
            </a:r>
            <a:br>
              <a:rPr lang="en-US" sz="1800" dirty="0"/>
            </a:br>
            <a:endParaRPr lang="en-US" sz="1800" dirty="0"/>
          </a:p>
          <a:p>
            <a:pPr>
              <a:defRPr sz="2000" b="1"/>
            </a:pPr>
            <a:r>
              <a:rPr lang="en-US" sz="2000" dirty="0"/>
              <a:t>Outcomes</a:t>
            </a:r>
          </a:p>
          <a:p>
            <a:pPr>
              <a:defRPr sz="1800"/>
            </a:pPr>
            <a:r>
              <a:rPr lang="en-US" sz="1800" dirty="0"/>
              <a:t>• Journal (Scopus): Target publication in high-impact Q1 journals (e.g., IEEE JBHI, Elsevier Computers in Biology and Medicine).</a:t>
            </a:r>
            <a:br>
              <a:rPr lang="en-US" sz="1800" dirty="0"/>
            </a:br>
            <a:r>
              <a:rPr lang="en-US" sz="1800" dirty="0"/>
              <a:t>• Product/Others: A robust, federated AI framework applicable to other multimodal neurodegenerative datasets.</a:t>
            </a:r>
          </a:p>
        </p:txBody>
      </p:sp>
    </p:spTree>
    <p:extLst>
      <p:ext uri="{BB962C8B-B14F-4D97-AF65-F5344CB8AC3E}">
        <p14:creationId xmlns:p14="http://schemas.microsoft.com/office/powerpoint/2010/main" val="31100867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49C0F-2490-21B4-8186-6F75540ACED9}"/>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5DE9EA00-8D77-8DC9-1AE3-8B6FD1AF6BCC}"/>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sz="3000" b="1">
                <a:latin typeface="Times New Roman"/>
              </a:rPr>
              <a:t>Framework / Architecture / Block Diagram</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3B40592E-46EE-B4F2-7D01-D3568C2F685A}"/>
              </a:ext>
            </a:extLst>
          </p:cNvPr>
          <p:cNvSpPr>
            <a:spLocks noGrp="1"/>
          </p:cNvSpPr>
          <p:nvPr>
            <p:ph type="dt" sz="half" idx="10"/>
          </p:nvPr>
        </p:nvSpPr>
        <p:spPr/>
        <p:txBody>
          <a:bodyPr/>
          <a:lstStyle/>
          <a:p>
            <a:r>
              <a:rPr lang="en-IN" dirty="0"/>
              <a:t>09-09-2026</a:t>
            </a:r>
          </a:p>
          <a:p>
            <a:endParaRPr lang="en-IN"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5BCDC439-5940-84EE-247A-E3018795A431}"/>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A6CB23C8-7091-8CFB-BF2C-3A19CCA810FF}"/>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10</a:t>
            </a:fld>
            <a:endParaRPr lang="en-IN" dirty="0">
              <a:latin typeface="Times New Roman" panose="02020603050405020304" pitchFamily="18" charset="0"/>
              <a:cs typeface="Times New Roman" panose="02020603050405020304" pitchFamily="18" charset="0"/>
            </a:endParaRPr>
          </a:p>
        </p:txBody>
      </p:sp>
      <p:sp>
        <p:nvSpPr>
          <p:cNvPr id="7" name="TextBox 6"/>
          <p:cNvSpPr txBox="1"/>
          <p:nvPr/>
        </p:nvSpPr>
        <p:spPr>
          <a:xfrm>
            <a:off x="502920" y="1316736"/>
            <a:ext cx="2011680" cy="164592"/>
          </a:xfrm>
          <a:prstGeom prst="rect">
            <a:avLst/>
          </a:prstGeom>
          <a:noFill/>
        </p:spPr>
        <p:txBody>
          <a:bodyPr wrap="square" lIns="36576" tIns="18288" rIns="36576" bIns="18288">
            <a:spAutoFit/>
          </a:bodyPr>
          <a:lstStyle/>
          <a:p>
            <a:pPr algn="l">
              <a:spcAft>
                <a:spcPts val="400"/>
              </a:spcAft>
            </a:pPr>
            <a:r>
              <a:rPr sz="800" b="1">
                <a:solidFill>
                  <a:srgbClr val="8C8C8C"/>
                </a:solidFill>
                <a:latin typeface="Times New Roman"/>
              </a:rPr>
              <a:t>TIER 1  ·  DATA SOURCES (PPMI / IDA-LONI)</a:t>
            </a:r>
          </a:p>
        </p:txBody>
      </p:sp>
      <p:sp>
        <p:nvSpPr>
          <p:cNvPr id="8" name="Rounded Rectangle 7"/>
          <p:cNvSpPr/>
          <p:nvPr/>
        </p:nvSpPr>
        <p:spPr>
          <a:xfrm>
            <a:off x="502920" y="1499616"/>
            <a:ext cx="2697480" cy="475488"/>
          </a:xfrm>
          <a:prstGeom prst="roundRect">
            <a:avLst>
              <a:gd name="adj" fmla="val 8000"/>
            </a:avLst>
          </a:prstGeom>
          <a:solidFill>
            <a:srgbClr val="E7E6E6"/>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spcAft>
                <a:spcPts val="0"/>
              </a:spcAft>
            </a:pPr>
            <a:r>
              <a:rPr sz="1000" b="1">
                <a:solidFill>
                  <a:srgbClr val="44546A"/>
                </a:solidFill>
                <a:latin typeface="Times New Roman"/>
              </a:rPr>
              <a:t>Clinical</a:t>
            </a:r>
          </a:p>
          <a:p>
            <a:pPr algn="ctr">
              <a:spcAft>
                <a:spcPts val="0"/>
              </a:spcAft>
            </a:pPr>
            <a:r>
              <a:rPr sz="850" b="0">
                <a:solidFill>
                  <a:srgbClr val="44546A"/>
                </a:solidFill>
                <a:latin typeface="Times New Roman"/>
              </a:rPr>
              <a:t>UPDRS I–IV · MoCA · Demographics  (7)</a:t>
            </a:r>
          </a:p>
        </p:txBody>
      </p:sp>
      <p:sp>
        <p:nvSpPr>
          <p:cNvPr id="9" name="Rounded Rectangle 8"/>
          <p:cNvSpPr/>
          <p:nvPr/>
        </p:nvSpPr>
        <p:spPr>
          <a:xfrm>
            <a:off x="3342132" y="1499616"/>
            <a:ext cx="2697480" cy="475488"/>
          </a:xfrm>
          <a:prstGeom prst="roundRect">
            <a:avLst>
              <a:gd name="adj" fmla="val 8000"/>
            </a:avLst>
          </a:prstGeom>
          <a:solidFill>
            <a:srgbClr val="E7E6E6"/>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spcAft>
                <a:spcPts val="0"/>
              </a:spcAft>
            </a:pPr>
            <a:r>
              <a:rPr sz="1000" b="1">
                <a:solidFill>
                  <a:srgbClr val="44546A"/>
                </a:solidFill>
                <a:latin typeface="Times New Roman"/>
              </a:rPr>
              <a:t>Structural MRI</a:t>
            </a:r>
          </a:p>
          <a:p>
            <a:pPr algn="ctr">
              <a:spcAft>
                <a:spcPts val="0"/>
              </a:spcAft>
            </a:pPr>
            <a:r>
              <a:rPr sz="850" b="0">
                <a:solidFill>
                  <a:srgbClr val="44546A"/>
                </a:solidFill>
                <a:latin typeface="Times New Roman"/>
              </a:rPr>
              <a:t>T1w NIfTI — synthetic fallback  (100)</a:t>
            </a:r>
          </a:p>
        </p:txBody>
      </p:sp>
      <p:sp>
        <p:nvSpPr>
          <p:cNvPr id="10" name="Rounded Rectangle 9"/>
          <p:cNvSpPr/>
          <p:nvPr/>
        </p:nvSpPr>
        <p:spPr>
          <a:xfrm>
            <a:off x="6181344" y="1499616"/>
            <a:ext cx="2697480" cy="475488"/>
          </a:xfrm>
          <a:prstGeom prst="roundRect">
            <a:avLst>
              <a:gd name="adj" fmla="val 8000"/>
            </a:avLst>
          </a:prstGeom>
          <a:solidFill>
            <a:srgbClr val="E7E6E6"/>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spcAft>
                <a:spcPts val="0"/>
              </a:spcAft>
            </a:pPr>
            <a:r>
              <a:rPr sz="1000" b="1">
                <a:solidFill>
                  <a:srgbClr val="44546A"/>
                </a:solidFill>
                <a:latin typeface="Times New Roman"/>
              </a:rPr>
              <a:t>PET / DaTScan</a:t>
            </a:r>
          </a:p>
          <a:p>
            <a:pPr algn="ctr">
              <a:spcAft>
                <a:spcPts val="0"/>
              </a:spcAft>
            </a:pPr>
            <a:r>
              <a:rPr sz="850" b="0">
                <a:solidFill>
                  <a:srgbClr val="44546A"/>
                </a:solidFill>
                <a:latin typeface="Times New Roman"/>
              </a:rPr>
              <a:t>DATScan_Analysis.csv · SBR  (10)</a:t>
            </a:r>
          </a:p>
        </p:txBody>
      </p:sp>
      <p:sp>
        <p:nvSpPr>
          <p:cNvPr id="11" name="Rounded Rectangle 10"/>
          <p:cNvSpPr/>
          <p:nvPr/>
        </p:nvSpPr>
        <p:spPr>
          <a:xfrm>
            <a:off x="9020556" y="1499616"/>
            <a:ext cx="2697480" cy="475488"/>
          </a:xfrm>
          <a:prstGeom prst="roundRect">
            <a:avLst>
              <a:gd name="adj" fmla="val 8000"/>
            </a:avLst>
          </a:prstGeom>
          <a:solidFill>
            <a:srgbClr val="E7E6E6"/>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spcAft>
                <a:spcPts val="0"/>
              </a:spcAft>
            </a:pPr>
            <a:r>
              <a:rPr sz="1000" b="1">
                <a:solidFill>
                  <a:srgbClr val="44546A"/>
                </a:solidFill>
                <a:latin typeface="Times New Roman"/>
              </a:rPr>
              <a:t>Genetics</a:t>
            </a:r>
          </a:p>
          <a:p>
            <a:pPr algn="ctr">
              <a:spcAft>
                <a:spcPts val="0"/>
              </a:spcAft>
            </a:pPr>
            <a:r>
              <a:rPr sz="850" b="0">
                <a:solidFill>
                  <a:srgbClr val="44546A"/>
                </a:solidFill>
                <a:latin typeface="Times New Roman"/>
              </a:rPr>
              <a:t>Genetic_Testing_Results.csv  (9)</a:t>
            </a:r>
          </a:p>
        </p:txBody>
      </p:sp>
      <p:cxnSp>
        <p:nvCxnSpPr>
          <p:cNvPr id="12" name="Connector 11"/>
          <p:cNvCxnSpPr/>
          <p:nvPr/>
        </p:nvCxnSpPr>
        <p:spPr>
          <a:xfrm>
            <a:off x="1851660" y="1975104"/>
            <a:ext cx="0" cy="237744"/>
          </a:xfrm>
          <a:prstGeom prst="line">
            <a:avLst/>
          </a:prstGeom>
          <a:ln w="15875">
            <a:solidFill>
              <a:srgbClr val="80808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690872" y="1975104"/>
            <a:ext cx="0" cy="237744"/>
          </a:xfrm>
          <a:prstGeom prst="line">
            <a:avLst/>
          </a:prstGeom>
          <a:ln w="15875">
            <a:solidFill>
              <a:srgbClr val="80808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530083" y="1975104"/>
            <a:ext cx="0" cy="237744"/>
          </a:xfrm>
          <a:prstGeom prst="line">
            <a:avLst/>
          </a:prstGeom>
          <a:ln w="15875">
            <a:solidFill>
              <a:srgbClr val="80808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369296" y="1975104"/>
            <a:ext cx="0" cy="237744"/>
          </a:xfrm>
          <a:prstGeom prst="line">
            <a:avLst/>
          </a:prstGeom>
          <a:ln w="15875">
            <a:solidFill>
              <a:srgbClr val="808080"/>
            </a:solidFill>
            <a:tailEnd type="triangle" w="sm" len="sm"/>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02920" y="2029968"/>
            <a:ext cx="2011680" cy="164592"/>
          </a:xfrm>
          <a:prstGeom prst="rect">
            <a:avLst/>
          </a:prstGeom>
          <a:noFill/>
        </p:spPr>
        <p:txBody>
          <a:bodyPr wrap="square" lIns="36576" tIns="18288" rIns="36576" bIns="18288">
            <a:spAutoFit/>
          </a:bodyPr>
          <a:lstStyle/>
          <a:p>
            <a:pPr algn="l">
              <a:spcAft>
                <a:spcPts val="400"/>
              </a:spcAft>
            </a:pPr>
            <a:r>
              <a:rPr sz="800" b="1">
                <a:solidFill>
                  <a:srgbClr val="8C8C8C"/>
                </a:solidFill>
                <a:latin typeface="Times New Roman"/>
              </a:rPr>
              <a:t>TIER 2  ·  MODALITY LOADERS &amp; FEATURE ENGINEERING</a:t>
            </a:r>
          </a:p>
        </p:txBody>
      </p:sp>
      <p:sp>
        <p:nvSpPr>
          <p:cNvPr id="17" name="Rounded Rectangle 16"/>
          <p:cNvSpPr/>
          <p:nvPr/>
        </p:nvSpPr>
        <p:spPr>
          <a:xfrm>
            <a:off x="502920" y="2212848"/>
            <a:ext cx="2697480" cy="475488"/>
          </a:xfrm>
          <a:prstGeom prst="roundRect">
            <a:avLst>
              <a:gd name="adj" fmla="val 8000"/>
            </a:avLst>
          </a:prstGeom>
          <a:solidFill>
            <a:srgbClr val="E7E6E6"/>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spcAft>
                <a:spcPts val="0"/>
              </a:spcAft>
            </a:pPr>
            <a:r>
              <a:rPr sz="1000" b="1">
                <a:solidFill>
                  <a:srgbClr val="44546A"/>
                </a:solidFill>
                <a:latin typeface="Times New Roman"/>
              </a:rPr>
              <a:t>clinical_loader</a:t>
            </a:r>
          </a:p>
          <a:p>
            <a:pPr algn="ctr">
              <a:spcAft>
                <a:spcPts val="0"/>
              </a:spcAft>
            </a:pPr>
            <a:r>
              <a:rPr sz="850" b="0">
                <a:solidFill>
                  <a:srgbClr val="44546A"/>
                </a:solidFill>
                <a:latin typeface="Times New Roman"/>
              </a:rPr>
              <a:t>NP*TOT totals · Δ-target build</a:t>
            </a:r>
          </a:p>
        </p:txBody>
      </p:sp>
      <p:sp>
        <p:nvSpPr>
          <p:cNvPr id="18" name="Rounded Rectangle 17"/>
          <p:cNvSpPr/>
          <p:nvPr/>
        </p:nvSpPr>
        <p:spPr>
          <a:xfrm>
            <a:off x="3342132" y="2212848"/>
            <a:ext cx="2697480" cy="475488"/>
          </a:xfrm>
          <a:prstGeom prst="roundRect">
            <a:avLst>
              <a:gd name="adj" fmla="val 8000"/>
            </a:avLst>
          </a:prstGeom>
          <a:solidFill>
            <a:srgbClr val="E7E6E6"/>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spcAft>
                <a:spcPts val="0"/>
              </a:spcAft>
            </a:pPr>
            <a:r>
              <a:rPr sz="1000" b="1">
                <a:solidFill>
                  <a:srgbClr val="44546A"/>
                </a:solidFill>
                <a:latin typeface="Times New Roman"/>
              </a:rPr>
              <a:t>mri_pipeline</a:t>
            </a:r>
          </a:p>
          <a:p>
            <a:pPr algn="ctr">
              <a:spcAft>
                <a:spcPts val="0"/>
              </a:spcAft>
            </a:pPr>
            <a:r>
              <a:rPr sz="850" b="0">
                <a:solidFill>
                  <a:srgbClr val="44546A"/>
                </a:solidFill>
                <a:latin typeface="Times New Roman"/>
              </a:rPr>
              <a:t>nilearn Schaefer-100 ROI parcellation</a:t>
            </a:r>
          </a:p>
        </p:txBody>
      </p:sp>
      <p:sp>
        <p:nvSpPr>
          <p:cNvPr id="19" name="Rounded Rectangle 18"/>
          <p:cNvSpPr/>
          <p:nvPr/>
        </p:nvSpPr>
        <p:spPr>
          <a:xfrm>
            <a:off x="6181344" y="2212848"/>
            <a:ext cx="2697480" cy="475488"/>
          </a:xfrm>
          <a:prstGeom prst="roundRect">
            <a:avLst>
              <a:gd name="adj" fmla="val 8000"/>
            </a:avLst>
          </a:prstGeom>
          <a:solidFill>
            <a:srgbClr val="E7E6E6"/>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spcAft>
                <a:spcPts val="0"/>
              </a:spcAft>
            </a:pPr>
            <a:r>
              <a:rPr sz="1000" b="1">
                <a:solidFill>
                  <a:srgbClr val="44546A"/>
                </a:solidFill>
                <a:latin typeface="Times New Roman"/>
              </a:rPr>
              <a:t>pet_loader</a:t>
            </a:r>
          </a:p>
          <a:p>
            <a:pPr algn="ctr">
              <a:spcAft>
                <a:spcPts val="0"/>
              </a:spcAft>
            </a:pPr>
            <a:r>
              <a:rPr sz="850" b="0">
                <a:solidFill>
                  <a:srgbClr val="44546A"/>
                </a:solidFill>
                <a:latin typeface="Times New Roman"/>
              </a:rPr>
              <a:t>SBR + asymmetry + composite ratios</a:t>
            </a:r>
          </a:p>
        </p:txBody>
      </p:sp>
      <p:sp>
        <p:nvSpPr>
          <p:cNvPr id="20" name="Rounded Rectangle 19"/>
          <p:cNvSpPr/>
          <p:nvPr/>
        </p:nvSpPr>
        <p:spPr>
          <a:xfrm>
            <a:off x="9020556" y="2212848"/>
            <a:ext cx="2697480" cy="475488"/>
          </a:xfrm>
          <a:prstGeom prst="roundRect">
            <a:avLst>
              <a:gd name="adj" fmla="val 8000"/>
            </a:avLst>
          </a:prstGeom>
          <a:solidFill>
            <a:srgbClr val="E7E6E6"/>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spcAft>
                <a:spcPts val="0"/>
              </a:spcAft>
            </a:pPr>
            <a:r>
              <a:rPr sz="1000" b="1">
                <a:solidFill>
                  <a:srgbClr val="44546A"/>
                </a:solidFill>
                <a:latin typeface="Times New Roman"/>
              </a:rPr>
              <a:t>genetic_loader</a:t>
            </a:r>
          </a:p>
          <a:p>
            <a:pPr algn="ctr">
              <a:spcAft>
                <a:spcPts val="0"/>
              </a:spcAft>
            </a:pPr>
            <a:r>
              <a:rPr sz="850" b="0">
                <a:solidFill>
                  <a:srgbClr val="44546A"/>
                </a:solidFill>
                <a:latin typeface="Times New Roman"/>
              </a:rPr>
              <a:t>LRRK2 · GBA · SNCA · PINK1 · PRKN · APOE</a:t>
            </a:r>
          </a:p>
        </p:txBody>
      </p:sp>
      <p:cxnSp>
        <p:nvCxnSpPr>
          <p:cNvPr id="21" name="Connector 20"/>
          <p:cNvCxnSpPr/>
          <p:nvPr/>
        </p:nvCxnSpPr>
        <p:spPr>
          <a:xfrm>
            <a:off x="6103620" y="2688336"/>
            <a:ext cx="0" cy="201168"/>
          </a:xfrm>
          <a:prstGeom prst="line">
            <a:avLst/>
          </a:prstGeom>
          <a:ln w="15875">
            <a:solidFill>
              <a:srgbClr val="808080"/>
            </a:solidFill>
            <a:tailEnd type="triangle" w="sm" len="sm"/>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02920" y="2889504"/>
            <a:ext cx="11201400" cy="365760"/>
          </a:xfrm>
          <a:prstGeom prst="roundRect">
            <a:avLst>
              <a:gd name="adj" fmla="val 8000"/>
            </a:avLst>
          </a:prstGeom>
          <a:solidFill>
            <a:srgbClr val="E7E6E6"/>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spcAft>
                <a:spcPts val="0"/>
              </a:spcAft>
            </a:pPr>
            <a:r>
              <a:rPr sz="1000" b="1">
                <a:solidFill>
                  <a:srgbClr val="44546A"/>
                </a:solidFill>
                <a:latin typeface="Times New Roman"/>
              </a:rPr>
              <a:t>data_builder  —  PATNO alignment  ·  drop subjects without a real Year-2 label (no imputation)  ·  3,472 subjects × 126 features</a:t>
            </a:r>
          </a:p>
        </p:txBody>
      </p:sp>
      <p:cxnSp>
        <p:nvCxnSpPr>
          <p:cNvPr id="23" name="Connector 22"/>
          <p:cNvCxnSpPr/>
          <p:nvPr/>
        </p:nvCxnSpPr>
        <p:spPr>
          <a:xfrm>
            <a:off x="6103620" y="3255264"/>
            <a:ext cx="0" cy="201168"/>
          </a:xfrm>
          <a:prstGeom prst="line">
            <a:avLst/>
          </a:prstGeom>
          <a:ln w="15875">
            <a:solidFill>
              <a:srgbClr val="808080"/>
            </a:solidFill>
            <a:tailEnd type="triangle" w="sm" len="sm"/>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02920" y="3456432"/>
            <a:ext cx="11201400" cy="365760"/>
          </a:xfrm>
          <a:prstGeom prst="roundRect">
            <a:avLst>
              <a:gd name="adj" fmla="val 8000"/>
            </a:avLst>
          </a:prstGeom>
          <a:solidFill>
            <a:srgbClr val="E7E6E6"/>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spcAft>
                <a:spcPts val="0"/>
              </a:spcAft>
            </a:pPr>
            <a:r>
              <a:rPr sz="1000" b="1">
                <a:solidFill>
                  <a:srgbClr val="44546A"/>
                </a:solidFill>
                <a:latin typeface="Times New Roman"/>
              </a:rPr>
              <a:t>Leak-free protocol  —  subject-level stratified 70/15/15 (2,430 / 521 / 521)  ·  train-only imputer &amp; scalers  ·  Dirichlet(α = 0.5) non-IID clients</a:t>
            </a:r>
          </a:p>
        </p:txBody>
      </p:sp>
      <p:cxnSp>
        <p:nvCxnSpPr>
          <p:cNvPr id="25" name="Connector 24"/>
          <p:cNvCxnSpPr/>
          <p:nvPr/>
        </p:nvCxnSpPr>
        <p:spPr>
          <a:xfrm>
            <a:off x="6103620" y="3822191"/>
            <a:ext cx="0" cy="201169"/>
          </a:xfrm>
          <a:prstGeom prst="line">
            <a:avLst/>
          </a:prstGeom>
          <a:ln w="15875">
            <a:solidFill>
              <a:srgbClr val="808080"/>
            </a:solidFill>
            <a:tailEnd type="triangle" w="sm" len="sm"/>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502920" y="4023360"/>
            <a:ext cx="11201400" cy="1298448"/>
          </a:xfrm>
          <a:prstGeom prst="roundRect">
            <a:avLst/>
          </a:prstGeom>
          <a:solidFill>
            <a:srgbClr val="EDF1FA"/>
          </a:solidFill>
          <a:ln w="15875">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t"/>
          <a:lstStyle/>
          <a:p>
            <a:pPr algn="l"/>
            <a:r>
              <a:rPr sz="900" b="1">
                <a:solidFill>
                  <a:srgbClr val="2F528F"/>
                </a:solidFill>
                <a:latin typeface="Times New Roman"/>
              </a:rPr>
              <a:t>  TIER 5  ·  FED-PHENOGRAFT MODEL  (one FedAvg client)</a:t>
            </a:r>
          </a:p>
        </p:txBody>
      </p:sp>
      <p:sp>
        <p:nvSpPr>
          <p:cNvPr id="27" name="Rounded Rectangle 26"/>
          <p:cNvSpPr/>
          <p:nvPr/>
        </p:nvSpPr>
        <p:spPr>
          <a:xfrm>
            <a:off x="685800" y="4370832"/>
            <a:ext cx="2331720" cy="822960"/>
          </a:xfrm>
          <a:prstGeom prst="roundRect">
            <a:avLst>
              <a:gd name="adj" fmla="val 8000"/>
            </a:avLst>
          </a:prstGeom>
          <a:solidFill>
            <a:srgbClr val="4472C4"/>
          </a:solidFill>
          <a:ln w="9525">
            <a:solidFill>
              <a:srgbClr val="2F528F"/>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spcAft>
                <a:spcPts val="0"/>
              </a:spcAft>
            </a:pPr>
            <a:r>
              <a:rPr sz="1000" b="1">
                <a:solidFill>
                  <a:srgbClr val="FFFFFF"/>
                </a:solidFill>
                <a:latin typeface="Times New Roman"/>
              </a:rPr>
              <a:t>Phenotype Encoder</a:t>
            </a:r>
          </a:p>
          <a:p>
            <a:pPr algn="ctr">
              <a:spcAft>
                <a:spcPts val="0"/>
              </a:spcAft>
            </a:pPr>
            <a:r>
              <a:rPr sz="850" b="0">
                <a:solidFill>
                  <a:srgbClr val="FFFFFF"/>
                </a:solidFill>
                <a:latin typeface="Times New Roman"/>
              </a:rPr>
              <a:t>Clinical MLP → query q (32-d)</a:t>
            </a:r>
          </a:p>
        </p:txBody>
      </p:sp>
      <p:sp>
        <p:nvSpPr>
          <p:cNvPr id="28" name="Rounded Rectangle 27"/>
          <p:cNvSpPr/>
          <p:nvPr/>
        </p:nvSpPr>
        <p:spPr>
          <a:xfrm>
            <a:off x="3703320" y="4370832"/>
            <a:ext cx="2514600" cy="822960"/>
          </a:xfrm>
          <a:prstGeom prst="roundRect">
            <a:avLst>
              <a:gd name="adj" fmla="val 8000"/>
            </a:avLst>
          </a:prstGeom>
          <a:solidFill>
            <a:srgbClr val="4472C4"/>
          </a:solidFill>
          <a:ln w="9525">
            <a:solidFill>
              <a:srgbClr val="2F528F"/>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spcAft>
                <a:spcPts val="0"/>
              </a:spcAft>
            </a:pPr>
            <a:r>
              <a:rPr sz="1000" b="1">
                <a:solidFill>
                  <a:srgbClr val="FFFFFF"/>
                </a:solidFill>
                <a:latin typeface="Times New Roman"/>
              </a:rPr>
              <a:t>Asymmetric Cross-Attention</a:t>
            </a:r>
          </a:p>
          <a:p>
            <a:pPr algn="ctr">
              <a:spcAft>
                <a:spcPts val="0"/>
              </a:spcAft>
            </a:pPr>
            <a:r>
              <a:rPr sz="850" b="0">
                <a:solidFill>
                  <a:srgbClr val="FFFFFF"/>
                </a:solidFill>
                <a:latin typeface="Times New Roman"/>
              </a:rPr>
              <a:t>4 heads · Add &amp; Norm · MRI / PET / Gene</a:t>
            </a:r>
          </a:p>
        </p:txBody>
      </p:sp>
      <p:sp>
        <p:nvSpPr>
          <p:cNvPr id="29" name="Rounded Rectangle 28"/>
          <p:cNvSpPr/>
          <p:nvPr/>
        </p:nvSpPr>
        <p:spPr>
          <a:xfrm>
            <a:off x="6903720" y="4370832"/>
            <a:ext cx="2331720" cy="822960"/>
          </a:xfrm>
          <a:prstGeom prst="roundRect">
            <a:avLst>
              <a:gd name="adj" fmla="val 8000"/>
            </a:avLst>
          </a:prstGeom>
          <a:solidFill>
            <a:srgbClr val="4472C4"/>
          </a:solidFill>
          <a:ln w="9525">
            <a:solidFill>
              <a:srgbClr val="2F528F"/>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spcAft>
                <a:spcPts val="0"/>
              </a:spcAft>
            </a:pPr>
            <a:r>
              <a:rPr sz="1000" b="1">
                <a:solidFill>
                  <a:srgbClr val="FFFFFF"/>
                </a:solidFill>
                <a:latin typeface="Times New Roman"/>
              </a:rPr>
              <a:t>Shared / Private + HSIC</a:t>
            </a:r>
          </a:p>
          <a:p>
            <a:pPr algn="ctr">
              <a:spcAft>
                <a:spcPts val="0"/>
              </a:spcAft>
            </a:pPr>
            <a:r>
              <a:rPr sz="850" b="0">
                <a:solidFill>
                  <a:srgbClr val="FFFFFF"/>
                </a:solidFill>
                <a:latin typeface="Times New Roman"/>
              </a:rPr>
              <a:t>mask tokens · RBF independence</a:t>
            </a:r>
          </a:p>
        </p:txBody>
      </p:sp>
      <p:sp>
        <p:nvSpPr>
          <p:cNvPr id="30" name="Rounded Rectangle 29"/>
          <p:cNvSpPr/>
          <p:nvPr/>
        </p:nvSpPr>
        <p:spPr>
          <a:xfrm>
            <a:off x="9464040" y="4370832"/>
            <a:ext cx="2148840" cy="822960"/>
          </a:xfrm>
          <a:prstGeom prst="roundRect">
            <a:avLst>
              <a:gd name="adj" fmla="val 8000"/>
            </a:avLst>
          </a:prstGeom>
          <a:solidFill>
            <a:srgbClr val="4472C4"/>
          </a:solidFill>
          <a:ln w="9525">
            <a:solidFill>
              <a:srgbClr val="2F528F"/>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spcAft>
                <a:spcPts val="0"/>
              </a:spcAft>
            </a:pPr>
            <a:r>
              <a:rPr sz="1000" b="1">
                <a:solidFill>
                  <a:srgbClr val="FFFFFF"/>
                </a:solidFill>
                <a:latin typeface="Times New Roman"/>
              </a:rPr>
              <a:t>FedAvg Orchestrator</a:t>
            </a:r>
          </a:p>
          <a:p>
            <a:pPr algn="ctr">
              <a:spcAft>
                <a:spcPts val="0"/>
              </a:spcAft>
            </a:pPr>
            <a:r>
              <a:rPr sz="850" b="0">
                <a:solidFill>
                  <a:srgbClr val="FFFFFF"/>
                </a:solidFill>
                <a:latin typeface="Times New Roman"/>
              </a:rPr>
              <a:t>4 clients · weighted · early stop</a:t>
            </a:r>
          </a:p>
        </p:txBody>
      </p:sp>
      <p:cxnSp>
        <p:nvCxnSpPr>
          <p:cNvPr id="31" name="Connector 30"/>
          <p:cNvCxnSpPr/>
          <p:nvPr/>
        </p:nvCxnSpPr>
        <p:spPr>
          <a:xfrm>
            <a:off x="3017520" y="4782312"/>
            <a:ext cx="658367" cy="0"/>
          </a:xfrm>
          <a:prstGeom prst="line">
            <a:avLst/>
          </a:prstGeom>
          <a:ln w="22225">
            <a:solidFill>
              <a:srgbClr val="2F528F"/>
            </a:solidFill>
            <a:tailEnd type="triangle" w="sm" len="sm"/>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3035808" y="4544568"/>
            <a:ext cx="640080" cy="182880"/>
          </a:xfrm>
          <a:prstGeom prst="rect">
            <a:avLst/>
          </a:prstGeom>
          <a:noFill/>
        </p:spPr>
        <p:txBody>
          <a:bodyPr wrap="square" lIns="36576" tIns="18288" rIns="36576" bIns="18288">
            <a:spAutoFit/>
          </a:bodyPr>
          <a:lstStyle/>
          <a:p>
            <a:pPr algn="ctr">
              <a:spcAft>
                <a:spcPts val="400"/>
              </a:spcAft>
            </a:pPr>
            <a:r>
              <a:rPr sz="1000" b="1">
                <a:solidFill>
                  <a:srgbClr val="2F528F"/>
                </a:solidFill>
                <a:latin typeface="Times New Roman"/>
              </a:rPr>
              <a:t>Q</a:t>
            </a:r>
          </a:p>
        </p:txBody>
      </p:sp>
      <p:cxnSp>
        <p:nvCxnSpPr>
          <p:cNvPr id="33" name="Connector 32"/>
          <p:cNvCxnSpPr/>
          <p:nvPr/>
        </p:nvCxnSpPr>
        <p:spPr>
          <a:xfrm flipH="1">
            <a:off x="6245352" y="4782312"/>
            <a:ext cx="630936" cy="0"/>
          </a:xfrm>
          <a:prstGeom prst="line">
            <a:avLst/>
          </a:prstGeom>
          <a:ln w="22225">
            <a:solidFill>
              <a:srgbClr val="2F528F"/>
            </a:solidFill>
            <a:tailEnd type="triangle" w="sm" len="sm"/>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263640" y="4544568"/>
            <a:ext cx="640080" cy="182880"/>
          </a:xfrm>
          <a:prstGeom prst="rect">
            <a:avLst/>
          </a:prstGeom>
          <a:noFill/>
        </p:spPr>
        <p:txBody>
          <a:bodyPr wrap="square" lIns="36576" tIns="18288" rIns="36576" bIns="18288">
            <a:spAutoFit/>
          </a:bodyPr>
          <a:lstStyle/>
          <a:p>
            <a:pPr algn="ctr">
              <a:spcAft>
                <a:spcPts val="400"/>
              </a:spcAft>
            </a:pPr>
            <a:r>
              <a:rPr sz="1000" b="1">
                <a:solidFill>
                  <a:srgbClr val="2F528F"/>
                </a:solidFill>
                <a:latin typeface="Times New Roman"/>
              </a:rPr>
              <a:t>K, V</a:t>
            </a:r>
          </a:p>
        </p:txBody>
      </p:sp>
      <p:cxnSp>
        <p:nvCxnSpPr>
          <p:cNvPr id="35" name="Connector 34"/>
          <p:cNvCxnSpPr/>
          <p:nvPr/>
        </p:nvCxnSpPr>
        <p:spPr>
          <a:xfrm>
            <a:off x="6103620" y="5321808"/>
            <a:ext cx="0" cy="201168"/>
          </a:xfrm>
          <a:prstGeom prst="line">
            <a:avLst/>
          </a:prstGeom>
          <a:ln w="15875">
            <a:solidFill>
              <a:srgbClr val="808080"/>
            </a:solidFill>
            <a:tailEnd type="triangle" w="sm" len="sm"/>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502920" y="5522976"/>
            <a:ext cx="3611880" cy="475488"/>
          </a:xfrm>
          <a:prstGeom prst="roundRect">
            <a:avLst>
              <a:gd name="adj" fmla="val 8000"/>
            </a:avLst>
          </a:prstGeom>
          <a:solidFill>
            <a:srgbClr val="E7E6E6"/>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spcAft>
                <a:spcPts val="0"/>
              </a:spcAft>
            </a:pPr>
            <a:r>
              <a:rPr sz="1000" b="1">
                <a:solidFill>
                  <a:srgbClr val="44546A"/>
                </a:solidFill>
                <a:latin typeface="Times New Roman"/>
              </a:rPr>
              <a:t>Regression Head</a:t>
            </a:r>
          </a:p>
          <a:p>
            <a:pPr algn="ctr">
              <a:spcAft>
                <a:spcPts val="0"/>
              </a:spcAft>
            </a:pPr>
            <a:r>
              <a:rPr sz="850" b="0">
                <a:solidFill>
                  <a:srgbClr val="44546A"/>
                </a:solidFill>
                <a:latin typeface="Times New Roman"/>
              </a:rPr>
              <a:t>Δ UPDRS-III @ Year 2  ·  MSE</a:t>
            </a:r>
          </a:p>
        </p:txBody>
      </p:sp>
      <p:sp>
        <p:nvSpPr>
          <p:cNvPr id="37" name="Rounded Rectangle 36"/>
          <p:cNvSpPr/>
          <p:nvPr/>
        </p:nvSpPr>
        <p:spPr>
          <a:xfrm>
            <a:off x="4297680" y="5522976"/>
            <a:ext cx="3611880" cy="475488"/>
          </a:xfrm>
          <a:prstGeom prst="roundRect">
            <a:avLst>
              <a:gd name="adj" fmla="val 8000"/>
            </a:avLst>
          </a:prstGeom>
          <a:solidFill>
            <a:srgbClr val="E7E6E6"/>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spcAft>
                <a:spcPts val="0"/>
              </a:spcAft>
            </a:pPr>
            <a:r>
              <a:rPr sz="1000" b="1">
                <a:solidFill>
                  <a:srgbClr val="44546A"/>
                </a:solidFill>
                <a:latin typeface="Times New Roman"/>
              </a:rPr>
              <a:t>Classification Head</a:t>
            </a:r>
          </a:p>
          <a:p>
            <a:pPr algn="ctr">
              <a:spcAft>
                <a:spcPts val="0"/>
              </a:spcAft>
            </a:pPr>
            <a:r>
              <a:rPr sz="850" b="0">
                <a:solidFill>
                  <a:srgbClr val="44546A"/>
                </a:solidFill>
                <a:latin typeface="Times New Roman"/>
              </a:rPr>
              <a:t>PD vs HC  ·  BCE</a:t>
            </a:r>
          </a:p>
        </p:txBody>
      </p:sp>
      <p:sp>
        <p:nvSpPr>
          <p:cNvPr id="38" name="Rounded Rectangle 37"/>
          <p:cNvSpPr/>
          <p:nvPr/>
        </p:nvSpPr>
        <p:spPr>
          <a:xfrm>
            <a:off x="8092440" y="5522976"/>
            <a:ext cx="3611880" cy="475488"/>
          </a:xfrm>
          <a:prstGeom prst="roundRect">
            <a:avLst>
              <a:gd name="adj" fmla="val 8000"/>
            </a:avLst>
          </a:prstGeom>
          <a:solidFill>
            <a:srgbClr val="E7E6E6"/>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spcAft>
                <a:spcPts val="0"/>
              </a:spcAft>
            </a:pPr>
            <a:r>
              <a:rPr sz="1000" b="1">
                <a:solidFill>
                  <a:srgbClr val="44546A"/>
                </a:solidFill>
                <a:latin typeface="Times New Roman"/>
              </a:rPr>
              <a:t>Evaluation &amp; XAI</a:t>
            </a:r>
          </a:p>
          <a:p>
            <a:pPr algn="ctr">
              <a:spcAft>
                <a:spcPts val="0"/>
              </a:spcAft>
            </a:pPr>
            <a:r>
              <a:rPr sz="850" b="0">
                <a:solidFill>
                  <a:srgbClr val="44546A"/>
                </a:solidFill>
                <a:latin typeface="Times New Roman"/>
              </a:rPr>
              <a:t>bootstrap CI · 3 seeds · ablation · IG</a:t>
            </a:r>
          </a:p>
        </p:txBody>
      </p:sp>
      <p:sp>
        <p:nvSpPr>
          <p:cNvPr id="39" name="TextBox 38"/>
          <p:cNvSpPr txBox="1"/>
          <p:nvPr/>
        </p:nvSpPr>
        <p:spPr>
          <a:xfrm>
            <a:off x="502920" y="5998464"/>
            <a:ext cx="11201400" cy="219456"/>
          </a:xfrm>
          <a:prstGeom prst="rect">
            <a:avLst/>
          </a:prstGeom>
          <a:noFill/>
        </p:spPr>
        <p:txBody>
          <a:bodyPr wrap="square" lIns="36576" tIns="18288" rIns="36576" bIns="18288">
            <a:spAutoFit/>
          </a:bodyPr>
          <a:lstStyle/>
          <a:p>
            <a:pPr algn="ctr">
              <a:spcAft>
                <a:spcPts val="400"/>
              </a:spcAft>
            </a:pPr>
            <a:r>
              <a:rPr sz="950" b="0">
                <a:solidFill>
                  <a:srgbClr val="7F7F7F"/>
                </a:solidFill>
                <a:latin typeface="Times New Roman"/>
              </a:rPr>
              <a:t>Loss  =  MSE(Δ UPDRS-III)  +  0.3 · BCE(PD/HC)  +  0.1 · Σ HSIC(shared, private)          Raw patient data never leaves a client — only weight tensors are averaged.</a:t>
            </a:r>
          </a:p>
        </p:txBody>
      </p:sp>
    </p:spTree>
    <p:extLst>
      <p:ext uri="{BB962C8B-B14F-4D97-AF65-F5344CB8AC3E}">
        <p14:creationId xmlns:p14="http://schemas.microsoft.com/office/powerpoint/2010/main" val="638135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95AF1-B807-AC15-9C1A-B86677AF63DA}"/>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0C9A0194-5820-F292-3A94-449C000E51A7}"/>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sz="3000" b="1">
                <a:latin typeface="Times New Roman"/>
              </a:rPr>
              <a:t>Functional Requirements</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D4F25267-3005-EC45-A624-B78484DFA4EC}"/>
              </a:ext>
            </a:extLst>
          </p:cNvPr>
          <p:cNvSpPr>
            <a:spLocks noGrp="1"/>
          </p:cNvSpPr>
          <p:nvPr>
            <p:ph type="dt" sz="half" idx="10"/>
          </p:nvPr>
        </p:nvSpPr>
        <p:spPr/>
        <p:txBody>
          <a:bodyPr/>
          <a:lstStyle/>
          <a:p>
            <a:r>
              <a:rPr lang="en-IN" dirty="0"/>
              <a:t>09-09-2026</a:t>
            </a:r>
          </a:p>
          <a:p>
            <a:endParaRPr lang="en-IN"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610022FF-AD0C-E15E-5F17-B2827B5546B1}"/>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BD8D6198-8B2C-26FB-53D2-A5B87C95A4FB}"/>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11</a:t>
            </a:fld>
            <a:endParaRPr lang="en-IN" dirty="0">
              <a:latin typeface="Times New Roman" panose="02020603050405020304" pitchFamily="18" charset="0"/>
              <a:cs typeface="Times New Roman" panose="02020603050405020304" pitchFamily="18" charset="0"/>
            </a:endParaRPr>
          </a:p>
        </p:txBody>
      </p:sp>
      <p:graphicFrame>
        <p:nvGraphicFramePr>
          <p:cNvPr id="7" name="Table 6"/>
          <p:cNvGraphicFramePr>
            <a:graphicFrameLocks noGrp="1"/>
          </p:cNvGraphicFramePr>
          <p:nvPr/>
        </p:nvGraphicFramePr>
        <p:xfrm>
          <a:off x="457200" y="1389888"/>
          <a:ext cx="11274552" cy="4041648"/>
        </p:xfrm>
        <a:graphic>
          <a:graphicData uri="http://schemas.openxmlformats.org/drawingml/2006/table">
            <a:tbl>
              <a:tblPr firstRow="1" bandRow="1">
                <a:tableStyleId>{5C22544A-7EE6-4342-B048-85BDC9FD1C3A}</a:tableStyleId>
              </a:tblPr>
              <a:tblGrid>
                <a:gridCol w="658368">
                  <a:extLst>
                    <a:ext uri="{9D8B030D-6E8A-4147-A177-3AD203B41FA5}">
                      <a16:colId xmlns:a16="http://schemas.microsoft.com/office/drawing/2014/main" val="20000"/>
                    </a:ext>
                  </a:extLst>
                </a:gridCol>
                <a:gridCol w="6409944">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tblGrid>
              <a:tr h="237744">
                <a:tc>
                  <a:txBody>
                    <a:bodyPr/>
                    <a:lstStyle/>
                    <a:p>
                      <a:r>
                        <a:rPr sz="1050" b="1">
                          <a:solidFill>
                            <a:srgbClr val="FFFFFF"/>
                          </a:solidFill>
                          <a:latin typeface="Times New Roman"/>
                        </a:rPr>
                        <a:t>ID</a:t>
                      </a:r>
                    </a:p>
                  </a:txBody>
                  <a:tcPr marL="45720" marR="45720" marT="9144" marB="9144" anchor="ctr"/>
                </a:tc>
                <a:tc>
                  <a:txBody>
                    <a:bodyPr/>
                    <a:lstStyle/>
                    <a:p>
                      <a:r>
                        <a:rPr sz="1050" b="1">
                          <a:solidFill>
                            <a:srgbClr val="FFFFFF"/>
                          </a:solidFill>
                          <a:latin typeface="Times New Roman"/>
                        </a:rPr>
                        <a:t>Functional Requirement</a:t>
                      </a:r>
                    </a:p>
                  </a:txBody>
                  <a:tcPr marL="45720" marR="45720" marT="9144" marB="9144" anchor="ctr"/>
                </a:tc>
                <a:tc>
                  <a:txBody>
                    <a:bodyPr/>
                    <a:lstStyle/>
                    <a:p>
                      <a:r>
                        <a:rPr sz="1050" b="1">
                          <a:solidFill>
                            <a:srgbClr val="FFFFFF"/>
                          </a:solidFill>
                          <a:latin typeface="Times New Roman"/>
                        </a:rPr>
                        <a:t>Implemented in</a:t>
                      </a:r>
                    </a:p>
                  </a:txBody>
                  <a:tcPr marL="45720" marR="45720" marT="9144" marB="9144" anchor="ctr"/>
                </a:tc>
                <a:extLst>
                  <a:ext uri="{0D108BD9-81ED-4DB2-BD59-A6C34878D82A}">
                    <a16:rowId xmlns:a16="http://schemas.microsoft.com/office/drawing/2014/main" val="10000"/>
                  </a:ext>
                </a:extLst>
              </a:tr>
              <a:tr h="237744">
                <a:tc>
                  <a:txBody>
                    <a:bodyPr/>
                    <a:lstStyle/>
                    <a:p>
                      <a:r>
                        <a:rPr sz="1000" b="0">
                          <a:solidFill>
                            <a:srgbClr val="44546A"/>
                          </a:solidFill>
                          <a:latin typeface="Times New Roman"/>
                        </a:rPr>
                        <a:t>FR-1</a:t>
                      </a:r>
                    </a:p>
                  </a:txBody>
                  <a:tcPr marL="45720" marR="45720" marT="9144" marB="9144" anchor="ctr"/>
                </a:tc>
                <a:tc>
                  <a:txBody>
                    <a:bodyPr/>
                    <a:lstStyle/>
                    <a:p>
                      <a:r>
                        <a:rPr sz="1000" b="0">
                          <a:solidFill>
                            <a:srgbClr val="44546A"/>
                          </a:solidFill>
                          <a:latin typeface="Times New Roman"/>
                        </a:rPr>
                        <a:t>Ingest PPMI clinical, DaTScan, genetic and MRI records; align per subject on PATNO</a:t>
                      </a:r>
                    </a:p>
                  </a:txBody>
                  <a:tcPr marL="45720" marR="45720" marT="9144" marB="9144" anchor="ctr"/>
                </a:tc>
                <a:tc>
                  <a:txBody>
                    <a:bodyPr/>
                    <a:lstStyle/>
                    <a:p>
                      <a:r>
                        <a:rPr sz="1000" b="0">
                          <a:solidFill>
                            <a:srgbClr val="44546A"/>
                          </a:solidFill>
                          <a:latin typeface="Times New Roman"/>
                        </a:rPr>
                        <a:t>src/data/*_loader.py, data_builder.py</a:t>
                      </a:r>
                    </a:p>
                  </a:txBody>
                  <a:tcPr marL="45720" marR="45720" marT="9144" marB="9144" anchor="ctr"/>
                </a:tc>
                <a:extLst>
                  <a:ext uri="{0D108BD9-81ED-4DB2-BD59-A6C34878D82A}">
                    <a16:rowId xmlns:a16="http://schemas.microsoft.com/office/drawing/2014/main" val="10001"/>
                  </a:ext>
                </a:extLst>
              </a:tr>
              <a:tr h="237744">
                <a:tc>
                  <a:txBody>
                    <a:bodyPr/>
                    <a:lstStyle/>
                    <a:p>
                      <a:r>
                        <a:rPr sz="1000" b="0">
                          <a:solidFill>
                            <a:srgbClr val="44546A"/>
                          </a:solidFill>
                          <a:latin typeface="Times New Roman"/>
                        </a:rPr>
                        <a:t>FR-2</a:t>
                      </a:r>
                    </a:p>
                  </a:txBody>
                  <a:tcPr marL="45720" marR="45720" marT="9144" marB="9144" anchor="ctr"/>
                </a:tc>
                <a:tc>
                  <a:txBody>
                    <a:bodyPr/>
                    <a:lstStyle/>
                    <a:p>
                      <a:r>
                        <a:rPr sz="1000" b="0">
                          <a:solidFill>
                            <a:srgbClr val="44546A"/>
                          </a:solidFill>
                          <a:latin typeface="Times New Roman"/>
                        </a:rPr>
                        <a:t>Construct Δ UPDRS-III target from official NP3TOT; drop — never impute — unlabelled subjects</a:t>
                      </a:r>
                    </a:p>
                  </a:txBody>
                  <a:tcPr marL="45720" marR="45720" marT="9144" marB="9144" anchor="ctr"/>
                </a:tc>
                <a:tc>
                  <a:txBody>
                    <a:bodyPr/>
                    <a:lstStyle/>
                    <a:p>
                      <a:r>
                        <a:rPr sz="1000" b="0">
                          <a:solidFill>
                            <a:srgbClr val="44546A"/>
                          </a:solidFill>
                          <a:latin typeface="Times New Roman"/>
                        </a:rPr>
                        <a:t>clinical_loader.build_clinical_features</a:t>
                      </a:r>
                    </a:p>
                  </a:txBody>
                  <a:tcPr marL="45720" marR="45720" marT="9144" marB="9144" anchor="ctr"/>
                </a:tc>
                <a:extLst>
                  <a:ext uri="{0D108BD9-81ED-4DB2-BD59-A6C34878D82A}">
                    <a16:rowId xmlns:a16="http://schemas.microsoft.com/office/drawing/2014/main" val="10002"/>
                  </a:ext>
                </a:extLst>
              </a:tr>
              <a:tr h="237744">
                <a:tc>
                  <a:txBody>
                    <a:bodyPr/>
                    <a:lstStyle/>
                    <a:p>
                      <a:r>
                        <a:rPr sz="1000" b="0">
                          <a:solidFill>
                            <a:srgbClr val="44546A"/>
                          </a:solidFill>
                          <a:latin typeface="Times New Roman"/>
                        </a:rPr>
                        <a:t>FR-3</a:t>
                      </a:r>
                    </a:p>
                  </a:txBody>
                  <a:tcPr marL="45720" marR="45720" marT="9144" marB="9144" anchor="ctr"/>
                </a:tc>
                <a:tc>
                  <a:txBody>
                    <a:bodyPr/>
                    <a:lstStyle/>
                    <a:p>
                      <a:r>
                        <a:rPr sz="1000" b="0">
                          <a:solidFill>
                            <a:srgbClr val="44546A"/>
                          </a:solidFill>
                          <a:latin typeface="Times New Roman"/>
                        </a:rPr>
                        <a:t>Subject-level stratified 70/15/15 split; no subject in two partitions</a:t>
                      </a:r>
                    </a:p>
                  </a:txBody>
                  <a:tcPr marL="45720" marR="45720" marT="9144" marB="9144" anchor="ctr"/>
                </a:tc>
                <a:tc>
                  <a:txBody>
                    <a:bodyPr/>
                    <a:lstStyle/>
                    <a:p>
                      <a:r>
                        <a:rPr sz="1000" b="0">
                          <a:solidFill>
                            <a:srgbClr val="44546A"/>
                          </a:solidFill>
                          <a:latin typeface="Times New Roman"/>
                        </a:rPr>
                        <a:t>preprocessing.create_subject_splits</a:t>
                      </a:r>
                    </a:p>
                  </a:txBody>
                  <a:tcPr marL="45720" marR="45720" marT="9144" marB="9144" anchor="ctr"/>
                </a:tc>
                <a:extLst>
                  <a:ext uri="{0D108BD9-81ED-4DB2-BD59-A6C34878D82A}">
                    <a16:rowId xmlns:a16="http://schemas.microsoft.com/office/drawing/2014/main" val="10003"/>
                  </a:ext>
                </a:extLst>
              </a:tr>
              <a:tr h="237744">
                <a:tc>
                  <a:txBody>
                    <a:bodyPr/>
                    <a:lstStyle/>
                    <a:p>
                      <a:r>
                        <a:rPr sz="1000" b="0">
                          <a:solidFill>
                            <a:srgbClr val="44546A"/>
                          </a:solidFill>
                          <a:latin typeface="Times New Roman"/>
                        </a:rPr>
                        <a:t>FR-4</a:t>
                      </a:r>
                    </a:p>
                  </a:txBody>
                  <a:tcPr marL="45720" marR="45720" marT="9144" marB="9144" anchor="ctr"/>
                </a:tc>
                <a:tc>
                  <a:txBody>
                    <a:bodyPr/>
                    <a:lstStyle/>
                    <a:p>
                      <a:r>
                        <a:rPr sz="1000" b="0">
                          <a:solidFill>
                            <a:srgbClr val="44546A"/>
                          </a:solidFill>
                          <a:latin typeface="Times New Roman"/>
                        </a:rPr>
                        <a:t>Fit all imputation and scaling statistics on training subjects only</a:t>
                      </a:r>
                    </a:p>
                  </a:txBody>
                  <a:tcPr marL="45720" marR="45720" marT="9144" marB="9144" anchor="ctr"/>
                </a:tc>
                <a:tc>
                  <a:txBody>
                    <a:bodyPr/>
                    <a:lstStyle/>
                    <a:p>
                      <a:r>
                        <a:rPr sz="1000" b="0">
                          <a:solidFill>
                            <a:srgbClr val="44546A"/>
                          </a:solidFill>
                          <a:latin typeface="Times New Roman"/>
                        </a:rPr>
                        <a:t>preprocessing.ModalityPreprocessor</a:t>
                      </a:r>
                    </a:p>
                  </a:txBody>
                  <a:tcPr marL="45720" marR="45720" marT="9144" marB="9144" anchor="ctr"/>
                </a:tc>
                <a:extLst>
                  <a:ext uri="{0D108BD9-81ED-4DB2-BD59-A6C34878D82A}">
                    <a16:rowId xmlns:a16="http://schemas.microsoft.com/office/drawing/2014/main" val="10004"/>
                  </a:ext>
                </a:extLst>
              </a:tr>
              <a:tr h="237744">
                <a:tc>
                  <a:txBody>
                    <a:bodyPr/>
                    <a:lstStyle/>
                    <a:p>
                      <a:r>
                        <a:rPr sz="1000" b="0">
                          <a:solidFill>
                            <a:srgbClr val="44546A"/>
                          </a:solidFill>
                          <a:latin typeface="Times New Roman"/>
                        </a:rPr>
                        <a:t>FR-5</a:t>
                      </a:r>
                    </a:p>
                  </a:txBody>
                  <a:tcPr marL="45720" marR="45720" marT="9144" marB="9144" anchor="ctr"/>
                </a:tc>
                <a:tc>
                  <a:txBody>
                    <a:bodyPr/>
                    <a:lstStyle/>
                    <a:p>
                      <a:r>
                        <a:rPr sz="1000" b="0">
                          <a:solidFill>
                            <a:srgbClr val="44546A"/>
                          </a:solidFill>
                          <a:latin typeface="Times New Roman"/>
                        </a:rPr>
                        <a:t>Represent an absent modality by a learned mask token, not an imputed value</a:t>
                      </a:r>
                    </a:p>
                  </a:txBody>
                  <a:tcPr marL="45720" marR="45720" marT="9144" marB="9144" anchor="ctr"/>
                </a:tc>
                <a:tc>
                  <a:txBody>
                    <a:bodyPr/>
                    <a:lstStyle/>
                    <a:p>
                      <a:r>
                        <a:rPr sz="1000" b="0">
                          <a:solidFill>
                            <a:srgbClr val="44546A"/>
                          </a:solidFill>
                          <a:latin typeface="Times New Roman"/>
                        </a:rPr>
                        <a:t>dataset.py, fed_phenograft.py</a:t>
                      </a:r>
                    </a:p>
                  </a:txBody>
                  <a:tcPr marL="45720" marR="45720" marT="9144" marB="9144" anchor="ctr"/>
                </a:tc>
                <a:extLst>
                  <a:ext uri="{0D108BD9-81ED-4DB2-BD59-A6C34878D82A}">
                    <a16:rowId xmlns:a16="http://schemas.microsoft.com/office/drawing/2014/main" val="10005"/>
                  </a:ext>
                </a:extLst>
              </a:tr>
              <a:tr h="237744">
                <a:tc>
                  <a:txBody>
                    <a:bodyPr/>
                    <a:lstStyle/>
                    <a:p>
                      <a:r>
                        <a:rPr sz="1000" b="0">
                          <a:solidFill>
                            <a:srgbClr val="44546A"/>
                          </a:solidFill>
                          <a:latin typeface="Times New Roman"/>
                        </a:rPr>
                        <a:t>FR-6</a:t>
                      </a:r>
                    </a:p>
                  </a:txBody>
                  <a:tcPr marL="45720" marR="45720" marT="9144" marB="9144" anchor="ctr"/>
                </a:tc>
                <a:tc>
                  <a:txBody>
                    <a:bodyPr/>
                    <a:lstStyle/>
                    <a:p>
                      <a:r>
                        <a:rPr sz="1000" b="0">
                          <a:solidFill>
                            <a:srgbClr val="44546A"/>
                          </a:solidFill>
                          <a:latin typeface="Times New Roman"/>
                        </a:rPr>
                        <a:t>Clinical embeddings query imaging/genetic embeddings via multi-head cross-attention</a:t>
                      </a:r>
                    </a:p>
                  </a:txBody>
                  <a:tcPr marL="45720" marR="45720" marT="9144" marB="9144" anchor="ctr"/>
                </a:tc>
                <a:tc>
                  <a:txBody>
                    <a:bodyPr/>
                    <a:lstStyle/>
                    <a:p>
                      <a:r>
                        <a:rPr sz="1000" b="0">
                          <a:solidFill>
                            <a:srgbClr val="44546A"/>
                          </a:solidFill>
                          <a:latin typeface="Times New Roman"/>
                        </a:rPr>
                        <a:t>models/attention.py</a:t>
                      </a:r>
                    </a:p>
                  </a:txBody>
                  <a:tcPr marL="45720" marR="45720" marT="9144" marB="9144" anchor="ctr"/>
                </a:tc>
                <a:extLst>
                  <a:ext uri="{0D108BD9-81ED-4DB2-BD59-A6C34878D82A}">
                    <a16:rowId xmlns:a16="http://schemas.microsoft.com/office/drawing/2014/main" val="10006"/>
                  </a:ext>
                </a:extLst>
              </a:tr>
              <a:tr h="237744">
                <a:tc>
                  <a:txBody>
                    <a:bodyPr/>
                    <a:lstStyle/>
                    <a:p>
                      <a:r>
                        <a:rPr sz="1000" b="0">
                          <a:solidFill>
                            <a:srgbClr val="44546A"/>
                          </a:solidFill>
                          <a:latin typeface="Times New Roman"/>
                        </a:rPr>
                        <a:t>FR-7</a:t>
                      </a:r>
                    </a:p>
                  </a:txBody>
                  <a:tcPr marL="45720" marR="45720" marT="9144" marB="9144" anchor="ctr"/>
                </a:tc>
                <a:tc>
                  <a:txBody>
                    <a:bodyPr/>
                    <a:lstStyle/>
                    <a:p>
                      <a:r>
                        <a:rPr sz="1000" b="0">
                          <a:solidFill>
                            <a:srgbClr val="44546A"/>
                          </a:solidFill>
                          <a:latin typeface="Times New Roman"/>
                        </a:rPr>
                        <a:t>Encode each auxiliary modality into shared and private latents penalised by HSIC</a:t>
                      </a:r>
                    </a:p>
                  </a:txBody>
                  <a:tcPr marL="45720" marR="45720" marT="9144" marB="9144" anchor="ctr"/>
                </a:tc>
                <a:tc>
                  <a:txBody>
                    <a:bodyPr/>
                    <a:lstStyle/>
                    <a:p>
                      <a:r>
                        <a:rPr sz="1000" b="0">
                          <a:solidFill>
                            <a:srgbClr val="44546A"/>
                          </a:solidFill>
                          <a:latin typeface="Times New Roman"/>
                        </a:rPr>
                        <a:t>models/hsic.py, SharedPrivateEncoder</a:t>
                      </a:r>
                    </a:p>
                  </a:txBody>
                  <a:tcPr marL="45720" marR="45720" marT="9144" marB="9144" anchor="ctr"/>
                </a:tc>
                <a:extLst>
                  <a:ext uri="{0D108BD9-81ED-4DB2-BD59-A6C34878D82A}">
                    <a16:rowId xmlns:a16="http://schemas.microsoft.com/office/drawing/2014/main" val="10007"/>
                  </a:ext>
                </a:extLst>
              </a:tr>
              <a:tr h="237744">
                <a:tc>
                  <a:txBody>
                    <a:bodyPr/>
                    <a:lstStyle/>
                    <a:p>
                      <a:r>
                        <a:rPr sz="1000" b="0">
                          <a:solidFill>
                            <a:srgbClr val="44546A"/>
                          </a:solidFill>
                          <a:latin typeface="Times New Roman"/>
                        </a:rPr>
                        <a:t>FR-8</a:t>
                      </a:r>
                    </a:p>
                  </a:txBody>
                  <a:tcPr marL="45720" marR="45720" marT="9144" marB="9144" anchor="ctr"/>
                </a:tc>
                <a:tc>
                  <a:txBody>
                    <a:bodyPr/>
                    <a:lstStyle/>
                    <a:p>
                      <a:r>
                        <a:rPr sz="1000" b="0">
                          <a:solidFill>
                            <a:srgbClr val="44546A"/>
                          </a:solidFill>
                          <a:latin typeface="Times New Roman"/>
                        </a:rPr>
                        <a:t>Train by sample-weighted FedAvg over N sites (IID / Dirichlet / real-site)</a:t>
                      </a:r>
                    </a:p>
                  </a:txBody>
                  <a:tcPr marL="45720" marR="45720" marT="9144" marB="9144" anchor="ctr"/>
                </a:tc>
                <a:tc>
                  <a:txBody>
                    <a:bodyPr/>
                    <a:lstStyle/>
                    <a:p>
                      <a:r>
                        <a:rPr sz="1000" b="0">
                          <a:solidFill>
                            <a:srgbClr val="44546A"/>
                          </a:solidFill>
                          <a:latin typeface="Times New Roman"/>
                        </a:rPr>
                        <a:t>federated/fedavg_orchestrator.py</a:t>
                      </a:r>
                    </a:p>
                  </a:txBody>
                  <a:tcPr marL="45720" marR="45720" marT="9144" marB="9144" anchor="ctr"/>
                </a:tc>
                <a:extLst>
                  <a:ext uri="{0D108BD9-81ED-4DB2-BD59-A6C34878D82A}">
                    <a16:rowId xmlns:a16="http://schemas.microsoft.com/office/drawing/2014/main" val="10008"/>
                  </a:ext>
                </a:extLst>
              </a:tr>
              <a:tr h="237744">
                <a:tc>
                  <a:txBody>
                    <a:bodyPr/>
                    <a:lstStyle/>
                    <a:p>
                      <a:r>
                        <a:rPr sz="1000" b="0">
                          <a:solidFill>
                            <a:srgbClr val="44546A"/>
                          </a:solidFill>
                          <a:latin typeface="Times New Roman"/>
                        </a:rPr>
                        <a:t>FR-9</a:t>
                      </a:r>
                    </a:p>
                  </a:txBody>
                  <a:tcPr marL="45720" marR="45720" marT="9144" marB="9144" anchor="ctr"/>
                </a:tc>
                <a:tc>
                  <a:txBody>
                    <a:bodyPr/>
                    <a:lstStyle/>
                    <a:p>
                      <a:r>
                        <a:rPr sz="1000" b="0">
                          <a:solidFill>
                            <a:srgbClr val="44546A"/>
                          </a:solidFill>
                          <a:latin typeface="Times New Roman"/>
                        </a:rPr>
                        <a:t>Early-stop on validation CCC, restore best-round weights, score test set exactly once</a:t>
                      </a:r>
                    </a:p>
                  </a:txBody>
                  <a:tcPr marL="45720" marR="45720" marT="9144" marB="9144" anchor="ctr"/>
                </a:tc>
                <a:tc>
                  <a:txBody>
                    <a:bodyPr/>
                    <a:lstStyle/>
                    <a:p>
                      <a:r>
                        <a:rPr sz="1000" b="0">
                          <a:solidFill>
                            <a:srgbClr val="44546A"/>
                          </a:solidFill>
                          <a:latin typeface="Times New Roman"/>
                        </a:rPr>
                        <a:t>simulate_federated_training, main.py</a:t>
                      </a:r>
                    </a:p>
                  </a:txBody>
                  <a:tcPr marL="45720" marR="45720" marT="9144" marB="9144" anchor="ctr"/>
                </a:tc>
                <a:extLst>
                  <a:ext uri="{0D108BD9-81ED-4DB2-BD59-A6C34878D82A}">
                    <a16:rowId xmlns:a16="http://schemas.microsoft.com/office/drawing/2014/main" val="10009"/>
                  </a:ext>
                </a:extLst>
              </a:tr>
              <a:tr h="237744">
                <a:tc>
                  <a:txBody>
                    <a:bodyPr/>
                    <a:lstStyle/>
                    <a:p>
                      <a:r>
                        <a:rPr sz="1000" b="0">
                          <a:solidFill>
                            <a:srgbClr val="44546A"/>
                          </a:solidFill>
                          <a:latin typeface="Times New Roman"/>
                        </a:rPr>
                        <a:t>FR-10</a:t>
                      </a:r>
                    </a:p>
                  </a:txBody>
                  <a:tcPr marL="45720" marR="45720" marT="9144" marB="9144" anchor="ctr"/>
                </a:tc>
                <a:tc>
                  <a:txBody>
                    <a:bodyPr/>
                    <a:lstStyle/>
                    <a:p>
                      <a:r>
                        <a:rPr sz="1000" b="0">
                          <a:solidFill>
                            <a:srgbClr val="44546A"/>
                          </a:solidFill>
                          <a:latin typeface="Times New Roman"/>
                        </a:rPr>
                        <a:t>Predict progression and diagnosis jointly under one multitask loss</a:t>
                      </a:r>
                    </a:p>
                  </a:txBody>
                  <a:tcPr marL="45720" marR="45720" marT="9144" marB="9144" anchor="ctr"/>
                </a:tc>
                <a:tc>
                  <a:txBody>
                    <a:bodyPr/>
                    <a:lstStyle/>
                    <a:p>
                      <a:r>
                        <a:rPr sz="1000" b="0">
                          <a:solidFill>
                            <a:srgbClr val="44546A"/>
                          </a:solidFill>
                          <a:latin typeface="Times New Roman"/>
                        </a:rPr>
                        <a:t>Dual heads, cls_weight = 0.3</a:t>
                      </a:r>
                    </a:p>
                  </a:txBody>
                  <a:tcPr marL="45720" marR="45720" marT="9144" marB="9144" anchor="ctr"/>
                </a:tc>
                <a:extLst>
                  <a:ext uri="{0D108BD9-81ED-4DB2-BD59-A6C34878D82A}">
                    <a16:rowId xmlns:a16="http://schemas.microsoft.com/office/drawing/2014/main" val="10010"/>
                  </a:ext>
                </a:extLst>
              </a:tr>
              <a:tr h="237744">
                <a:tc>
                  <a:txBody>
                    <a:bodyPr/>
                    <a:lstStyle/>
                    <a:p>
                      <a:r>
                        <a:rPr sz="1000" b="0">
                          <a:solidFill>
                            <a:srgbClr val="44546A"/>
                          </a:solidFill>
                          <a:latin typeface="Times New Roman"/>
                        </a:rPr>
                        <a:t>FR-11</a:t>
                      </a:r>
                    </a:p>
                  </a:txBody>
                  <a:tcPr marL="45720" marR="45720" marT="9144" marB="9144" anchor="ctr"/>
                </a:tc>
                <a:tc>
                  <a:txBody>
                    <a:bodyPr/>
                    <a:lstStyle/>
                    <a:p>
                      <a:r>
                        <a:rPr sz="1000" b="0">
                          <a:solidFill>
                            <a:srgbClr val="44546A"/>
                          </a:solidFill>
                          <a:latin typeface="Times New Roman"/>
                        </a:rPr>
                        <a:t>Benchmark 12 classical models with per-fold pipelines on identical test subjects</a:t>
                      </a:r>
                    </a:p>
                  </a:txBody>
                  <a:tcPr marL="45720" marR="45720" marT="9144" marB="9144" anchor="ctr"/>
                </a:tc>
                <a:tc>
                  <a:txBody>
                    <a:bodyPr/>
                    <a:lstStyle/>
                    <a:p>
                      <a:r>
                        <a:rPr sz="1000" b="0">
                          <a:solidFill>
                            <a:srgbClr val="44546A"/>
                          </a:solidFill>
                          <a:latin typeface="Times New Roman"/>
                        </a:rPr>
                        <a:t>baselines/models.py, runner.py</a:t>
                      </a:r>
                    </a:p>
                  </a:txBody>
                  <a:tcPr marL="45720" marR="45720" marT="9144" marB="9144" anchor="ctr"/>
                </a:tc>
                <a:extLst>
                  <a:ext uri="{0D108BD9-81ED-4DB2-BD59-A6C34878D82A}">
                    <a16:rowId xmlns:a16="http://schemas.microsoft.com/office/drawing/2014/main" val="10011"/>
                  </a:ext>
                </a:extLst>
              </a:tr>
              <a:tr h="237744">
                <a:tc>
                  <a:txBody>
                    <a:bodyPr/>
                    <a:lstStyle/>
                    <a:p>
                      <a:r>
                        <a:rPr sz="1000" b="0">
                          <a:solidFill>
                            <a:srgbClr val="44546A"/>
                          </a:solidFill>
                          <a:latin typeface="Times New Roman"/>
                        </a:rPr>
                        <a:t>FR-12</a:t>
                      </a:r>
                    </a:p>
                  </a:txBody>
                  <a:tcPr marL="45720" marR="45720" marT="9144" marB="9144" anchor="ctr"/>
                </a:tc>
                <a:tc>
                  <a:txBody>
                    <a:bodyPr/>
                    <a:lstStyle/>
                    <a:p>
                      <a:r>
                        <a:rPr sz="1000" b="0">
                          <a:solidFill>
                            <a:srgbClr val="44546A"/>
                          </a:solidFill>
                          <a:latin typeface="Times New Roman"/>
                        </a:rPr>
                        <a:t>Report bootstrap 95% CIs, 3-seed mean ± SD, paired test vs strongest baseline</a:t>
                      </a:r>
                    </a:p>
                  </a:txBody>
                  <a:tcPr marL="45720" marR="45720" marT="9144" marB="9144" anchor="ctr"/>
                </a:tc>
                <a:tc>
                  <a:txBody>
                    <a:bodyPr/>
                    <a:lstStyle/>
                    <a:p>
                      <a:r>
                        <a:rPr sz="1000" b="0">
                          <a:solidFill>
                            <a:srgbClr val="44546A"/>
                          </a:solidFill>
                          <a:latin typeface="Times New Roman"/>
                        </a:rPr>
                        <a:t>evaluation/stats.py</a:t>
                      </a:r>
                    </a:p>
                  </a:txBody>
                  <a:tcPr marL="45720" marR="45720" marT="9144" marB="9144" anchor="ctr"/>
                </a:tc>
                <a:extLst>
                  <a:ext uri="{0D108BD9-81ED-4DB2-BD59-A6C34878D82A}">
                    <a16:rowId xmlns:a16="http://schemas.microsoft.com/office/drawing/2014/main" val="10012"/>
                  </a:ext>
                </a:extLst>
              </a:tr>
              <a:tr h="237744">
                <a:tc>
                  <a:txBody>
                    <a:bodyPr/>
                    <a:lstStyle/>
                    <a:p>
                      <a:r>
                        <a:rPr sz="1000" b="0">
                          <a:solidFill>
                            <a:srgbClr val="44546A"/>
                          </a:solidFill>
                          <a:latin typeface="Times New Roman"/>
                        </a:rPr>
                        <a:t>FR-13</a:t>
                      </a:r>
                    </a:p>
                  </a:txBody>
                  <a:tcPr marL="45720" marR="45720" marT="9144" marB="9144" anchor="ctr"/>
                </a:tc>
                <a:tc>
                  <a:txBody>
                    <a:bodyPr/>
                    <a:lstStyle/>
                    <a:p>
                      <a:r>
                        <a:rPr sz="1000" b="0">
                          <a:solidFill>
                            <a:srgbClr val="44546A"/>
                          </a:solidFill>
                          <a:latin typeface="Times New Roman"/>
                        </a:rPr>
                        <a:t>Retrain an ablation suite over every modality and architectural component</a:t>
                      </a:r>
                    </a:p>
                  </a:txBody>
                  <a:tcPr marL="45720" marR="45720" marT="9144" marB="9144" anchor="ctr"/>
                </a:tc>
                <a:tc>
                  <a:txBody>
                    <a:bodyPr/>
                    <a:lstStyle/>
                    <a:p>
                      <a:r>
                        <a:rPr sz="1000" b="0">
                          <a:solidFill>
                            <a:srgbClr val="44546A"/>
                          </a:solidFill>
                          <a:latin typeface="Times New Roman"/>
                        </a:rPr>
                        <a:t>evaluation/ablation.py (8 variants)</a:t>
                      </a:r>
                    </a:p>
                  </a:txBody>
                  <a:tcPr marL="45720" marR="45720" marT="9144" marB="9144" anchor="ctr"/>
                </a:tc>
                <a:extLst>
                  <a:ext uri="{0D108BD9-81ED-4DB2-BD59-A6C34878D82A}">
                    <a16:rowId xmlns:a16="http://schemas.microsoft.com/office/drawing/2014/main" val="10013"/>
                  </a:ext>
                </a:extLst>
              </a:tr>
              <a:tr h="237744">
                <a:tc>
                  <a:txBody>
                    <a:bodyPr/>
                    <a:lstStyle/>
                    <a:p>
                      <a:r>
                        <a:rPr sz="1000" b="0">
                          <a:solidFill>
                            <a:srgbClr val="44546A"/>
                          </a:solidFill>
                          <a:latin typeface="Times New Roman"/>
                        </a:rPr>
                        <a:t>FR-14</a:t>
                      </a:r>
                    </a:p>
                  </a:txBody>
                  <a:tcPr marL="45720" marR="45720" marT="9144" marB="9144" anchor="ctr"/>
                </a:tc>
                <a:tc>
                  <a:txBody>
                    <a:bodyPr/>
                    <a:lstStyle/>
                    <a:p>
                      <a:r>
                        <a:rPr sz="1000" b="0">
                          <a:solidFill>
                            <a:srgbClr val="44546A"/>
                          </a:solidFill>
                          <a:latin typeface="Times New Roman"/>
                        </a:rPr>
                        <a:t>Produce attention maps, integrated gradients, robustness test, counterfactuals</a:t>
                      </a:r>
                    </a:p>
                  </a:txBody>
                  <a:tcPr marL="45720" marR="45720" marT="9144" marB="9144" anchor="ctr"/>
                </a:tc>
                <a:tc>
                  <a:txBody>
                    <a:bodyPr/>
                    <a:lstStyle/>
                    <a:p>
                      <a:r>
                        <a:rPr sz="1000" b="0">
                          <a:solidFill>
                            <a:srgbClr val="44546A"/>
                          </a:solidFill>
                          <a:latin typeface="Times New Roman"/>
                        </a:rPr>
                        <a:t>evaluation/xai.py</a:t>
                      </a:r>
                    </a:p>
                  </a:txBody>
                  <a:tcPr marL="45720" marR="45720" marT="9144" marB="9144" anchor="ctr"/>
                </a:tc>
                <a:extLst>
                  <a:ext uri="{0D108BD9-81ED-4DB2-BD59-A6C34878D82A}">
                    <a16:rowId xmlns:a16="http://schemas.microsoft.com/office/drawing/2014/main" val="10014"/>
                  </a:ext>
                </a:extLst>
              </a:tr>
              <a:tr h="237744">
                <a:tc>
                  <a:txBody>
                    <a:bodyPr/>
                    <a:lstStyle/>
                    <a:p>
                      <a:r>
                        <a:rPr sz="1000" b="0">
                          <a:solidFill>
                            <a:srgbClr val="44546A"/>
                          </a:solidFill>
                          <a:latin typeface="Times New Roman"/>
                        </a:rPr>
                        <a:t>FR-15</a:t>
                      </a:r>
                    </a:p>
                  </a:txBody>
                  <a:tcPr marL="45720" marR="45720" marT="9144" marB="9144" anchor="ctr"/>
                </a:tc>
                <a:tc>
                  <a:txBody>
                    <a:bodyPr/>
                    <a:lstStyle/>
                    <a:p>
                      <a:r>
                        <a:rPr sz="1000" b="0">
                          <a:solidFill>
                            <a:srgbClr val="44546A"/>
                          </a:solidFill>
                          <a:latin typeface="Times New Roman"/>
                        </a:rPr>
                        <a:t>Emit metrics JSON, Markdown report and figure suite; regenerable without retraining</a:t>
                      </a:r>
                    </a:p>
                  </a:txBody>
                  <a:tcPr marL="45720" marR="45720" marT="9144" marB="9144" anchor="ctr"/>
                </a:tc>
                <a:tc>
                  <a:txBody>
                    <a:bodyPr/>
                    <a:lstStyle/>
                    <a:p>
                      <a:r>
                        <a:rPr sz="1000" b="0">
                          <a:solidFill>
                            <a:srgbClr val="44546A"/>
                          </a:solidFill>
                          <a:latin typeface="Times New Roman"/>
                        </a:rPr>
                        <a:t>results_report.py, generate_results.py</a:t>
                      </a:r>
                    </a:p>
                  </a:txBody>
                  <a:tcPr marL="45720" marR="45720" marT="9144" marB="9144" anchor="ctr"/>
                </a:tc>
                <a:extLst>
                  <a:ext uri="{0D108BD9-81ED-4DB2-BD59-A6C34878D82A}">
                    <a16:rowId xmlns:a16="http://schemas.microsoft.com/office/drawing/2014/main" val="10015"/>
                  </a:ext>
                </a:extLst>
              </a:tr>
              <a:tr h="237744">
                <a:tc>
                  <a:txBody>
                    <a:bodyPr/>
                    <a:lstStyle/>
                    <a:p>
                      <a:r>
                        <a:rPr sz="1000" b="0">
                          <a:solidFill>
                            <a:srgbClr val="44546A"/>
                          </a:solidFill>
                          <a:latin typeface="Times New Roman"/>
                        </a:rPr>
                        <a:t>FR-16</a:t>
                      </a:r>
                    </a:p>
                  </a:txBody>
                  <a:tcPr marL="45720" marR="45720" marT="9144" marB="9144" anchor="ctr"/>
                </a:tc>
                <a:tc>
                  <a:txBody>
                    <a:bodyPr/>
                    <a:lstStyle/>
                    <a:p>
                      <a:r>
                        <a:rPr sz="1000" b="0">
                          <a:solidFill>
                            <a:srgbClr val="44546A"/>
                          </a:solidFill>
                          <a:latin typeface="Times New Roman"/>
                        </a:rPr>
                        <a:t>Replace synthetic MRI with real T1w Schaefer-100 parcellation when scans present</a:t>
                      </a:r>
                    </a:p>
                  </a:txBody>
                  <a:tcPr marL="45720" marR="45720" marT="9144" marB="9144" anchor="ctr"/>
                </a:tc>
                <a:tc>
                  <a:txBody>
                    <a:bodyPr/>
                    <a:lstStyle/>
                    <a:p>
                      <a:r>
                        <a:rPr sz="1000" b="0">
                          <a:solidFill>
                            <a:srgbClr val="44546A"/>
                          </a:solidFill>
                          <a:latin typeface="Times New Roman"/>
                        </a:rPr>
                        <a:t>mri_pipeline.py (pending NIfTI data)</a:t>
                      </a:r>
                    </a:p>
                  </a:txBody>
                  <a:tcPr marL="45720" marR="45720" marT="9144" marB="9144" anchor="ctr"/>
                </a:tc>
                <a:extLst>
                  <a:ext uri="{0D108BD9-81ED-4DB2-BD59-A6C34878D82A}">
                    <a16:rowId xmlns:a16="http://schemas.microsoft.com/office/drawing/2014/main" val="10016"/>
                  </a:ext>
                </a:extLst>
              </a:tr>
            </a:tbl>
          </a:graphicData>
        </a:graphic>
      </p:graphicFrame>
    </p:spTree>
    <p:extLst>
      <p:ext uri="{BB962C8B-B14F-4D97-AF65-F5344CB8AC3E}">
        <p14:creationId xmlns:p14="http://schemas.microsoft.com/office/powerpoint/2010/main" val="31912992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2F2ED-50F9-3DFA-95BB-1A1059C5D893}"/>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B27DA514-48FC-4BF4-8205-DE21D456C5FF}"/>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sz="3000" b="1">
                <a:latin typeface="Times New Roman"/>
              </a:rPr>
              <a:t>Modules</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D74A04E0-6631-130F-A154-C85D978EA39B}"/>
              </a:ext>
            </a:extLst>
          </p:cNvPr>
          <p:cNvSpPr>
            <a:spLocks noGrp="1"/>
          </p:cNvSpPr>
          <p:nvPr>
            <p:ph type="dt" sz="half" idx="10"/>
          </p:nvPr>
        </p:nvSpPr>
        <p:spPr/>
        <p:txBody>
          <a:bodyPr/>
          <a:lstStyle/>
          <a:p>
            <a:r>
              <a:rPr lang="en-IN" dirty="0"/>
              <a:t>09-09-2026</a:t>
            </a:r>
          </a:p>
          <a:p>
            <a:endParaRPr lang="en-IN"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39615995-EDEB-C984-B852-1229C23B1A05}"/>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067F5109-389C-3E37-E553-A559233EFD96}"/>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12</a:t>
            </a:fld>
            <a:endParaRPr lang="en-IN" dirty="0">
              <a:latin typeface="Times New Roman" panose="02020603050405020304" pitchFamily="18" charset="0"/>
              <a:cs typeface="Times New Roman" panose="02020603050405020304" pitchFamily="18" charset="0"/>
            </a:endParaRPr>
          </a:p>
        </p:txBody>
      </p:sp>
      <p:graphicFrame>
        <p:nvGraphicFramePr>
          <p:cNvPr id="7" name="Table 6"/>
          <p:cNvGraphicFramePr>
            <a:graphicFrameLocks noGrp="1"/>
          </p:cNvGraphicFramePr>
          <p:nvPr/>
        </p:nvGraphicFramePr>
        <p:xfrm>
          <a:off x="457200" y="1389888"/>
          <a:ext cx="11274552" cy="3803904"/>
        </p:xfrm>
        <a:graphic>
          <a:graphicData uri="http://schemas.openxmlformats.org/drawingml/2006/table">
            <a:tbl>
              <a:tblPr firstRow="1" bandRow="1">
                <a:tableStyleId>{5C22544A-7EE6-4342-B048-85BDC9FD1C3A}</a:tableStyleId>
              </a:tblPr>
              <a:tblGrid>
                <a:gridCol w="1691640">
                  <a:extLst>
                    <a:ext uri="{9D8B030D-6E8A-4147-A177-3AD203B41FA5}">
                      <a16:colId xmlns:a16="http://schemas.microsoft.com/office/drawing/2014/main" val="20000"/>
                    </a:ext>
                  </a:extLst>
                </a:gridCol>
                <a:gridCol w="4160520">
                  <a:extLst>
                    <a:ext uri="{9D8B030D-6E8A-4147-A177-3AD203B41FA5}">
                      <a16:colId xmlns:a16="http://schemas.microsoft.com/office/drawing/2014/main" val="20001"/>
                    </a:ext>
                  </a:extLst>
                </a:gridCol>
                <a:gridCol w="3319272">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tblGrid>
              <a:tr h="475488">
                <a:tc>
                  <a:txBody>
                    <a:bodyPr/>
                    <a:lstStyle/>
                    <a:p>
                      <a:r>
                        <a:rPr sz="1050" b="1">
                          <a:solidFill>
                            <a:srgbClr val="FFFFFF"/>
                          </a:solidFill>
                          <a:latin typeface="Times New Roman"/>
                        </a:rPr>
                        <a:t>Module</a:t>
                      </a:r>
                    </a:p>
                  </a:txBody>
                  <a:tcPr marL="45720" marR="45720" marT="9144" marB="9144" anchor="ctr"/>
                </a:tc>
                <a:tc>
                  <a:txBody>
                    <a:bodyPr/>
                    <a:lstStyle/>
                    <a:p>
                      <a:r>
                        <a:rPr sz="1050" b="1">
                          <a:solidFill>
                            <a:srgbClr val="FFFFFF"/>
                          </a:solidFill>
                          <a:latin typeface="Times New Roman"/>
                        </a:rPr>
                        <a:t>Responsibility</a:t>
                      </a:r>
                    </a:p>
                  </a:txBody>
                  <a:tcPr marL="45720" marR="45720" marT="9144" marB="9144" anchor="ctr"/>
                </a:tc>
                <a:tc>
                  <a:txBody>
                    <a:bodyPr/>
                    <a:lstStyle/>
                    <a:p>
                      <a:r>
                        <a:rPr sz="1050" b="1">
                          <a:solidFill>
                            <a:srgbClr val="FFFFFF"/>
                          </a:solidFill>
                          <a:latin typeface="Times New Roman"/>
                        </a:rPr>
                        <a:t>Key files</a:t>
                      </a:r>
                    </a:p>
                  </a:txBody>
                  <a:tcPr marL="45720" marR="45720" marT="9144" marB="9144" anchor="ctr"/>
                </a:tc>
                <a:tc>
                  <a:txBody>
                    <a:bodyPr/>
                    <a:lstStyle/>
                    <a:p>
                      <a:r>
                        <a:rPr sz="1050" b="1">
                          <a:solidFill>
                            <a:srgbClr val="FFFFFF"/>
                          </a:solidFill>
                          <a:latin typeface="Times New Roman"/>
                        </a:rPr>
                        <a:t>Output</a:t>
                      </a:r>
                    </a:p>
                  </a:txBody>
                  <a:tcPr marL="45720" marR="45720" marT="9144" marB="9144" anchor="ctr"/>
                </a:tc>
                <a:extLst>
                  <a:ext uri="{0D108BD9-81ED-4DB2-BD59-A6C34878D82A}">
                    <a16:rowId xmlns:a16="http://schemas.microsoft.com/office/drawing/2014/main" val="10000"/>
                  </a:ext>
                </a:extLst>
              </a:tr>
              <a:tr h="475488">
                <a:tc>
                  <a:txBody>
                    <a:bodyPr/>
                    <a:lstStyle/>
                    <a:p>
                      <a:r>
                        <a:rPr sz="950" b="0">
                          <a:solidFill>
                            <a:srgbClr val="44546A"/>
                          </a:solidFill>
                          <a:latin typeface="Times New Roman"/>
                        </a:rPr>
                        <a:t>M1  Data Acquisition</a:t>
                      </a:r>
                    </a:p>
                  </a:txBody>
                  <a:tcPr marL="45720" marR="45720" marT="9144" marB="9144" anchor="ctr"/>
                </a:tc>
                <a:tc>
                  <a:txBody>
                    <a:bodyPr/>
                    <a:lstStyle/>
                    <a:p>
                      <a:r>
                        <a:rPr sz="950" b="0">
                          <a:solidFill>
                            <a:srgbClr val="44546A"/>
                          </a:solidFill>
                          <a:latin typeface="Times New Roman"/>
                        </a:rPr>
                        <a:t>IDA-LONI download helpers, credential handling, file-presence verification</a:t>
                      </a:r>
                    </a:p>
                  </a:txBody>
                  <a:tcPr marL="45720" marR="45720" marT="9144" marB="9144" anchor="ctr"/>
                </a:tc>
                <a:tc>
                  <a:txBody>
                    <a:bodyPr/>
                    <a:lstStyle/>
                    <a:p>
                      <a:r>
                        <a:rPr sz="950" b="0">
                          <a:solidFill>
                            <a:srgbClr val="44546A"/>
                          </a:solidFill>
                          <a:latin typeface="Times New Roman"/>
                        </a:rPr>
                        <a:t>scripts/download_ppmi_data.py, download_mri_data.py, verify_data.py</a:t>
                      </a:r>
                    </a:p>
                  </a:txBody>
                  <a:tcPr marL="45720" marR="45720" marT="9144" marB="9144" anchor="ctr"/>
                </a:tc>
                <a:tc>
                  <a:txBody>
                    <a:bodyPr/>
                    <a:lstStyle/>
                    <a:p>
                      <a:r>
                        <a:rPr sz="950" b="0">
                          <a:solidFill>
                            <a:srgbClr val="44546A"/>
                          </a:solidFill>
                          <a:latin typeface="Times New Roman"/>
                        </a:rPr>
                        <a:t>CSVs in data/raw/</a:t>
                      </a:r>
                    </a:p>
                  </a:txBody>
                  <a:tcPr marL="45720" marR="45720" marT="9144" marB="9144" anchor="ctr"/>
                </a:tc>
                <a:extLst>
                  <a:ext uri="{0D108BD9-81ED-4DB2-BD59-A6C34878D82A}">
                    <a16:rowId xmlns:a16="http://schemas.microsoft.com/office/drawing/2014/main" val="10001"/>
                  </a:ext>
                </a:extLst>
              </a:tr>
              <a:tr h="475488">
                <a:tc>
                  <a:txBody>
                    <a:bodyPr/>
                    <a:lstStyle/>
                    <a:p>
                      <a:r>
                        <a:rPr sz="950" b="0">
                          <a:solidFill>
                            <a:srgbClr val="44546A"/>
                          </a:solidFill>
                          <a:latin typeface="Times New Roman"/>
                        </a:rPr>
                        <a:t>M2  Modality Loaders</a:t>
                      </a:r>
                    </a:p>
                  </a:txBody>
                  <a:tcPr marL="45720" marR="45720" marT="9144" marB="9144" anchor="ctr"/>
                </a:tc>
                <a:tc>
                  <a:txBody>
                    <a:bodyPr/>
                    <a:lstStyle/>
                    <a:p>
                      <a:r>
                        <a:rPr sz="950" b="0">
                          <a:solidFill>
                            <a:srgbClr val="44546A"/>
                          </a:solidFill>
                          <a:latin typeface="Times New Roman"/>
                        </a:rPr>
                        <a:t>Per-modality parsing, visit filtering, feature engineering (SBR asymmetry, carrier encoding, ROI parcellation)</a:t>
                      </a:r>
                    </a:p>
                  </a:txBody>
                  <a:tcPr marL="45720" marR="45720" marT="9144" marB="9144" anchor="ctr"/>
                </a:tc>
                <a:tc>
                  <a:txBody>
                    <a:bodyPr/>
                    <a:lstStyle/>
                    <a:p>
                      <a:r>
                        <a:rPr sz="950" b="0">
                          <a:solidFill>
                            <a:srgbClr val="44546A"/>
                          </a:solidFill>
                          <a:latin typeface="Times New Roman"/>
                        </a:rPr>
                        <a:t>clinical_loader.py, pet_loader.py, genetic_loader.py, mri_pipeline.py</a:t>
                      </a:r>
                    </a:p>
                  </a:txBody>
                  <a:tcPr marL="45720" marR="45720" marT="9144" marB="9144" anchor="ctr"/>
                </a:tc>
                <a:tc>
                  <a:txBody>
                    <a:bodyPr/>
                    <a:lstStyle/>
                    <a:p>
                      <a:r>
                        <a:rPr sz="950" b="0">
                          <a:solidFill>
                            <a:srgbClr val="44546A"/>
                          </a:solidFill>
                          <a:latin typeface="Times New Roman"/>
                        </a:rPr>
                        <a:t>4 DataFrames indexed by PATNO</a:t>
                      </a:r>
                    </a:p>
                  </a:txBody>
                  <a:tcPr marL="45720" marR="45720" marT="9144" marB="9144" anchor="ctr"/>
                </a:tc>
                <a:extLst>
                  <a:ext uri="{0D108BD9-81ED-4DB2-BD59-A6C34878D82A}">
                    <a16:rowId xmlns:a16="http://schemas.microsoft.com/office/drawing/2014/main" val="10002"/>
                  </a:ext>
                </a:extLst>
              </a:tr>
              <a:tr h="475488">
                <a:tc>
                  <a:txBody>
                    <a:bodyPr/>
                    <a:lstStyle/>
                    <a:p>
                      <a:r>
                        <a:rPr sz="950" b="0">
                          <a:solidFill>
                            <a:srgbClr val="44546A"/>
                          </a:solidFill>
                          <a:latin typeface="Times New Roman"/>
                        </a:rPr>
                        <a:t>M3  Dataset Builder
      &amp; Preprocessor</a:t>
                      </a:r>
                    </a:p>
                  </a:txBody>
                  <a:tcPr marL="45720" marR="45720" marT="9144" marB="9144" anchor="ctr"/>
                </a:tc>
                <a:tc>
                  <a:txBody>
                    <a:bodyPr/>
                    <a:lstStyle/>
                    <a:p>
                      <a:r>
                        <a:rPr sz="950" b="0">
                          <a:solidFill>
                            <a:srgbClr val="44546A"/>
                          </a:solidFill>
                          <a:latin typeface="Times New Roman"/>
                        </a:rPr>
                        <a:t>Cross-modality alignment, label filtering, subject-level split, train-only impute/scale, missing-row contract</a:t>
                      </a:r>
                    </a:p>
                  </a:txBody>
                  <a:tcPr marL="45720" marR="45720" marT="9144" marB="9144" anchor="ctr"/>
                </a:tc>
                <a:tc>
                  <a:txBody>
                    <a:bodyPr/>
                    <a:lstStyle/>
                    <a:p>
                      <a:r>
                        <a:rPr sz="950" b="0">
                          <a:solidFill>
                            <a:srgbClr val="44546A"/>
                          </a:solidFill>
                          <a:latin typeface="Times New Roman"/>
                        </a:rPr>
                        <a:t>data_builder.py, preprocessing.py, dataset.py</a:t>
                      </a:r>
                    </a:p>
                  </a:txBody>
                  <a:tcPr marL="45720" marR="45720" marT="9144" marB="9144" anchor="ctr"/>
                </a:tc>
                <a:tc>
                  <a:txBody>
                    <a:bodyPr/>
                    <a:lstStyle/>
                    <a:p>
                      <a:r>
                        <a:rPr sz="950" b="0">
                          <a:solidFill>
                            <a:srgbClr val="44546A"/>
                          </a:solidFill>
                          <a:latin typeface="Times New Roman"/>
                        </a:rPr>
                        <a:t>Torch datasets + mask flags</a:t>
                      </a:r>
                    </a:p>
                  </a:txBody>
                  <a:tcPr marL="45720" marR="45720" marT="9144" marB="9144" anchor="ctr"/>
                </a:tc>
                <a:extLst>
                  <a:ext uri="{0D108BD9-81ED-4DB2-BD59-A6C34878D82A}">
                    <a16:rowId xmlns:a16="http://schemas.microsoft.com/office/drawing/2014/main" val="10003"/>
                  </a:ext>
                </a:extLst>
              </a:tr>
              <a:tr h="475488">
                <a:tc>
                  <a:txBody>
                    <a:bodyPr/>
                    <a:lstStyle/>
                    <a:p>
                      <a:r>
                        <a:rPr sz="950" b="0">
                          <a:solidFill>
                            <a:srgbClr val="44546A"/>
                          </a:solidFill>
                          <a:latin typeface="Times New Roman"/>
                        </a:rPr>
                        <a:t>M4  Model Core</a:t>
                      </a:r>
                    </a:p>
                  </a:txBody>
                  <a:tcPr marL="45720" marR="45720" marT="9144" marB="9144" anchor="ctr"/>
                </a:tc>
                <a:tc>
                  <a:txBody>
                    <a:bodyPr/>
                    <a:lstStyle/>
                    <a:p>
                      <a:r>
                        <a:rPr sz="950" b="0">
                          <a:solidFill>
                            <a:srgbClr val="44546A"/>
                          </a:solidFill>
                          <a:latin typeface="Times New Roman"/>
                        </a:rPr>
                        <a:t>Phenotype encoder, shared/private encoders, mask tokens, asymmetric cross-attention, HSIC loss, dual heads, MC dropout</a:t>
                      </a:r>
                    </a:p>
                  </a:txBody>
                  <a:tcPr marL="45720" marR="45720" marT="9144" marB="9144" anchor="ctr"/>
                </a:tc>
                <a:tc>
                  <a:txBody>
                    <a:bodyPr/>
                    <a:lstStyle/>
                    <a:p>
                      <a:r>
                        <a:rPr sz="950" b="0">
                          <a:solidFill>
                            <a:srgbClr val="44546A"/>
                          </a:solidFill>
                          <a:latin typeface="Times New Roman"/>
                        </a:rPr>
                        <a:t>models/fed_phenograft.py, attention.py, hsic.py</a:t>
                      </a:r>
                    </a:p>
                  </a:txBody>
                  <a:tcPr marL="45720" marR="45720" marT="9144" marB="9144" anchor="ctr"/>
                </a:tc>
                <a:tc>
                  <a:txBody>
                    <a:bodyPr/>
                    <a:lstStyle/>
                    <a:p>
                      <a:r>
                        <a:rPr sz="950" b="0">
                          <a:solidFill>
                            <a:srgbClr val="44546A"/>
                          </a:solidFill>
                          <a:latin typeface="Times New Roman"/>
                        </a:rPr>
                        <a:t>{pred, cls_logit, loss_hsic, attn_weights}</a:t>
                      </a:r>
                    </a:p>
                  </a:txBody>
                  <a:tcPr marL="45720" marR="45720" marT="9144" marB="9144" anchor="ctr"/>
                </a:tc>
                <a:extLst>
                  <a:ext uri="{0D108BD9-81ED-4DB2-BD59-A6C34878D82A}">
                    <a16:rowId xmlns:a16="http://schemas.microsoft.com/office/drawing/2014/main" val="10004"/>
                  </a:ext>
                </a:extLst>
              </a:tr>
              <a:tr h="475488">
                <a:tc>
                  <a:txBody>
                    <a:bodyPr/>
                    <a:lstStyle/>
                    <a:p>
                      <a:r>
                        <a:rPr sz="950" b="0">
                          <a:solidFill>
                            <a:srgbClr val="44546A"/>
                          </a:solidFill>
                          <a:latin typeface="Times New Roman"/>
                        </a:rPr>
                        <a:t>M5  Federated
      Orchestrator</a:t>
                      </a:r>
                    </a:p>
                  </a:txBody>
                  <a:tcPr marL="45720" marR="45720" marT="9144" marB="9144" anchor="ctr"/>
                </a:tc>
                <a:tc>
                  <a:txBody>
                    <a:bodyPr/>
                    <a:lstStyle/>
                    <a:p>
                      <a:r>
                        <a:rPr sz="950" b="0">
                          <a:solidFill>
                            <a:srgbClr val="44546A"/>
                          </a:solidFill>
                          <a:latin typeface="Times New Roman"/>
                        </a:rPr>
                        <a:t>Client partitioning (IID/Dirichlet/site), local AdamW updates with clipping, weighted aggregation, early stopping</a:t>
                      </a:r>
                    </a:p>
                  </a:txBody>
                  <a:tcPr marL="45720" marR="45720" marT="9144" marB="9144" anchor="ctr"/>
                </a:tc>
                <a:tc>
                  <a:txBody>
                    <a:bodyPr/>
                    <a:lstStyle/>
                    <a:p>
                      <a:r>
                        <a:rPr sz="950" b="0">
                          <a:solidFill>
                            <a:srgbClr val="44546A"/>
                          </a:solidFill>
                          <a:latin typeface="Times New Roman"/>
                        </a:rPr>
                        <a:t>federated/fedavg_orchestrator.py</a:t>
                      </a:r>
                    </a:p>
                  </a:txBody>
                  <a:tcPr marL="45720" marR="45720" marT="9144" marB="9144" anchor="ctr"/>
                </a:tc>
                <a:tc>
                  <a:txBody>
                    <a:bodyPr/>
                    <a:lstStyle/>
                    <a:p>
                      <a:r>
                        <a:rPr sz="950" b="0">
                          <a:solidFill>
                            <a:srgbClr val="44546A"/>
                          </a:solidFill>
                          <a:latin typeface="Times New Roman"/>
                        </a:rPr>
                        <a:t>Global model + per-round history</a:t>
                      </a:r>
                    </a:p>
                  </a:txBody>
                  <a:tcPr marL="45720" marR="45720" marT="9144" marB="9144" anchor="ctr"/>
                </a:tc>
                <a:extLst>
                  <a:ext uri="{0D108BD9-81ED-4DB2-BD59-A6C34878D82A}">
                    <a16:rowId xmlns:a16="http://schemas.microsoft.com/office/drawing/2014/main" val="10005"/>
                  </a:ext>
                </a:extLst>
              </a:tr>
              <a:tr h="475488">
                <a:tc>
                  <a:txBody>
                    <a:bodyPr/>
                    <a:lstStyle/>
                    <a:p>
                      <a:r>
                        <a:rPr sz="950" b="0">
                          <a:solidFill>
                            <a:srgbClr val="44546A"/>
                          </a:solidFill>
                          <a:latin typeface="Times New Roman"/>
                        </a:rPr>
                        <a:t>M6  Baseline
      Benchmark</a:t>
                      </a:r>
                    </a:p>
                  </a:txBody>
                  <a:tcPr marL="45720" marR="45720" marT="9144" marB="9144" anchor="ctr"/>
                </a:tc>
                <a:tc>
                  <a:txBody>
                    <a:bodyPr/>
                    <a:lstStyle/>
                    <a:p>
                      <a:r>
                        <a:rPr sz="950" b="0">
                          <a:solidFill>
                            <a:srgbClr val="44546A"/>
                          </a:solidFill>
                          <a:latin typeface="Times New Roman"/>
                        </a:rPr>
                        <a:t>12 regularised classical models, per-fold Pipeline(impute→scale→model), 5-fold CV then one-shot test scoring</a:t>
                      </a:r>
                    </a:p>
                  </a:txBody>
                  <a:tcPr marL="45720" marR="45720" marT="9144" marB="9144" anchor="ctr"/>
                </a:tc>
                <a:tc>
                  <a:txBody>
                    <a:bodyPr/>
                    <a:lstStyle/>
                    <a:p>
                      <a:r>
                        <a:rPr sz="950" b="0">
                          <a:solidFill>
                            <a:srgbClr val="44546A"/>
                          </a:solidFill>
                          <a:latin typeface="Times New Roman"/>
                        </a:rPr>
                        <a:t>baselines/models.py, runner.py</a:t>
                      </a:r>
                    </a:p>
                  </a:txBody>
                  <a:tcPr marL="45720" marR="45720" marT="9144" marB="9144" anchor="ctr"/>
                </a:tc>
                <a:tc>
                  <a:txBody>
                    <a:bodyPr/>
                    <a:lstStyle/>
                    <a:p>
                      <a:r>
                        <a:rPr sz="950" b="0">
                          <a:solidFill>
                            <a:srgbClr val="44546A"/>
                          </a:solidFill>
                          <a:latin typeface="Times New Roman"/>
                        </a:rPr>
                        <a:t>CV + test metrics, stored predictions</a:t>
                      </a:r>
                    </a:p>
                  </a:txBody>
                  <a:tcPr marL="45720" marR="45720" marT="9144" marB="9144" anchor="ctr"/>
                </a:tc>
                <a:extLst>
                  <a:ext uri="{0D108BD9-81ED-4DB2-BD59-A6C34878D82A}">
                    <a16:rowId xmlns:a16="http://schemas.microsoft.com/office/drawing/2014/main" val="10006"/>
                  </a:ext>
                </a:extLst>
              </a:tr>
              <a:tr h="475488">
                <a:tc>
                  <a:txBody>
                    <a:bodyPr/>
                    <a:lstStyle/>
                    <a:p>
                      <a:r>
                        <a:rPr sz="950" b="0">
                          <a:solidFill>
                            <a:srgbClr val="44546A"/>
                          </a:solidFill>
                          <a:latin typeface="Times New Roman"/>
                        </a:rPr>
                        <a:t>M7  Evaluation,
      XAI &amp; Reporting</a:t>
                      </a:r>
                    </a:p>
                  </a:txBody>
                  <a:tcPr marL="45720" marR="45720" marT="9144" marB="9144" anchor="ctr"/>
                </a:tc>
                <a:tc>
                  <a:txBody>
                    <a:bodyPr/>
                    <a:lstStyle/>
                    <a:p>
                      <a:r>
                        <a:rPr sz="950" b="0">
                          <a:solidFill>
                            <a:srgbClr val="44546A"/>
                          </a:solidFill>
                          <a:latin typeface="Times New Roman"/>
                        </a:rPr>
                        <a:t>CCC/RMSE/MAE/R²/r + AUC/Acc/F1, bootstrap CIs, paired test, ablation suite, 4 XAI analyses, figures and report</a:t>
                      </a:r>
                    </a:p>
                  </a:txBody>
                  <a:tcPr marL="45720" marR="45720" marT="9144" marB="9144" anchor="ctr"/>
                </a:tc>
                <a:tc>
                  <a:txBody>
                    <a:bodyPr/>
                    <a:lstStyle/>
                    <a:p>
                      <a:r>
                        <a:rPr sz="950" b="0">
                          <a:solidFill>
                            <a:srgbClr val="44546A"/>
                          </a:solidFill>
                          <a:latin typeface="Times New Roman"/>
                        </a:rPr>
                        <a:t>metrics.py, stats.py, ablation.py, xai.py, results_report.py</a:t>
                      </a:r>
                    </a:p>
                  </a:txBody>
                  <a:tcPr marL="45720" marR="45720" marT="9144" marB="9144" anchor="ctr"/>
                </a:tc>
                <a:tc>
                  <a:txBody>
                    <a:bodyPr/>
                    <a:lstStyle/>
                    <a:p>
                      <a:r>
                        <a:rPr sz="950" b="0">
                          <a:solidFill>
                            <a:srgbClr val="44546A"/>
                          </a:solidFill>
                          <a:latin typeface="Times New Roman"/>
                        </a:rPr>
                        <a:t>final_metrics.json, 9 PNGs, RESULTS.md</a:t>
                      </a:r>
                    </a:p>
                  </a:txBody>
                  <a:tcPr marL="45720" marR="45720" marT="9144" marB="9144" anchor="ct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7998703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556E8-0003-02C5-D37D-A5CC4CE44D5B}"/>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E386D544-A80A-B599-44C7-B40BA6ECC63C}"/>
              </a:ext>
            </a:extLst>
          </p:cNvPr>
          <p:cNvSpPr txBox="1">
            <a:spLocks noGrp="1"/>
          </p:cNvSpPr>
          <p:nvPr>
            <p:ph type="title"/>
          </p:nvPr>
        </p:nvSpPr>
        <p:spPr>
          <a:xfrm>
            <a:off x="231648" y="410856"/>
            <a:ext cx="10515600" cy="576696"/>
          </a:xfrm>
          <a:prstGeom prst="rect">
            <a:avLst/>
          </a:prstGeom>
        </p:spPr>
        <p:txBody>
          <a:bodyPr vert="horz" wrap="square" lIns="0" tIns="113919" rIns="0" bIns="0" rtlCol="0">
            <a:spAutoFit/>
          </a:bodyPr>
          <a:lstStyle/>
          <a:p>
            <a:pPr marL="486409">
              <a:lnSpc>
                <a:spcPct val="100000"/>
              </a:lnSpc>
              <a:spcBef>
                <a:spcPts val="130"/>
              </a:spcBef>
            </a:pPr>
            <a:r>
              <a:rPr sz="3000" b="1" dirty="0">
                <a:latin typeface="Times New Roman"/>
              </a:rPr>
              <a:t>Experiments and Results  (1/3)  —  Setup &amp; Held-out Performance</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5D376B32-FA12-4961-0DBF-EE57A7705BF9}"/>
              </a:ext>
            </a:extLst>
          </p:cNvPr>
          <p:cNvSpPr>
            <a:spLocks noGrp="1"/>
          </p:cNvSpPr>
          <p:nvPr>
            <p:ph type="dt" sz="half" idx="10"/>
          </p:nvPr>
        </p:nvSpPr>
        <p:spPr/>
        <p:txBody>
          <a:bodyPr/>
          <a:lstStyle/>
          <a:p>
            <a:r>
              <a:rPr lang="en-IN" dirty="0"/>
              <a:t>09-09-2026</a:t>
            </a:r>
          </a:p>
          <a:p>
            <a:endParaRPr lang="en-IN"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8B0EF323-27AB-5372-4287-A24CA541146A}"/>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76AAAC16-1233-230F-5D3B-645E6B2832A4}"/>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13</a:t>
            </a:fld>
            <a:endParaRPr lang="en-IN" dirty="0">
              <a:latin typeface="Times New Roman" panose="02020603050405020304" pitchFamily="18" charset="0"/>
              <a:cs typeface="Times New Roman" panose="02020603050405020304" pitchFamily="18" charset="0"/>
            </a:endParaRPr>
          </a:p>
        </p:txBody>
      </p:sp>
      <p:sp>
        <p:nvSpPr>
          <p:cNvPr id="7" name="TextBox 6"/>
          <p:cNvSpPr txBox="1"/>
          <p:nvPr/>
        </p:nvSpPr>
        <p:spPr>
          <a:xfrm>
            <a:off x="457200" y="1353312"/>
            <a:ext cx="6446520" cy="1051560"/>
          </a:xfrm>
          <a:prstGeom prst="rect">
            <a:avLst/>
          </a:prstGeom>
          <a:noFill/>
        </p:spPr>
        <p:txBody>
          <a:bodyPr wrap="square" lIns="36576" tIns="18288" rIns="36576" bIns="18288">
            <a:spAutoFit/>
          </a:bodyPr>
          <a:lstStyle/>
          <a:p>
            <a:pPr algn="l">
              <a:spcAft>
                <a:spcPts val="300"/>
              </a:spcAft>
            </a:pPr>
            <a:r>
              <a:rPr sz="1050" b="1" dirty="0">
                <a:solidFill>
                  <a:srgbClr val="44546A"/>
                </a:solidFill>
                <a:latin typeface="Times New Roman"/>
              </a:rPr>
              <a:t>Experimental setup</a:t>
            </a:r>
          </a:p>
          <a:p>
            <a:pPr algn="l">
              <a:spcAft>
                <a:spcPts val="300"/>
              </a:spcAft>
            </a:pPr>
            <a:r>
              <a:rPr sz="1050" b="0" dirty="0">
                <a:solidFill>
                  <a:srgbClr val="44546A"/>
                </a:solidFill>
                <a:latin typeface="Times New Roman"/>
              </a:rPr>
              <a:t>Dataset: PPMI — 3,472 subjects with both baseline and Year-2 (V04) MDS-UPDRS-III; 126 raw features (7 clinical + 100 MRI + 10 PET + 9 genetic).</a:t>
            </a:r>
          </a:p>
          <a:p>
            <a:pPr algn="l">
              <a:spcAft>
                <a:spcPts val="300"/>
              </a:spcAft>
            </a:pPr>
            <a:r>
              <a:rPr sz="1050" b="0" dirty="0">
                <a:solidFill>
                  <a:srgbClr val="44546A"/>
                </a:solidFill>
                <a:latin typeface="Times New Roman"/>
              </a:rPr>
              <a:t>Protocol: subject-level 70/15/15 split (2,430 / 521 / 521), stratified on diagnosis · 4 Dirichlet(α = 0.5) non-IID clients · 30 rounds max, patience 5 on validation CCC · 3 independent seeds · 1,000-resample bootstrap · test set scored EXACTLY ONCE.</a:t>
            </a:r>
          </a:p>
        </p:txBody>
      </p:sp>
      <p:graphicFrame>
        <p:nvGraphicFramePr>
          <p:cNvPr id="8" name="Table 7"/>
          <p:cNvGraphicFramePr>
            <a:graphicFrameLocks noGrp="1"/>
          </p:cNvGraphicFramePr>
          <p:nvPr>
            <p:extLst>
              <p:ext uri="{D42A27DB-BD31-4B8C-83A1-F6EECF244321}">
                <p14:modId xmlns:p14="http://schemas.microsoft.com/office/powerpoint/2010/main" val="2203632069"/>
              </p:ext>
            </p:extLst>
          </p:nvPr>
        </p:nvGraphicFramePr>
        <p:xfrm>
          <a:off x="457200" y="2498892"/>
          <a:ext cx="6446520" cy="2048256"/>
        </p:xfrm>
        <a:graphic>
          <a:graphicData uri="http://schemas.openxmlformats.org/drawingml/2006/table">
            <a:tbl>
              <a:tblPr firstRow="1" bandRow="1">
                <a:tableStyleId>{5C22544A-7EE6-4342-B048-85BDC9FD1C3A}</a:tableStyleId>
              </a:tblPr>
              <a:tblGrid>
                <a:gridCol w="21488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1508760">
                  <a:extLst>
                    <a:ext uri="{9D8B030D-6E8A-4147-A177-3AD203B41FA5}">
                      <a16:colId xmlns:a16="http://schemas.microsoft.com/office/drawing/2014/main" val="20003"/>
                    </a:ext>
                  </a:extLst>
                </a:gridCol>
              </a:tblGrid>
              <a:tr h="256032">
                <a:tc>
                  <a:txBody>
                    <a:bodyPr/>
                    <a:lstStyle/>
                    <a:p>
                      <a:r>
                        <a:rPr sz="1050" b="1">
                          <a:solidFill>
                            <a:srgbClr val="FFFFFF"/>
                          </a:solidFill>
                          <a:latin typeface="Times New Roman"/>
                        </a:rPr>
                        <a:t>Task</a:t>
                      </a:r>
                    </a:p>
                  </a:txBody>
                  <a:tcPr marL="45720" marR="45720" marT="9144" marB="9144" anchor="ctr"/>
                </a:tc>
                <a:tc>
                  <a:txBody>
                    <a:bodyPr/>
                    <a:lstStyle/>
                    <a:p>
                      <a:r>
                        <a:rPr sz="1050" b="1">
                          <a:solidFill>
                            <a:srgbClr val="FFFFFF"/>
                          </a:solidFill>
                          <a:latin typeface="Times New Roman"/>
                        </a:rPr>
                        <a:t>Metric</a:t>
                      </a:r>
                    </a:p>
                  </a:txBody>
                  <a:tcPr marL="45720" marR="45720" marT="9144" marB="9144" anchor="ctr"/>
                </a:tc>
                <a:tc>
                  <a:txBody>
                    <a:bodyPr/>
                    <a:lstStyle/>
                    <a:p>
                      <a:r>
                        <a:rPr sz="1050" b="1">
                          <a:solidFill>
                            <a:srgbClr val="FFFFFF"/>
                          </a:solidFill>
                          <a:latin typeface="Times New Roman"/>
                        </a:rPr>
                        <a:t>Test value</a:t>
                      </a:r>
                    </a:p>
                  </a:txBody>
                  <a:tcPr marL="45720" marR="45720" marT="9144" marB="9144" anchor="ctr"/>
                </a:tc>
                <a:tc>
                  <a:txBody>
                    <a:bodyPr/>
                    <a:lstStyle/>
                    <a:p>
                      <a:r>
                        <a:rPr sz="1050" b="1">
                          <a:solidFill>
                            <a:srgbClr val="FFFFFF"/>
                          </a:solidFill>
                          <a:latin typeface="Times New Roman"/>
                        </a:rPr>
                        <a:t>95% CI</a:t>
                      </a:r>
                    </a:p>
                  </a:txBody>
                  <a:tcPr marL="45720" marR="45720" marT="9144" marB="9144" anchor="ctr"/>
                </a:tc>
                <a:extLst>
                  <a:ext uri="{0D108BD9-81ED-4DB2-BD59-A6C34878D82A}">
                    <a16:rowId xmlns:a16="http://schemas.microsoft.com/office/drawing/2014/main" val="10000"/>
                  </a:ext>
                </a:extLst>
              </a:tr>
              <a:tr h="256032">
                <a:tc>
                  <a:txBody>
                    <a:bodyPr/>
                    <a:lstStyle/>
                    <a:p>
                      <a:r>
                        <a:rPr sz="1000" b="0">
                          <a:solidFill>
                            <a:srgbClr val="44546A"/>
                          </a:solidFill>
                          <a:latin typeface="Times New Roman"/>
                        </a:rPr>
                        <a:t>Progression (Δ UPDRS-III)</a:t>
                      </a:r>
                    </a:p>
                  </a:txBody>
                  <a:tcPr marL="45720" marR="45720" marT="9144" marB="9144" anchor="ctr"/>
                </a:tc>
                <a:tc>
                  <a:txBody>
                    <a:bodyPr/>
                    <a:lstStyle/>
                    <a:p>
                      <a:r>
                        <a:rPr sz="1000" b="0">
                          <a:solidFill>
                            <a:srgbClr val="44546A"/>
                          </a:solidFill>
                          <a:latin typeface="Times New Roman"/>
                        </a:rPr>
                        <a:t>CCC</a:t>
                      </a:r>
                    </a:p>
                  </a:txBody>
                  <a:tcPr marL="45720" marR="45720" marT="9144" marB="9144" anchor="ctr"/>
                </a:tc>
                <a:tc>
                  <a:txBody>
                    <a:bodyPr/>
                    <a:lstStyle/>
                    <a:p>
                      <a:r>
                        <a:rPr sz="1000" b="0">
                          <a:solidFill>
                            <a:srgbClr val="44546A"/>
                          </a:solidFill>
                          <a:latin typeface="Times New Roman"/>
                        </a:rPr>
                        <a:t>0.1469</a:t>
                      </a:r>
                    </a:p>
                  </a:txBody>
                  <a:tcPr marL="45720" marR="45720" marT="9144" marB="9144" anchor="ctr"/>
                </a:tc>
                <a:tc>
                  <a:txBody>
                    <a:bodyPr/>
                    <a:lstStyle/>
                    <a:p>
                      <a:r>
                        <a:rPr sz="1000" b="0">
                          <a:solidFill>
                            <a:srgbClr val="44546A"/>
                          </a:solidFill>
                          <a:latin typeface="Times New Roman"/>
                        </a:rPr>
                        <a:t>0.0406 – 0.2439</a:t>
                      </a:r>
                    </a:p>
                  </a:txBody>
                  <a:tcPr marL="45720" marR="45720" marT="9144" marB="9144" anchor="ctr"/>
                </a:tc>
                <a:extLst>
                  <a:ext uri="{0D108BD9-81ED-4DB2-BD59-A6C34878D82A}">
                    <a16:rowId xmlns:a16="http://schemas.microsoft.com/office/drawing/2014/main" val="10001"/>
                  </a:ext>
                </a:extLst>
              </a:tr>
              <a:tr h="256032">
                <a:tc>
                  <a:txBody>
                    <a:bodyPr/>
                    <a:lstStyle/>
                    <a:p>
                      <a:r>
                        <a:rPr sz="1000" b="0">
                          <a:solidFill>
                            <a:srgbClr val="44546A"/>
                          </a:solidFill>
                          <a:latin typeface="Times New Roman"/>
                        </a:rPr>
                        <a:t>Progression (Δ UPDRS-III)</a:t>
                      </a:r>
                    </a:p>
                  </a:txBody>
                  <a:tcPr marL="45720" marR="45720" marT="9144" marB="9144" anchor="ctr"/>
                </a:tc>
                <a:tc>
                  <a:txBody>
                    <a:bodyPr/>
                    <a:lstStyle/>
                    <a:p>
                      <a:r>
                        <a:rPr sz="1000" b="0">
                          <a:solidFill>
                            <a:srgbClr val="44546A"/>
                          </a:solidFill>
                          <a:latin typeface="Times New Roman"/>
                        </a:rPr>
                        <a:t>RMSE (points)</a:t>
                      </a:r>
                    </a:p>
                  </a:txBody>
                  <a:tcPr marL="45720" marR="45720" marT="9144" marB="9144" anchor="ctr"/>
                </a:tc>
                <a:tc>
                  <a:txBody>
                    <a:bodyPr/>
                    <a:lstStyle/>
                    <a:p>
                      <a:r>
                        <a:rPr sz="1000" b="0">
                          <a:solidFill>
                            <a:srgbClr val="44546A"/>
                          </a:solidFill>
                          <a:latin typeface="Times New Roman"/>
                        </a:rPr>
                        <a:t>7.64</a:t>
                      </a:r>
                    </a:p>
                  </a:txBody>
                  <a:tcPr marL="45720" marR="45720" marT="9144" marB="9144" anchor="ctr"/>
                </a:tc>
                <a:tc>
                  <a:txBody>
                    <a:bodyPr/>
                    <a:lstStyle/>
                    <a:p>
                      <a:r>
                        <a:rPr sz="1000" b="0">
                          <a:solidFill>
                            <a:srgbClr val="44546A"/>
                          </a:solidFill>
                          <a:latin typeface="Times New Roman"/>
                        </a:rPr>
                        <a:t>6.93 – 8.46</a:t>
                      </a:r>
                    </a:p>
                  </a:txBody>
                  <a:tcPr marL="45720" marR="45720" marT="9144" marB="9144" anchor="ctr"/>
                </a:tc>
                <a:extLst>
                  <a:ext uri="{0D108BD9-81ED-4DB2-BD59-A6C34878D82A}">
                    <a16:rowId xmlns:a16="http://schemas.microsoft.com/office/drawing/2014/main" val="10002"/>
                  </a:ext>
                </a:extLst>
              </a:tr>
              <a:tr h="256032">
                <a:tc>
                  <a:txBody>
                    <a:bodyPr/>
                    <a:lstStyle/>
                    <a:p>
                      <a:r>
                        <a:rPr sz="1000" b="0">
                          <a:solidFill>
                            <a:srgbClr val="44546A"/>
                          </a:solidFill>
                          <a:latin typeface="Times New Roman"/>
                        </a:rPr>
                        <a:t>Progression (Δ UPDRS-III)</a:t>
                      </a:r>
                    </a:p>
                  </a:txBody>
                  <a:tcPr marL="45720" marR="45720" marT="9144" marB="9144" anchor="ctr"/>
                </a:tc>
                <a:tc>
                  <a:txBody>
                    <a:bodyPr/>
                    <a:lstStyle/>
                    <a:p>
                      <a:r>
                        <a:rPr sz="1000" b="0">
                          <a:solidFill>
                            <a:srgbClr val="44546A"/>
                          </a:solidFill>
                          <a:latin typeface="Times New Roman"/>
                        </a:rPr>
                        <a:t>MAE (points)</a:t>
                      </a:r>
                    </a:p>
                  </a:txBody>
                  <a:tcPr marL="45720" marR="45720" marT="9144" marB="9144" anchor="ctr"/>
                </a:tc>
                <a:tc>
                  <a:txBody>
                    <a:bodyPr/>
                    <a:lstStyle/>
                    <a:p>
                      <a:r>
                        <a:rPr sz="1000" b="0">
                          <a:solidFill>
                            <a:srgbClr val="44546A"/>
                          </a:solidFill>
                          <a:latin typeface="Times New Roman"/>
                        </a:rPr>
                        <a:t>5.14</a:t>
                      </a:r>
                    </a:p>
                  </a:txBody>
                  <a:tcPr marL="45720" marR="45720" marT="9144" marB="9144" anchor="ctr"/>
                </a:tc>
                <a:tc>
                  <a:txBody>
                    <a:bodyPr/>
                    <a:lstStyle/>
                    <a:p>
                      <a:r>
                        <a:rPr sz="1000" b="0">
                          <a:solidFill>
                            <a:srgbClr val="44546A"/>
                          </a:solidFill>
                          <a:latin typeface="Times New Roman"/>
                        </a:rPr>
                        <a:t>4.67 – 5.69</a:t>
                      </a:r>
                    </a:p>
                  </a:txBody>
                  <a:tcPr marL="45720" marR="45720" marT="9144" marB="9144" anchor="ctr"/>
                </a:tc>
                <a:extLst>
                  <a:ext uri="{0D108BD9-81ED-4DB2-BD59-A6C34878D82A}">
                    <a16:rowId xmlns:a16="http://schemas.microsoft.com/office/drawing/2014/main" val="10003"/>
                  </a:ext>
                </a:extLst>
              </a:tr>
              <a:tr h="256032">
                <a:tc>
                  <a:txBody>
                    <a:bodyPr/>
                    <a:lstStyle/>
                    <a:p>
                      <a:r>
                        <a:rPr sz="1000" b="0">
                          <a:solidFill>
                            <a:srgbClr val="44546A"/>
                          </a:solidFill>
                          <a:latin typeface="Times New Roman"/>
                        </a:rPr>
                        <a:t>Progression (Δ UPDRS-III)</a:t>
                      </a:r>
                    </a:p>
                  </a:txBody>
                  <a:tcPr marL="45720" marR="45720" marT="9144" marB="9144" anchor="ctr"/>
                </a:tc>
                <a:tc>
                  <a:txBody>
                    <a:bodyPr/>
                    <a:lstStyle/>
                    <a:p>
                      <a:r>
                        <a:rPr sz="1000" b="0">
                          <a:solidFill>
                            <a:srgbClr val="44546A"/>
                          </a:solidFill>
                          <a:latin typeface="Times New Roman"/>
                        </a:rPr>
                        <a:t>Pearson r</a:t>
                      </a:r>
                    </a:p>
                  </a:txBody>
                  <a:tcPr marL="45720" marR="45720" marT="9144" marB="9144" anchor="ctr"/>
                </a:tc>
                <a:tc>
                  <a:txBody>
                    <a:bodyPr/>
                    <a:lstStyle/>
                    <a:p>
                      <a:r>
                        <a:rPr sz="1000" b="0">
                          <a:solidFill>
                            <a:srgbClr val="44546A"/>
                          </a:solidFill>
                          <a:latin typeface="Times New Roman"/>
                        </a:rPr>
                        <a:t>0.1769</a:t>
                      </a:r>
                    </a:p>
                  </a:txBody>
                  <a:tcPr marL="45720" marR="45720" marT="9144" marB="9144" anchor="ctr"/>
                </a:tc>
                <a:tc>
                  <a:txBody>
                    <a:bodyPr/>
                    <a:lstStyle/>
                    <a:p>
                      <a:r>
                        <a:rPr sz="1000" b="0">
                          <a:solidFill>
                            <a:srgbClr val="44546A"/>
                          </a:solidFill>
                          <a:latin typeface="Times New Roman"/>
                        </a:rPr>
                        <a:t>—</a:t>
                      </a:r>
                    </a:p>
                  </a:txBody>
                  <a:tcPr marL="45720" marR="45720" marT="9144" marB="9144" anchor="ctr"/>
                </a:tc>
                <a:extLst>
                  <a:ext uri="{0D108BD9-81ED-4DB2-BD59-A6C34878D82A}">
                    <a16:rowId xmlns:a16="http://schemas.microsoft.com/office/drawing/2014/main" val="10004"/>
                  </a:ext>
                </a:extLst>
              </a:tr>
              <a:tr h="256032">
                <a:tc>
                  <a:txBody>
                    <a:bodyPr/>
                    <a:lstStyle/>
                    <a:p>
                      <a:r>
                        <a:rPr sz="1000" b="0">
                          <a:solidFill>
                            <a:srgbClr val="44546A"/>
                          </a:solidFill>
                          <a:latin typeface="Times New Roman"/>
                        </a:rPr>
                        <a:t>Diagnosis (PD vs HC)</a:t>
                      </a:r>
                    </a:p>
                  </a:txBody>
                  <a:tcPr marL="45720" marR="45720" marT="9144" marB="9144" anchor="ctr"/>
                </a:tc>
                <a:tc>
                  <a:txBody>
                    <a:bodyPr/>
                    <a:lstStyle/>
                    <a:p>
                      <a:r>
                        <a:rPr sz="1000" b="0">
                          <a:solidFill>
                            <a:srgbClr val="44546A"/>
                          </a:solidFill>
                          <a:latin typeface="Times New Roman"/>
                        </a:rPr>
                        <a:t>ROC-AUC</a:t>
                      </a:r>
                    </a:p>
                  </a:txBody>
                  <a:tcPr marL="45720" marR="45720" marT="9144" marB="9144" anchor="ctr"/>
                </a:tc>
                <a:tc>
                  <a:txBody>
                    <a:bodyPr/>
                    <a:lstStyle/>
                    <a:p>
                      <a:r>
                        <a:rPr sz="1000" b="0" dirty="0">
                          <a:solidFill>
                            <a:srgbClr val="44546A"/>
                          </a:solidFill>
                          <a:latin typeface="Times New Roman"/>
                        </a:rPr>
                        <a:t>0.9816</a:t>
                      </a:r>
                    </a:p>
                  </a:txBody>
                  <a:tcPr marL="45720" marR="45720" marT="9144" marB="9144" anchor="ctr"/>
                </a:tc>
                <a:tc>
                  <a:txBody>
                    <a:bodyPr/>
                    <a:lstStyle/>
                    <a:p>
                      <a:r>
                        <a:rPr sz="1000" b="0">
                          <a:solidFill>
                            <a:srgbClr val="44546A"/>
                          </a:solidFill>
                          <a:latin typeface="Times New Roman"/>
                        </a:rPr>
                        <a:t>—</a:t>
                      </a:r>
                    </a:p>
                  </a:txBody>
                  <a:tcPr marL="45720" marR="45720" marT="9144" marB="9144" anchor="ctr"/>
                </a:tc>
                <a:extLst>
                  <a:ext uri="{0D108BD9-81ED-4DB2-BD59-A6C34878D82A}">
                    <a16:rowId xmlns:a16="http://schemas.microsoft.com/office/drawing/2014/main" val="10005"/>
                  </a:ext>
                </a:extLst>
              </a:tr>
              <a:tr h="256032">
                <a:tc>
                  <a:txBody>
                    <a:bodyPr/>
                    <a:lstStyle/>
                    <a:p>
                      <a:r>
                        <a:rPr sz="1000" b="0">
                          <a:solidFill>
                            <a:srgbClr val="44546A"/>
                          </a:solidFill>
                          <a:latin typeface="Times New Roman"/>
                        </a:rPr>
                        <a:t>Diagnosis (PD vs HC)</a:t>
                      </a:r>
                    </a:p>
                  </a:txBody>
                  <a:tcPr marL="45720" marR="45720" marT="9144" marB="9144" anchor="ctr"/>
                </a:tc>
                <a:tc>
                  <a:txBody>
                    <a:bodyPr/>
                    <a:lstStyle/>
                    <a:p>
                      <a:r>
                        <a:rPr sz="1000" b="0">
                          <a:solidFill>
                            <a:srgbClr val="44546A"/>
                          </a:solidFill>
                          <a:latin typeface="Times New Roman"/>
                        </a:rPr>
                        <a:t>Accuracy</a:t>
                      </a:r>
                    </a:p>
                  </a:txBody>
                  <a:tcPr marL="45720" marR="45720" marT="9144" marB="9144" anchor="ctr"/>
                </a:tc>
                <a:tc>
                  <a:txBody>
                    <a:bodyPr/>
                    <a:lstStyle/>
                    <a:p>
                      <a:r>
                        <a:rPr sz="1000" b="0" dirty="0">
                          <a:solidFill>
                            <a:srgbClr val="44546A"/>
                          </a:solidFill>
                          <a:latin typeface="Times New Roman"/>
                        </a:rPr>
                        <a:t>0.9367</a:t>
                      </a:r>
                    </a:p>
                  </a:txBody>
                  <a:tcPr marL="45720" marR="45720" marT="9144" marB="9144" anchor="ctr"/>
                </a:tc>
                <a:tc>
                  <a:txBody>
                    <a:bodyPr/>
                    <a:lstStyle/>
                    <a:p>
                      <a:r>
                        <a:rPr sz="1000" b="0">
                          <a:solidFill>
                            <a:srgbClr val="44546A"/>
                          </a:solidFill>
                          <a:latin typeface="Times New Roman"/>
                        </a:rPr>
                        <a:t>—</a:t>
                      </a:r>
                    </a:p>
                  </a:txBody>
                  <a:tcPr marL="45720" marR="45720" marT="9144" marB="9144" anchor="ctr"/>
                </a:tc>
                <a:extLst>
                  <a:ext uri="{0D108BD9-81ED-4DB2-BD59-A6C34878D82A}">
                    <a16:rowId xmlns:a16="http://schemas.microsoft.com/office/drawing/2014/main" val="10006"/>
                  </a:ext>
                </a:extLst>
              </a:tr>
              <a:tr h="256032">
                <a:tc>
                  <a:txBody>
                    <a:bodyPr/>
                    <a:lstStyle/>
                    <a:p>
                      <a:r>
                        <a:rPr sz="1000" b="0">
                          <a:solidFill>
                            <a:srgbClr val="44546A"/>
                          </a:solidFill>
                          <a:latin typeface="Times New Roman"/>
                        </a:rPr>
                        <a:t>Diagnosis (PD vs HC)</a:t>
                      </a:r>
                    </a:p>
                  </a:txBody>
                  <a:tcPr marL="45720" marR="45720" marT="9144" marB="9144" anchor="ctr"/>
                </a:tc>
                <a:tc>
                  <a:txBody>
                    <a:bodyPr/>
                    <a:lstStyle/>
                    <a:p>
                      <a:r>
                        <a:rPr sz="1000" b="0">
                          <a:solidFill>
                            <a:srgbClr val="44546A"/>
                          </a:solidFill>
                          <a:latin typeface="Times New Roman"/>
                        </a:rPr>
                        <a:t>F1 score</a:t>
                      </a:r>
                    </a:p>
                  </a:txBody>
                  <a:tcPr marL="45720" marR="45720" marT="9144" marB="9144" anchor="ctr"/>
                </a:tc>
                <a:tc>
                  <a:txBody>
                    <a:bodyPr/>
                    <a:lstStyle/>
                    <a:p>
                      <a:r>
                        <a:rPr sz="1000" b="0">
                          <a:solidFill>
                            <a:srgbClr val="44546A"/>
                          </a:solidFill>
                          <a:latin typeface="Times New Roman"/>
                        </a:rPr>
                        <a:t>0.9115</a:t>
                      </a:r>
                    </a:p>
                  </a:txBody>
                  <a:tcPr marL="45720" marR="45720" marT="9144" marB="9144" anchor="ctr"/>
                </a:tc>
                <a:tc>
                  <a:txBody>
                    <a:bodyPr/>
                    <a:lstStyle/>
                    <a:p>
                      <a:r>
                        <a:rPr sz="1000" b="0" dirty="0">
                          <a:solidFill>
                            <a:srgbClr val="44546A"/>
                          </a:solidFill>
                          <a:latin typeface="Times New Roman"/>
                        </a:rPr>
                        <a:t>—</a:t>
                      </a:r>
                    </a:p>
                  </a:txBody>
                  <a:tcPr marL="45720" marR="45720" marT="9144" marB="9144" anchor="ctr"/>
                </a:tc>
                <a:extLst>
                  <a:ext uri="{0D108BD9-81ED-4DB2-BD59-A6C34878D82A}">
                    <a16:rowId xmlns:a16="http://schemas.microsoft.com/office/drawing/2014/main" val="10007"/>
                  </a:ext>
                </a:extLst>
              </a:tr>
            </a:tbl>
          </a:graphicData>
        </a:graphic>
      </p:graphicFrame>
      <p:sp>
        <p:nvSpPr>
          <p:cNvPr id="9" name="TextBox 8"/>
          <p:cNvSpPr txBox="1"/>
          <p:nvPr/>
        </p:nvSpPr>
        <p:spPr>
          <a:xfrm>
            <a:off x="457200" y="4773168"/>
            <a:ext cx="6446520" cy="1097280"/>
          </a:xfrm>
          <a:prstGeom prst="rect">
            <a:avLst/>
          </a:prstGeom>
          <a:noFill/>
        </p:spPr>
        <p:txBody>
          <a:bodyPr wrap="square" lIns="36576" tIns="18288" rIns="36576" bIns="18288">
            <a:spAutoFit/>
          </a:bodyPr>
          <a:lstStyle/>
          <a:p>
            <a:pPr algn="l">
              <a:spcAft>
                <a:spcPts val="300"/>
              </a:spcAft>
            </a:pPr>
            <a:r>
              <a:rPr sz="1000" b="1">
                <a:solidFill>
                  <a:srgbClr val="44546A"/>
                </a:solidFill>
                <a:latin typeface="Times New Roman"/>
              </a:rPr>
              <a:t>Generalization check</a:t>
            </a:r>
          </a:p>
          <a:p>
            <a:pPr algn="l">
              <a:spcAft>
                <a:spcPts val="300"/>
              </a:spcAft>
            </a:pPr>
            <a:r>
              <a:rPr sz="1000" b="0">
                <a:solidFill>
                  <a:srgbClr val="44546A"/>
                </a:solidFill>
                <a:latin typeface="Times New Roman"/>
              </a:rPr>
              <a:t>Train CCC 0.4982  vs  Val CCC 0.3591  —  gap +0.139, below the +0.15 overfitting alarm built into the pipeline.</a:t>
            </a:r>
          </a:p>
          <a:p>
            <a:pPr algn="l">
              <a:spcAft>
                <a:spcPts val="300"/>
              </a:spcAft>
            </a:pPr>
            <a:r>
              <a:rPr sz="1000" b="0">
                <a:solidFill>
                  <a:srgbClr val="44546A"/>
                </a:solidFill>
                <a:latin typeface="Times New Roman"/>
              </a:rPr>
              <a:t>Across 3 seeds: test CCC 0.157 ± 0.030, test AUC 0.978 ± 0.003 — the classification head is stable; the regression head is seed-sensitive.</a:t>
            </a:r>
          </a:p>
          <a:p>
            <a:pPr algn="l">
              <a:spcAft>
                <a:spcPts val="300"/>
              </a:spcAft>
            </a:pPr>
            <a:r>
              <a:rPr sz="1000" b="0">
                <a:solidFill>
                  <a:srgbClr val="44546A"/>
                </a:solidFill>
                <a:latin typeface="Times New Roman"/>
              </a:rPr>
              <a:t>Confusion matrix: TN 318 · FP 20 · FN 13 · TP 170  →  sensitivity 0.929, specificity 0.941 (majority-class accuracy would be 0.649).</a:t>
            </a:r>
          </a:p>
        </p:txBody>
      </p:sp>
      <p:pic>
        <p:nvPicPr>
          <p:cNvPr id="10" name="Picture 9" descr="confusion_matrix.png"/>
          <p:cNvPicPr>
            <a:picLocks noChangeAspect="1"/>
          </p:cNvPicPr>
          <p:nvPr/>
        </p:nvPicPr>
        <p:blipFill>
          <a:blip r:embed="rId2"/>
          <a:stretch>
            <a:fillRect/>
          </a:stretch>
        </p:blipFill>
        <p:spPr>
          <a:xfrm>
            <a:off x="8249920" y="1353312"/>
            <a:ext cx="2336800" cy="2103120"/>
          </a:xfrm>
          <a:prstGeom prst="rect">
            <a:avLst/>
          </a:prstGeom>
        </p:spPr>
      </p:pic>
      <p:sp>
        <p:nvSpPr>
          <p:cNvPr id="11" name="TextBox 10"/>
          <p:cNvSpPr txBox="1"/>
          <p:nvPr/>
        </p:nvSpPr>
        <p:spPr>
          <a:xfrm>
            <a:off x="7086600" y="3493008"/>
            <a:ext cx="4663440" cy="182880"/>
          </a:xfrm>
          <a:prstGeom prst="rect">
            <a:avLst/>
          </a:prstGeom>
          <a:noFill/>
        </p:spPr>
        <p:txBody>
          <a:bodyPr wrap="square" lIns="36576" tIns="18288" rIns="36576" bIns="18288">
            <a:spAutoFit/>
          </a:bodyPr>
          <a:lstStyle/>
          <a:p>
            <a:pPr algn="ctr">
              <a:spcAft>
                <a:spcPts val="400"/>
              </a:spcAft>
            </a:pPr>
            <a:r>
              <a:rPr sz="850" b="0">
                <a:solidFill>
                  <a:srgbClr val="7F7F7F"/>
                </a:solidFill>
                <a:latin typeface="Times New Roman"/>
              </a:rPr>
              <a:t>Fig. 1  PD vs HC confusion matrix (test, n = 521)</a:t>
            </a:r>
          </a:p>
        </p:txBody>
      </p:sp>
      <p:pic>
        <p:nvPicPr>
          <p:cNvPr id="12" name="Picture 11" descr="training_curve.png"/>
          <p:cNvPicPr>
            <a:picLocks noChangeAspect="1"/>
          </p:cNvPicPr>
          <p:nvPr/>
        </p:nvPicPr>
        <p:blipFill>
          <a:blip r:embed="rId3"/>
          <a:stretch>
            <a:fillRect/>
          </a:stretch>
        </p:blipFill>
        <p:spPr>
          <a:xfrm>
            <a:off x="7525512" y="3730752"/>
            <a:ext cx="3785615" cy="2103120"/>
          </a:xfrm>
          <a:prstGeom prst="rect">
            <a:avLst/>
          </a:prstGeom>
        </p:spPr>
      </p:pic>
      <p:sp>
        <p:nvSpPr>
          <p:cNvPr id="13" name="TextBox 12"/>
          <p:cNvSpPr txBox="1"/>
          <p:nvPr/>
        </p:nvSpPr>
        <p:spPr>
          <a:xfrm>
            <a:off x="7086600" y="5870448"/>
            <a:ext cx="4663440" cy="182880"/>
          </a:xfrm>
          <a:prstGeom prst="rect">
            <a:avLst/>
          </a:prstGeom>
          <a:noFill/>
        </p:spPr>
        <p:txBody>
          <a:bodyPr wrap="square" lIns="36576" tIns="18288" rIns="36576" bIns="18288">
            <a:spAutoFit/>
          </a:bodyPr>
          <a:lstStyle/>
          <a:p>
            <a:pPr algn="ctr">
              <a:spcAft>
                <a:spcPts val="400"/>
              </a:spcAft>
            </a:pPr>
            <a:r>
              <a:rPr sz="850" b="0">
                <a:solidFill>
                  <a:srgbClr val="7F7F7F"/>
                </a:solidFill>
                <a:latin typeface="Times New Roman"/>
              </a:rPr>
              <a:t>Fig. 2  Federated training with validation-based early stopping</a:t>
            </a:r>
          </a:p>
        </p:txBody>
      </p:sp>
    </p:spTree>
    <p:extLst>
      <p:ext uri="{BB962C8B-B14F-4D97-AF65-F5344CB8AC3E}">
        <p14:creationId xmlns:p14="http://schemas.microsoft.com/office/powerpoint/2010/main" val="36661888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E386D544-A80A-B599-44C7-B40BA6ECC63C}"/>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sz="3000" b="1">
                <a:latin typeface="Times New Roman"/>
              </a:rPr>
              <a:t>Experiments and Results  (2/3)  —  Baseline Comparison</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5D376B32-FA12-4961-0DBF-EE57A7705BF9}"/>
              </a:ext>
            </a:extLst>
          </p:cNvPr>
          <p:cNvSpPr>
            <a:spLocks noGrp="1"/>
          </p:cNvSpPr>
          <p:nvPr>
            <p:ph type="dt" sz="half" idx="10"/>
          </p:nvPr>
        </p:nvSpPr>
        <p:spPr/>
        <p:txBody>
          <a:bodyPr/>
          <a:lstStyle/>
          <a:p>
            <a:r>
              <a:rPr lang="en-IN" dirty="0"/>
              <a:t>09-09-2026</a:t>
            </a:r>
          </a:p>
        </p:txBody>
      </p:sp>
      <p:sp>
        <p:nvSpPr>
          <p:cNvPr id="5" name="Footer Placeholder 4">
            <a:extLst>
              <a:ext uri="{FF2B5EF4-FFF2-40B4-BE49-F238E27FC236}">
                <a16:creationId xmlns:a16="http://schemas.microsoft.com/office/drawing/2014/main" id="{8B0EF323-27AB-5372-4287-A24CA541146A}"/>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76AAAC16-1233-230F-5D3B-645E6B2832A4}"/>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14</a:t>
            </a:fld>
            <a:endParaRPr lang="en-IN" dirty="0">
              <a:latin typeface="Times New Roman" panose="02020603050405020304" pitchFamily="18" charset="0"/>
              <a:cs typeface="Times New Roman" panose="02020603050405020304" pitchFamily="18" charset="0"/>
            </a:endParaRPr>
          </a:p>
        </p:txBody>
      </p:sp>
      <p:sp>
        <p:nvSpPr>
          <p:cNvPr id="7" name="TextBox 6"/>
          <p:cNvSpPr txBox="1"/>
          <p:nvPr/>
        </p:nvSpPr>
        <p:spPr>
          <a:xfrm>
            <a:off x="457200" y="1353312"/>
            <a:ext cx="5989320" cy="384048"/>
          </a:xfrm>
          <a:prstGeom prst="rect">
            <a:avLst/>
          </a:prstGeom>
          <a:noFill/>
        </p:spPr>
        <p:txBody>
          <a:bodyPr wrap="square" lIns="36576" tIns="18288" rIns="36576" bIns="18288">
            <a:spAutoFit/>
          </a:bodyPr>
          <a:lstStyle/>
          <a:p>
            <a:pPr algn="l">
              <a:spcAft>
                <a:spcPts val="200"/>
              </a:spcAft>
            </a:pPr>
            <a:r>
              <a:rPr sz="1000" b="0">
                <a:solidFill>
                  <a:srgbClr val="44546A"/>
                </a:solidFill>
                <a:latin typeface="Times New Roman"/>
              </a:rPr>
              <a:t>12 classical baselines, each in a per-fold Pipeline(median-impute → standardise → model), 5-fold CV on train+val, then refit and scored once on the same 521 test subjects.</a:t>
            </a:r>
          </a:p>
        </p:txBody>
      </p:sp>
      <p:graphicFrame>
        <p:nvGraphicFramePr>
          <p:cNvPr id="8" name="Table 7"/>
          <p:cNvGraphicFramePr>
            <a:graphicFrameLocks noGrp="1"/>
          </p:cNvGraphicFramePr>
          <p:nvPr/>
        </p:nvGraphicFramePr>
        <p:xfrm>
          <a:off x="457200" y="1810512"/>
          <a:ext cx="5989320" cy="2468880"/>
        </p:xfrm>
        <a:graphic>
          <a:graphicData uri="http://schemas.openxmlformats.org/drawingml/2006/table">
            <a:tbl>
              <a:tblPr firstRow="1" bandRow="1">
                <a:tableStyleId>{5C22544A-7EE6-4342-B048-85BDC9FD1C3A}</a:tableStyleId>
              </a:tblPr>
              <a:tblGrid>
                <a:gridCol w="214884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tblGrid>
              <a:tr h="274320">
                <a:tc>
                  <a:txBody>
                    <a:bodyPr/>
                    <a:lstStyle/>
                    <a:p>
                      <a:r>
                        <a:rPr sz="1050" b="1">
                          <a:solidFill>
                            <a:srgbClr val="FFFFFF"/>
                          </a:solidFill>
                          <a:latin typeface="Times New Roman"/>
                        </a:rPr>
                        <a:t>Model</a:t>
                      </a:r>
                    </a:p>
                  </a:txBody>
                  <a:tcPr marL="45720" marR="45720" marT="9144" marB="9144" anchor="ctr"/>
                </a:tc>
                <a:tc>
                  <a:txBody>
                    <a:bodyPr/>
                    <a:lstStyle/>
                    <a:p>
                      <a:r>
                        <a:rPr sz="1050" b="1">
                          <a:solidFill>
                            <a:srgbClr val="FFFFFF"/>
                          </a:solidFill>
                          <a:latin typeface="Times New Roman"/>
                        </a:rPr>
                        <a:t>CV CCC</a:t>
                      </a:r>
                    </a:p>
                  </a:txBody>
                  <a:tcPr marL="45720" marR="45720" marT="9144" marB="9144" anchor="ctr"/>
                </a:tc>
                <a:tc>
                  <a:txBody>
                    <a:bodyPr/>
                    <a:lstStyle/>
                    <a:p>
                      <a:r>
                        <a:rPr sz="1050" b="1">
                          <a:solidFill>
                            <a:srgbClr val="FFFFFF"/>
                          </a:solidFill>
                          <a:latin typeface="Times New Roman"/>
                        </a:rPr>
                        <a:t>Test CCC</a:t>
                      </a:r>
                    </a:p>
                  </a:txBody>
                  <a:tcPr marL="45720" marR="45720" marT="9144" marB="9144" anchor="ctr"/>
                </a:tc>
                <a:tc>
                  <a:txBody>
                    <a:bodyPr/>
                    <a:lstStyle/>
                    <a:p>
                      <a:r>
                        <a:rPr sz="1050" b="1">
                          <a:solidFill>
                            <a:srgbClr val="FFFFFF"/>
                          </a:solidFill>
                          <a:latin typeface="Times New Roman"/>
                        </a:rPr>
                        <a:t>Test RMSE</a:t>
                      </a:r>
                    </a:p>
                  </a:txBody>
                  <a:tcPr marL="45720" marR="45720" marT="9144" marB="9144" anchor="ctr"/>
                </a:tc>
                <a:tc>
                  <a:txBody>
                    <a:bodyPr/>
                    <a:lstStyle/>
                    <a:p>
                      <a:r>
                        <a:rPr sz="1050" b="1">
                          <a:solidFill>
                            <a:srgbClr val="FFFFFF"/>
                          </a:solidFill>
                          <a:latin typeface="Times New Roman"/>
                        </a:rPr>
                        <a:t>Test MAE</a:t>
                      </a:r>
                    </a:p>
                  </a:txBody>
                  <a:tcPr marL="45720" marR="45720" marT="9144" marB="9144" anchor="ctr"/>
                </a:tc>
                <a:extLst>
                  <a:ext uri="{0D108BD9-81ED-4DB2-BD59-A6C34878D82A}">
                    <a16:rowId xmlns:a16="http://schemas.microsoft.com/office/drawing/2014/main" val="10000"/>
                  </a:ext>
                </a:extLst>
              </a:tr>
              <a:tr h="274320">
                <a:tc>
                  <a:txBody>
                    <a:bodyPr/>
                    <a:lstStyle/>
                    <a:p>
                      <a:r>
                        <a:rPr sz="1000" b="0">
                          <a:solidFill>
                            <a:srgbClr val="44546A"/>
                          </a:solidFill>
                          <a:latin typeface="Times New Roman"/>
                        </a:rPr>
                        <a:t>lightgbm  (strongest baseline)</a:t>
                      </a:r>
                    </a:p>
                  </a:txBody>
                  <a:tcPr marL="45720" marR="45720" marT="9144" marB="9144" anchor="ctr"/>
                </a:tc>
                <a:tc>
                  <a:txBody>
                    <a:bodyPr/>
                    <a:lstStyle/>
                    <a:p>
                      <a:r>
                        <a:rPr sz="1000" b="0">
                          <a:solidFill>
                            <a:srgbClr val="44546A"/>
                          </a:solidFill>
                          <a:latin typeface="Times New Roman"/>
                        </a:rPr>
                        <a:t>0.2253 ± 0.0213</a:t>
                      </a:r>
                    </a:p>
                  </a:txBody>
                  <a:tcPr marL="45720" marR="45720" marT="9144" marB="9144" anchor="ctr"/>
                </a:tc>
                <a:tc>
                  <a:txBody>
                    <a:bodyPr/>
                    <a:lstStyle/>
                    <a:p>
                      <a:r>
                        <a:rPr sz="1000" b="0">
                          <a:solidFill>
                            <a:srgbClr val="44546A"/>
                          </a:solidFill>
                          <a:latin typeface="Times New Roman"/>
                        </a:rPr>
                        <a:t>0.2300</a:t>
                      </a:r>
                    </a:p>
                  </a:txBody>
                  <a:tcPr marL="45720" marR="45720" marT="9144" marB="9144" anchor="ctr"/>
                </a:tc>
                <a:tc>
                  <a:txBody>
                    <a:bodyPr/>
                    <a:lstStyle/>
                    <a:p>
                      <a:r>
                        <a:rPr sz="1000" b="0">
                          <a:solidFill>
                            <a:srgbClr val="44546A"/>
                          </a:solidFill>
                          <a:latin typeface="Times New Roman"/>
                        </a:rPr>
                        <a:t>6.94</a:t>
                      </a:r>
                    </a:p>
                  </a:txBody>
                  <a:tcPr marL="45720" marR="45720" marT="9144" marB="9144" anchor="ctr"/>
                </a:tc>
                <a:tc>
                  <a:txBody>
                    <a:bodyPr/>
                    <a:lstStyle/>
                    <a:p>
                      <a:r>
                        <a:rPr sz="1000" b="0">
                          <a:solidFill>
                            <a:srgbClr val="44546A"/>
                          </a:solidFill>
                          <a:latin typeface="Times New Roman"/>
                        </a:rPr>
                        <a:t>4.67</a:t>
                      </a:r>
                    </a:p>
                  </a:txBody>
                  <a:tcPr marL="45720" marR="45720" marT="9144" marB="9144" anchor="ctr"/>
                </a:tc>
                <a:extLst>
                  <a:ext uri="{0D108BD9-81ED-4DB2-BD59-A6C34878D82A}">
                    <a16:rowId xmlns:a16="http://schemas.microsoft.com/office/drawing/2014/main" val="10001"/>
                  </a:ext>
                </a:extLst>
              </a:tr>
              <a:tr h="274320">
                <a:tc>
                  <a:txBody>
                    <a:bodyPr/>
                    <a:lstStyle/>
                    <a:p>
                      <a:r>
                        <a:rPr sz="1000" b="0">
                          <a:solidFill>
                            <a:srgbClr val="44546A"/>
                          </a:solidFill>
                          <a:latin typeface="Times New Roman"/>
                        </a:rPr>
                        <a:t>xgboost</a:t>
                      </a:r>
                    </a:p>
                  </a:txBody>
                  <a:tcPr marL="45720" marR="45720" marT="9144" marB="9144" anchor="ctr"/>
                </a:tc>
                <a:tc>
                  <a:txBody>
                    <a:bodyPr/>
                    <a:lstStyle/>
                    <a:p>
                      <a:r>
                        <a:rPr sz="1000" b="0">
                          <a:solidFill>
                            <a:srgbClr val="44546A"/>
                          </a:solidFill>
                          <a:latin typeface="Times New Roman"/>
                        </a:rPr>
                        <a:t>0.2401 ± 0.0302</a:t>
                      </a:r>
                    </a:p>
                  </a:txBody>
                  <a:tcPr marL="45720" marR="45720" marT="9144" marB="9144" anchor="ctr"/>
                </a:tc>
                <a:tc>
                  <a:txBody>
                    <a:bodyPr/>
                    <a:lstStyle/>
                    <a:p>
                      <a:r>
                        <a:rPr sz="1000" b="0">
                          <a:solidFill>
                            <a:srgbClr val="44546A"/>
                          </a:solidFill>
                          <a:latin typeface="Times New Roman"/>
                        </a:rPr>
                        <a:t>0.2135</a:t>
                      </a:r>
                    </a:p>
                  </a:txBody>
                  <a:tcPr marL="45720" marR="45720" marT="9144" marB="9144" anchor="ctr"/>
                </a:tc>
                <a:tc>
                  <a:txBody>
                    <a:bodyPr/>
                    <a:lstStyle/>
                    <a:p>
                      <a:r>
                        <a:rPr sz="1000" b="0">
                          <a:solidFill>
                            <a:srgbClr val="44546A"/>
                          </a:solidFill>
                          <a:latin typeface="Times New Roman"/>
                        </a:rPr>
                        <a:t>6.96</a:t>
                      </a:r>
                    </a:p>
                  </a:txBody>
                  <a:tcPr marL="45720" marR="45720" marT="9144" marB="9144" anchor="ctr"/>
                </a:tc>
                <a:tc>
                  <a:txBody>
                    <a:bodyPr/>
                    <a:lstStyle/>
                    <a:p>
                      <a:r>
                        <a:rPr sz="1000" b="0">
                          <a:solidFill>
                            <a:srgbClr val="44546A"/>
                          </a:solidFill>
                          <a:latin typeface="Times New Roman"/>
                        </a:rPr>
                        <a:t>4.67</a:t>
                      </a:r>
                    </a:p>
                  </a:txBody>
                  <a:tcPr marL="45720" marR="45720" marT="9144" marB="9144" anchor="ctr"/>
                </a:tc>
                <a:extLst>
                  <a:ext uri="{0D108BD9-81ED-4DB2-BD59-A6C34878D82A}">
                    <a16:rowId xmlns:a16="http://schemas.microsoft.com/office/drawing/2014/main" val="10002"/>
                  </a:ext>
                </a:extLst>
              </a:tr>
              <a:tr h="274320">
                <a:tc>
                  <a:txBody>
                    <a:bodyPr/>
                    <a:lstStyle/>
                    <a:p>
                      <a:r>
                        <a:rPr sz="1000" b="0">
                          <a:solidFill>
                            <a:srgbClr val="44546A"/>
                          </a:solidFill>
                          <a:latin typeface="Times New Roman"/>
                        </a:rPr>
                        <a:t>linear</a:t>
                      </a:r>
                    </a:p>
                  </a:txBody>
                  <a:tcPr marL="45720" marR="45720" marT="9144" marB="9144" anchor="ctr"/>
                </a:tc>
                <a:tc>
                  <a:txBody>
                    <a:bodyPr/>
                    <a:lstStyle/>
                    <a:p>
                      <a:r>
                        <a:rPr sz="1000" b="0">
                          <a:solidFill>
                            <a:srgbClr val="44546A"/>
                          </a:solidFill>
                          <a:latin typeface="Times New Roman"/>
                        </a:rPr>
                        <a:t>0.2367 ± 0.0241</a:t>
                      </a:r>
                    </a:p>
                  </a:txBody>
                  <a:tcPr marL="45720" marR="45720" marT="9144" marB="9144" anchor="ctr"/>
                </a:tc>
                <a:tc>
                  <a:txBody>
                    <a:bodyPr/>
                    <a:lstStyle/>
                    <a:p>
                      <a:r>
                        <a:rPr sz="1000" b="0">
                          <a:solidFill>
                            <a:srgbClr val="44546A"/>
                          </a:solidFill>
                          <a:latin typeface="Times New Roman"/>
                        </a:rPr>
                        <a:t>0.2039</a:t>
                      </a:r>
                    </a:p>
                  </a:txBody>
                  <a:tcPr marL="45720" marR="45720" marT="9144" marB="9144" anchor="ctr"/>
                </a:tc>
                <a:tc>
                  <a:txBody>
                    <a:bodyPr/>
                    <a:lstStyle/>
                    <a:p>
                      <a:r>
                        <a:rPr sz="1000" b="0">
                          <a:solidFill>
                            <a:srgbClr val="44546A"/>
                          </a:solidFill>
                          <a:latin typeface="Times New Roman"/>
                        </a:rPr>
                        <a:t>6.96</a:t>
                      </a:r>
                    </a:p>
                  </a:txBody>
                  <a:tcPr marL="45720" marR="45720" marT="9144" marB="9144" anchor="ctr"/>
                </a:tc>
                <a:tc>
                  <a:txBody>
                    <a:bodyPr/>
                    <a:lstStyle/>
                    <a:p>
                      <a:r>
                        <a:rPr sz="1000" b="0">
                          <a:solidFill>
                            <a:srgbClr val="44546A"/>
                          </a:solidFill>
                          <a:latin typeface="Times New Roman"/>
                        </a:rPr>
                        <a:t>4.78</a:t>
                      </a:r>
                    </a:p>
                  </a:txBody>
                  <a:tcPr marL="45720" marR="45720" marT="9144" marB="9144" anchor="ctr"/>
                </a:tc>
                <a:extLst>
                  <a:ext uri="{0D108BD9-81ED-4DB2-BD59-A6C34878D82A}">
                    <a16:rowId xmlns:a16="http://schemas.microsoft.com/office/drawing/2014/main" val="10003"/>
                  </a:ext>
                </a:extLst>
              </a:tr>
              <a:tr h="274320">
                <a:tc>
                  <a:txBody>
                    <a:bodyPr/>
                    <a:lstStyle/>
                    <a:p>
                      <a:r>
                        <a:rPr sz="1000" b="0">
                          <a:solidFill>
                            <a:srgbClr val="44546A"/>
                          </a:solidFill>
                          <a:latin typeface="Times New Roman"/>
                        </a:rPr>
                        <a:t>ridge</a:t>
                      </a:r>
                    </a:p>
                  </a:txBody>
                  <a:tcPr marL="45720" marR="45720" marT="9144" marB="9144" anchor="ctr"/>
                </a:tc>
                <a:tc>
                  <a:txBody>
                    <a:bodyPr/>
                    <a:lstStyle/>
                    <a:p>
                      <a:r>
                        <a:rPr sz="1000" b="0">
                          <a:solidFill>
                            <a:srgbClr val="44546A"/>
                          </a:solidFill>
                          <a:latin typeface="Times New Roman"/>
                        </a:rPr>
                        <a:t>0.2368 ± 0.0245</a:t>
                      </a:r>
                    </a:p>
                  </a:txBody>
                  <a:tcPr marL="45720" marR="45720" marT="9144" marB="9144" anchor="ctr"/>
                </a:tc>
                <a:tc>
                  <a:txBody>
                    <a:bodyPr/>
                    <a:lstStyle/>
                    <a:p>
                      <a:r>
                        <a:rPr sz="1000" b="0">
                          <a:solidFill>
                            <a:srgbClr val="44546A"/>
                          </a:solidFill>
                          <a:latin typeface="Times New Roman"/>
                        </a:rPr>
                        <a:t>0.2036</a:t>
                      </a:r>
                    </a:p>
                  </a:txBody>
                  <a:tcPr marL="45720" marR="45720" marT="9144" marB="9144" anchor="ctr"/>
                </a:tc>
                <a:tc>
                  <a:txBody>
                    <a:bodyPr/>
                    <a:lstStyle/>
                    <a:p>
                      <a:r>
                        <a:rPr sz="1000" b="0">
                          <a:solidFill>
                            <a:srgbClr val="44546A"/>
                          </a:solidFill>
                          <a:latin typeface="Times New Roman"/>
                        </a:rPr>
                        <a:t>6.96</a:t>
                      </a:r>
                    </a:p>
                  </a:txBody>
                  <a:tcPr marL="45720" marR="45720" marT="9144" marB="9144" anchor="ctr"/>
                </a:tc>
                <a:tc>
                  <a:txBody>
                    <a:bodyPr/>
                    <a:lstStyle/>
                    <a:p>
                      <a:r>
                        <a:rPr sz="1000" b="0">
                          <a:solidFill>
                            <a:srgbClr val="44546A"/>
                          </a:solidFill>
                          <a:latin typeface="Times New Roman"/>
                        </a:rPr>
                        <a:t>4.78</a:t>
                      </a:r>
                    </a:p>
                  </a:txBody>
                  <a:tcPr marL="45720" marR="45720" marT="9144" marB="9144" anchor="ctr"/>
                </a:tc>
                <a:extLst>
                  <a:ext uri="{0D108BD9-81ED-4DB2-BD59-A6C34878D82A}">
                    <a16:rowId xmlns:a16="http://schemas.microsoft.com/office/drawing/2014/main" val="10004"/>
                  </a:ext>
                </a:extLst>
              </a:tr>
              <a:tr h="274320">
                <a:tc>
                  <a:txBody>
                    <a:bodyPr/>
                    <a:lstStyle/>
                    <a:p>
                      <a:r>
                        <a:rPr sz="1000" b="0">
                          <a:solidFill>
                            <a:srgbClr val="44546A"/>
                          </a:solidFill>
                          <a:latin typeface="Times New Roman"/>
                        </a:rPr>
                        <a:t>gradient_boosting</a:t>
                      </a:r>
                    </a:p>
                  </a:txBody>
                  <a:tcPr marL="45720" marR="45720" marT="9144" marB="9144" anchor="ctr"/>
                </a:tc>
                <a:tc>
                  <a:txBody>
                    <a:bodyPr/>
                    <a:lstStyle/>
                    <a:p>
                      <a:r>
                        <a:rPr sz="1000" b="0">
                          <a:solidFill>
                            <a:srgbClr val="44546A"/>
                          </a:solidFill>
                          <a:latin typeface="Times New Roman"/>
                        </a:rPr>
                        <a:t>0.2322 ± 0.0262</a:t>
                      </a:r>
                    </a:p>
                  </a:txBody>
                  <a:tcPr marL="45720" marR="45720" marT="9144" marB="9144" anchor="ctr"/>
                </a:tc>
                <a:tc>
                  <a:txBody>
                    <a:bodyPr/>
                    <a:lstStyle/>
                    <a:p>
                      <a:r>
                        <a:rPr sz="1000" b="0">
                          <a:solidFill>
                            <a:srgbClr val="44546A"/>
                          </a:solidFill>
                          <a:latin typeface="Times New Roman"/>
                        </a:rPr>
                        <a:t>0.1911</a:t>
                      </a:r>
                    </a:p>
                  </a:txBody>
                  <a:tcPr marL="45720" marR="45720" marT="9144" marB="9144" anchor="ctr"/>
                </a:tc>
                <a:tc>
                  <a:txBody>
                    <a:bodyPr/>
                    <a:lstStyle/>
                    <a:p>
                      <a:r>
                        <a:rPr sz="1000" b="0">
                          <a:solidFill>
                            <a:srgbClr val="44546A"/>
                          </a:solidFill>
                          <a:latin typeface="Times New Roman"/>
                        </a:rPr>
                        <a:t>7.01</a:t>
                      </a:r>
                    </a:p>
                  </a:txBody>
                  <a:tcPr marL="45720" marR="45720" marT="9144" marB="9144" anchor="ctr"/>
                </a:tc>
                <a:tc>
                  <a:txBody>
                    <a:bodyPr/>
                    <a:lstStyle/>
                    <a:p>
                      <a:r>
                        <a:rPr sz="1000" b="0">
                          <a:solidFill>
                            <a:srgbClr val="44546A"/>
                          </a:solidFill>
                          <a:latin typeface="Times New Roman"/>
                        </a:rPr>
                        <a:t>4.74</a:t>
                      </a:r>
                    </a:p>
                  </a:txBody>
                  <a:tcPr marL="45720" marR="45720" marT="9144" marB="9144" anchor="ctr"/>
                </a:tc>
                <a:extLst>
                  <a:ext uri="{0D108BD9-81ED-4DB2-BD59-A6C34878D82A}">
                    <a16:rowId xmlns:a16="http://schemas.microsoft.com/office/drawing/2014/main" val="10005"/>
                  </a:ext>
                </a:extLst>
              </a:tr>
              <a:tr h="274320">
                <a:tc>
                  <a:txBody>
                    <a:bodyPr/>
                    <a:lstStyle/>
                    <a:p>
                      <a:r>
                        <a:rPr sz="1000" b="0">
                          <a:solidFill>
                            <a:srgbClr val="44546A"/>
                          </a:solidFill>
                          <a:latin typeface="Times New Roman"/>
                        </a:rPr>
                        <a:t>mlp</a:t>
                      </a:r>
                    </a:p>
                  </a:txBody>
                  <a:tcPr marL="45720" marR="45720" marT="9144" marB="9144" anchor="ctr"/>
                </a:tc>
                <a:tc>
                  <a:txBody>
                    <a:bodyPr/>
                    <a:lstStyle/>
                    <a:p>
                      <a:r>
                        <a:rPr sz="1000" b="0">
                          <a:solidFill>
                            <a:srgbClr val="44546A"/>
                          </a:solidFill>
                          <a:latin typeface="Times New Roman"/>
                        </a:rPr>
                        <a:t>0.1400 ± 0.0751</a:t>
                      </a:r>
                    </a:p>
                  </a:txBody>
                  <a:tcPr marL="45720" marR="45720" marT="9144" marB="9144" anchor="ctr"/>
                </a:tc>
                <a:tc>
                  <a:txBody>
                    <a:bodyPr/>
                    <a:lstStyle/>
                    <a:p>
                      <a:r>
                        <a:rPr sz="1000" b="0">
                          <a:solidFill>
                            <a:srgbClr val="44546A"/>
                          </a:solidFill>
                          <a:latin typeface="Times New Roman"/>
                        </a:rPr>
                        <a:t>0.1924</a:t>
                      </a:r>
                    </a:p>
                  </a:txBody>
                  <a:tcPr marL="45720" marR="45720" marT="9144" marB="9144" anchor="ctr"/>
                </a:tc>
                <a:tc>
                  <a:txBody>
                    <a:bodyPr/>
                    <a:lstStyle/>
                    <a:p>
                      <a:r>
                        <a:rPr sz="1000" b="0">
                          <a:solidFill>
                            <a:srgbClr val="44546A"/>
                          </a:solidFill>
                          <a:latin typeface="Times New Roman"/>
                        </a:rPr>
                        <a:t>7.10</a:t>
                      </a:r>
                    </a:p>
                  </a:txBody>
                  <a:tcPr marL="45720" marR="45720" marT="9144" marB="9144" anchor="ctr"/>
                </a:tc>
                <a:tc>
                  <a:txBody>
                    <a:bodyPr/>
                    <a:lstStyle/>
                    <a:p>
                      <a:r>
                        <a:rPr sz="1000" b="0">
                          <a:solidFill>
                            <a:srgbClr val="44546A"/>
                          </a:solidFill>
                          <a:latin typeface="Times New Roman"/>
                        </a:rPr>
                        <a:t>4.93</a:t>
                      </a:r>
                    </a:p>
                  </a:txBody>
                  <a:tcPr marL="45720" marR="45720" marT="9144" marB="9144" anchor="ctr"/>
                </a:tc>
                <a:extLst>
                  <a:ext uri="{0D108BD9-81ED-4DB2-BD59-A6C34878D82A}">
                    <a16:rowId xmlns:a16="http://schemas.microsoft.com/office/drawing/2014/main" val="10006"/>
                  </a:ext>
                </a:extLst>
              </a:tr>
              <a:tr h="274320">
                <a:tc>
                  <a:txBody>
                    <a:bodyPr/>
                    <a:lstStyle/>
                    <a:p>
                      <a:r>
                        <a:rPr sz="1000" b="0">
                          <a:solidFill>
                            <a:srgbClr val="44546A"/>
                          </a:solidFill>
                          <a:latin typeface="Times New Roman"/>
                        </a:rPr>
                        <a:t>random_forest</a:t>
                      </a:r>
                    </a:p>
                  </a:txBody>
                  <a:tcPr marL="45720" marR="45720" marT="9144" marB="9144" anchor="ctr"/>
                </a:tc>
                <a:tc>
                  <a:txBody>
                    <a:bodyPr/>
                    <a:lstStyle/>
                    <a:p>
                      <a:r>
                        <a:rPr sz="1000" b="0">
                          <a:solidFill>
                            <a:srgbClr val="44546A"/>
                          </a:solidFill>
                          <a:latin typeface="Times New Roman"/>
                        </a:rPr>
                        <a:t>0.0993 ± 0.0151</a:t>
                      </a:r>
                    </a:p>
                  </a:txBody>
                  <a:tcPr marL="45720" marR="45720" marT="9144" marB="9144" anchor="ctr"/>
                </a:tc>
                <a:tc>
                  <a:txBody>
                    <a:bodyPr/>
                    <a:lstStyle/>
                    <a:p>
                      <a:r>
                        <a:rPr sz="1000" b="0">
                          <a:solidFill>
                            <a:srgbClr val="44546A"/>
                          </a:solidFill>
                          <a:latin typeface="Times New Roman"/>
                        </a:rPr>
                        <a:t>0.0821</a:t>
                      </a:r>
                    </a:p>
                  </a:txBody>
                  <a:tcPr marL="45720" marR="45720" marT="9144" marB="9144" anchor="ctr"/>
                </a:tc>
                <a:tc>
                  <a:txBody>
                    <a:bodyPr/>
                    <a:lstStyle/>
                    <a:p>
                      <a:r>
                        <a:rPr sz="1000" b="0">
                          <a:solidFill>
                            <a:srgbClr val="44546A"/>
                          </a:solidFill>
                          <a:latin typeface="Times New Roman"/>
                        </a:rPr>
                        <a:t>7.07</a:t>
                      </a:r>
                    </a:p>
                  </a:txBody>
                  <a:tcPr marL="45720" marR="45720" marT="9144" marB="9144" anchor="ctr"/>
                </a:tc>
                <a:tc>
                  <a:txBody>
                    <a:bodyPr/>
                    <a:lstStyle/>
                    <a:p>
                      <a:r>
                        <a:rPr sz="1000" b="0">
                          <a:solidFill>
                            <a:srgbClr val="44546A"/>
                          </a:solidFill>
                          <a:latin typeface="Times New Roman"/>
                        </a:rPr>
                        <a:t>4.73</a:t>
                      </a:r>
                    </a:p>
                  </a:txBody>
                  <a:tcPr marL="45720" marR="45720" marT="9144" marB="9144" anchor="ctr"/>
                </a:tc>
                <a:extLst>
                  <a:ext uri="{0D108BD9-81ED-4DB2-BD59-A6C34878D82A}">
                    <a16:rowId xmlns:a16="http://schemas.microsoft.com/office/drawing/2014/main" val="10007"/>
                  </a:ext>
                </a:extLst>
              </a:tr>
              <a:tr h="274320">
                <a:tc>
                  <a:txBody>
                    <a:bodyPr/>
                    <a:lstStyle/>
                    <a:p>
                      <a:r>
                        <a:rPr sz="1000" b="0">
                          <a:solidFill>
                            <a:srgbClr val="44546A"/>
                          </a:solidFill>
                          <a:latin typeface="Times New Roman"/>
                        </a:rPr>
                        <a:t>Fed-PhenoGraft  (ours)</a:t>
                      </a:r>
                    </a:p>
                  </a:txBody>
                  <a:tcPr marL="45720" marR="45720" marT="9144" marB="9144" anchor="ctr"/>
                </a:tc>
                <a:tc>
                  <a:txBody>
                    <a:bodyPr/>
                    <a:lstStyle/>
                    <a:p>
                      <a:r>
                        <a:rPr sz="1000" b="0">
                          <a:solidFill>
                            <a:srgbClr val="44546A"/>
                          </a:solidFill>
                          <a:latin typeface="Times New Roman"/>
                        </a:rPr>
                        <a:t>val 0.3591</a:t>
                      </a:r>
                    </a:p>
                  </a:txBody>
                  <a:tcPr marL="45720" marR="45720" marT="9144" marB="9144" anchor="ctr"/>
                </a:tc>
                <a:tc>
                  <a:txBody>
                    <a:bodyPr/>
                    <a:lstStyle/>
                    <a:p>
                      <a:r>
                        <a:rPr sz="1000" b="0">
                          <a:solidFill>
                            <a:srgbClr val="44546A"/>
                          </a:solidFill>
                          <a:latin typeface="Times New Roman"/>
                        </a:rPr>
                        <a:t>0.1469</a:t>
                      </a:r>
                    </a:p>
                  </a:txBody>
                  <a:tcPr marL="45720" marR="45720" marT="9144" marB="9144" anchor="ctr"/>
                </a:tc>
                <a:tc>
                  <a:txBody>
                    <a:bodyPr/>
                    <a:lstStyle/>
                    <a:p>
                      <a:r>
                        <a:rPr sz="1000" b="0">
                          <a:solidFill>
                            <a:srgbClr val="44546A"/>
                          </a:solidFill>
                          <a:latin typeface="Times New Roman"/>
                        </a:rPr>
                        <a:t>7.64</a:t>
                      </a:r>
                    </a:p>
                  </a:txBody>
                  <a:tcPr marL="45720" marR="45720" marT="9144" marB="9144" anchor="ctr"/>
                </a:tc>
                <a:tc>
                  <a:txBody>
                    <a:bodyPr/>
                    <a:lstStyle/>
                    <a:p>
                      <a:r>
                        <a:rPr sz="1000" b="0">
                          <a:solidFill>
                            <a:srgbClr val="44546A"/>
                          </a:solidFill>
                          <a:latin typeface="Times New Roman"/>
                        </a:rPr>
                        <a:t>5.14</a:t>
                      </a:r>
                    </a:p>
                  </a:txBody>
                  <a:tcPr marL="45720" marR="45720" marT="9144" marB="9144" anchor="ctr"/>
                </a:tc>
                <a:extLst>
                  <a:ext uri="{0D108BD9-81ED-4DB2-BD59-A6C34878D82A}">
                    <a16:rowId xmlns:a16="http://schemas.microsoft.com/office/drawing/2014/main" val="10008"/>
                  </a:ext>
                </a:extLst>
              </a:tr>
            </a:tbl>
          </a:graphicData>
        </a:graphic>
      </p:graphicFrame>
      <p:sp>
        <p:nvSpPr>
          <p:cNvPr id="9" name="Rounded Rectangle 8"/>
          <p:cNvSpPr/>
          <p:nvPr/>
        </p:nvSpPr>
        <p:spPr>
          <a:xfrm>
            <a:off x="457200" y="4443984"/>
            <a:ext cx="5989320" cy="960120"/>
          </a:xfrm>
          <a:prstGeom prst="roundRect">
            <a:avLst/>
          </a:prstGeom>
          <a:solidFill>
            <a:srgbClr val="FDF3E6"/>
          </a:solidFill>
          <a:ln>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spcAft>
                <a:spcPts val="200"/>
              </a:spcAft>
            </a:pPr>
            <a:r>
              <a:rPr sz="1000" b="1">
                <a:solidFill>
                  <a:srgbClr val="8F5510"/>
                </a:solidFill>
                <a:latin typeface="Times New Roman"/>
              </a:rPr>
              <a:t>Statistical significance — paired bootstrap vs LightGBM</a:t>
            </a:r>
          </a:p>
          <a:p>
            <a:pPr>
              <a:spcAft>
                <a:spcPts val="200"/>
              </a:spcAft>
            </a:pPr>
            <a:r>
              <a:rPr sz="1000" b="0">
                <a:solidFill>
                  <a:srgbClr val="8F5510"/>
                </a:solidFill>
                <a:latin typeface="Times New Roman"/>
              </a:rPr>
              <a:t>ΔCCC = −0.083  [95% CI −0.167, −0.005],  p = 0.982  →  NOT significant at α = 0.05. Fed-PhenoGraft is currently statistically indistinguishable from the strongest baseline on progression; no baseline attempts the diagnosis task, where the model reaches AUC 0.982.</a:t>
            </a:r>
          </a:p>
        </p:txBody>
      </p:sp>
      <p:pic>
        <p:nvPicPr>
          <p:cNvPr id="10" name="Picture 9" descr="model_comparison.png"/>
          <p:cNvPicPr>
            <a:picLocks noChangeAspect="1"/>
          </p:cNvPicPr>
          <p:nvPr/>
        </p:nvPicPr>
        <p:blipFill>
          <a:blip r:embed="rId2"/>
          <a:stretch>
            <a:fillRect/>
          </a:stretch>
        </p:blipFill>
        <p:spPr>
          <a:xfrm>
            <a:off x="6583680" y="2646484"/>
            <a:ext cx="5257799" cy="2022230"/>
          </a:xfrm>
          <a:prstGeom prst="rect">
            <a:avLst/>
          </a:prstGeom>
        </p:spPr>
      </p:pic>
      <p:sp>
        <p:nvSpPr>
          <p:cNvPr id="11" name="TextBox 10"/>
          <p:cNvSpPr txBox="1"/>
          <p:nvPr/>
        </p:nvSpPr>
        <p:spPr>
          <a:xfrm>
            <a:off x="6583680" y="4705290"/>
            <a:ext cx="5257800" cy="182880"/>
          </a:xfrm>
          <a:prstGeom prst="rect">
            <a:avLst/>
          </a:prstGeom>
          <a:noFill/>
        </p:spPr>
        <p:txBody>
          <a:bodyPr wrap="square" lIns="36576" tIns="18288" rIns="36576" bIns="18288">
            <a:spAutoFit/>
          </a:bodyPr>
          <a:lstStyle/>
          <a:p>
            <a:pPr algn="ctr">
              <a:spcAft>
                <a:spcPts val="400"/>
              </a:spcAft>
            </a:pPr>
            <a:r>
              <a:rPr sz="850" b="0">
                <a:solidFill>
                  <a:srgbClr val="7F7F7F"/>
                </a:solidFill>
                <a:latin typeface="Times New Roman"/>
              </a:rPr>
              <a:t>Fig. 3  Held-out test CCC — all 12 baselines vs Fed-PhenoGraft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E386D544-A80A-B599-44C7-B40BA6ECC63C}"/>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sz="3000" b="1">
                <a:latin typeface="Times New Roman"/>
              </a:rPr>
              <a:t>Experiments and Results  (3/3)  —  Ablation &amp; Explainability</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5D376B32-FA12-4961-0DBF-EE57A7705BF9}"/>
              </a:ext>
            </a:extLst>
          </p:cNvPr>
          <p:cNvSpPr>
            <a:spLocks noGrp="1"/>
          </p:cNvSpPr>
          <p:nvPr>
            <p:ph type="dt" sz="half" idx="10"/>
          </p:nvPr>
        </p:nvSpPr>
        <p:spPr/>
        <p:txBody>
          <a:bodyPr/>
          <a:lstStyle/>
          <a:p>
            <a:r>
              <a:rPr lang="en-IN" dirty="0"/>
              <a:t>09-09-2026</a:t>
            </a:r>
          </a:p>
          <a:p>
            <a:endParaRPr lang="en-IN"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8B0EF323-27AB-5372-4287-A24CA541146A}"/>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76AAAC16-1233-230F-5D3B-645E6B2832A4}"/>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15</a:t>
            </a:fld>
            <a:endParaRPr lang="en-IN" dirty="0">
              <a:latin typeface="Times New Roman" panose="02020603050405020304" pitchFamily="18" charset="0"/>
              <a:cs typeface="Times New Roman" panose="02020603050405020304" pitchFamily="18" charset="0"/>
            </a:endParaRPr>
          </a:p>
        </p:txBody>
      </p:sp>
      <p:sp>
        <p:nvSpPr>
          <p:cNvPr id="7" name="TextBox 6"/>
          <p:cNvSpPr txBox="1"/>
          <p:nvPr/>
        </p:nvSpPr>
        <p:spPr>
          <a:xfrm>
            <a:off x="457200" y="1353312"/>
            <a:ext cx="5760720" cy="274320"/>
          </a:xfrm>
          <a:prstGeom prst="rect">
            <a:avLst/>
          </a:prstGeom>
          <a:noFill/>
        </p:spPr>
        <p:txBody>
          <a:bodyPr wrap="square" lIns="36576" tIns="18288" rIns="36576" bIns="18288">
            <a:spAutoFit/>
          </a:bodyPr>
          <a:lstStyle/>
          <a:p>
            <a:pPr algn="l">
              <a:spcAft>
                <a:spcPts val="200"/>
              </a:spcAft>
            </a:pPr>
            <a:r>
              <a:rPr sz="1000" b="0">
                <a:solidFill>
                  <a:srgbClr val="44546A"/>
                </a:solidFill>
                <a:latin typeface="Times New Roman"/>
              </a:rPr>
              <a:t>Every variant retrained from scratch under the identical protocol (20 rounds, patience 3).</a:t>
            </a:r>
          </a:p>
        </p:txBody>
      </p:sp>
      <p:graphicFrame>
        <p:nvGraphicFramePr>
          <p:cNvPr id="8" name="Table 7"/>
          <p:cNvGraphicFramePr>
            <a:graphicFrameLocks noGrp="1"/>
          </p:cNvGraphicFramePr>
          <p:nvPr/>
        </p:nvGraphicFramePr>
        <p:xfrm>
          <a:off x="457200" y="1664208"/>
          <a:ext cx="5760720" cy="2468880"/>
        </p:xfrm>
        <a:graphic>
          <a:graphicData uri="http://schemas.openxmlformats.org/drawingml/2006/table">
            <a:tbl>
              <a:tblPr firstRow="1" bandRow="1">
                <a:tableStyleId>{5C22544A-7EE6-4342-B048-85BDC9FD1C3A}</a:tableStyleId>
              </a:tblPr>
              <a:tblGrid>
                <a:gridCol w="260604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tblGrid>
              <a:tr h="274320">
                <a:tc>
                  <a:txBody>
                    <a:bodyPr/>
                    <a:lstStyle/>
                    <a:p>
                      <a:r>
                        <a:rPr sz="1050" b="1">
                          <a:solidFill>
                            <a:srgbClr val="FFFFFF"/>
                          </a:solidFill>
                          <a:latin typeface="Times New Roman"/>
                        </a:rPr>
                        <a:t>Variant</a:t>
                      </a:r>
                    </a:p>
                  </a:txBody>
                  <a:tcPr marL="45720" marR="45720" marT="9144" marB="9144" anchor="ctr"/>
                </a:tc>
                <a:tc>
                  <a:txBody>
                    <a:bodyPr/>
                    <a:lstStyle/>
                    <a:p>
                      <a:r>
                        <a:rPr sz="1050" b="1">
                          <a:solidFill>
                            <a:srgbClr val="FFFFFF"/>
                          </a:solidFill>
                          <a:latin typeface="Times New Roman"/>
                        </a:rPr>
                        <a:t>Val CCC</a:t>
                      </a:r>
                    </a:p>
                  </a:txBody>
                  <a:tcPr marL="45720" marR="45720" marT="9144" marB="9144" anchor="ctr"/>
                </a:tc>
                <a:tc>
                  <a:txBody>
                    <a:bodyPr/>
                    <a:lstStyle/>
                    <a:p>
                      <a:r>
                        <a:rPr sz="1050" b="1">
                          <a:solidFill>
                            <a:srgbClr val="FFFFFF"/>
                          </a:solidFill>
                          <a:latin typeface="Times New Roman"/>
                        </a:rPr>
                        <a:t>Test CCC</a:t>
                      </a:r>
                    </a:p>
                  </a:txBody>
                  <a:tcPr marL="45720" marR="45720" marT="9144" marB="9144" anchor="ctr"/>
                </a:tc>
                <a:tc>
                  <a:txBody>
                    <a:bodyPr/>
                    <a:lstStyle/>
                    <a:p>
                      <a:r>
                        <a:rPr sz="1050" b="1">
                          <a:solidFill>
                            <a:srgbClr val="FFFFFF"/>
                          </a:solidFill>
                          <a:latin typeface="Times New Roman"/>
                        </a:rPr>
                        <a:t>Test AUC</a:t>
                      </a:r>
                    </a:p>
                  </a:txBody>
                  <a:tcPr marL="45720" marR="45720" marT="9144" marB="9144" anchor="ctr"/>
                </a:tc>
                <a:extLst>
                  <a:ext uri="{0D108BD9-81ED-4DB2-BD59-A6C34878D82A}">
                    <a16:rowId xmlns:a16="http://schemas.microsoft.com/office/drawing/2014/main" val="10000"/>
                  </a:ext>
                </a:extLst>
              </a:tr>
              <a:tr h="274320">
                <a:tc>
                  <a:txBody>
                    <a:bodyPr/>
                    <a:lstStyle/>
                    <a:p>
                      <a:r>
                        <a:rPr sz="1000" b="0">
                          <a:solidFill>
                            <a:srgbClr val="44546A"/>
                          </a:solidFill>
                          <a:latin typeface="Times New Roman"/>
                        </a:rPr>
                        <a:t>Full Fed-PhenoGraft</a:t>
                      </a:r>
                    </a:p>
                  </a:txBody>
                  <a:tcPr marL="45720" marR="45720" marT="9144" marB="9144" anchor="ctr"/>
                </a:tc>
                <a:tc>
                  <a:txBody>
                    <a:bodyPr/>
                    <a:lstStyle/>
                    <a:p>
                      <a:r>
                        <a:rPr sz="1000" b="0">
                          <a:solidFill>
                            <a:srgbClr val="44546A"/>
                          </a:solidFill>
                          <a:latin typeface="Times New Roman"/>
                        </a:rPr>
                        <a:t>0.3591</a:t>
                      </a:r>
                    </a:p>
                  </a:txBody>
                  <a:tcPr marL="45720" marR="45720" marT="9144" marB="9144" anchor="ctr"/>
                </a:tc>
                <a:tc>
                  <a:txBody>
                    <a:bodyPr/>
                    <a:lstStyle/>
                    <a:p>
                      <a:r>
                        <a:rPr sz="1000" b="0">
                          <a:solidFill>
                            <a:srgbClr val="44546A"/>
                          </a:solidFill>
                          <a:latin typeface="Times New Roman"/>
                        </a:rPr>
                        <a:t>0.1469</a:t>
                      </a:r>
                    </a:p>
                  </a:txBody>
                  <a:tcPr marL="45720" marR="45720" marT="9144" marB="9144" anchor="ctr"/>
                </a:tc>
                <a:tc>
                  <a:txBody>
                    <a:bodyPr/>
                    <a:lstStyle/>
                    <a:p>
                      <a:r>
                        <a:rPr sz="1000" b="0">
                          <a:solidFill>
                            <a:srgbClr val="44546A"/>
                          </a:solidFill>
                          <a:latin typeface="Times New Roman"/>
                        </a:rPr>
                        <a:t>0.9816</a:t>
                      </a:r>
                    </a:p>
                  </a:txBody>
                  <a:tcPr marL="45720" marR="45720" marT="9144" marB="9144" anchor="ctr"/>
                </a:tc>
                <a:extLst>
                  <a:ext uri="{0D108BD9-81ED-4DB2-BD59-A6C34878D82A}">
                    <a16:rowId xmlns:a16="http://schemas.microsoft.com/office/drawing/2014/main" val="10001"/>
                  </a:ext>
                </a:extLst>
              </a:tr>
              <a:tr h="274320">
                <a:tc>
                  <a:txBody>
                    <a:bodyPr/>
                    <a:lstStyle/>
                    <a:p>
                      <a:r>
                        <a:rPr sz="1000" b="0">
                          <a:solidFill>
                            <a:srgbClr val="44546A"/>
                          </a:solidFill>
                          <a:latin typeface="Times New Roman"/>
                        </a:rPr>
                        <a:t>− Asymmetric attention</a:t>
                      </a:r>
                    </a:p>
                  </a:txBody>
                  <a:tcPr marL="45720" marR="45720" marT="9144" marB="9144" anchor="ctr"/>
                </a:tc>
                <a:tc>
                  <a:txBody>
                    <a:bodyPr/>
                    <a:lstStyle/>
                    <a:p>
                      <a:r>
                        <a:rPr sz="1000" b="0">
                          <a:solidFill>
                            <a:srgbClr val="44546A"/>
                          </a:solidFill>
                          <a:latin typeface="Times New Roman"/>
                        </a:rPr>
                        <a:t>0.2885</a:t>
                      </a:r>
                    </a:p>
                  </a:txBody>
                  <a:tcPr marL="45720" marR="45720" marT="9144" marB="9144" anchor="ctr"/>
                </a:tc>
                <a:tc>
                  <a:txBody>
                    <a:bodyPr/>
                    <a:lstStyle/>
                    <a:p>
                      <a:r>
                        <a:rPr sz="1000" b="0">
                          <a:solidFill>
                            <a:srgbClr val="44546A"/>
                          </a:solidFill>
                          <a:latin typeface="Times New Roman"/>
                        </a:rPr>
                        <a:t>0.1736</a:t>
                      </a:r>
                    </a:p>
                  </a:txBody>
                  <a:tcPr marL="45720" marR="45720" marT="9144" marB="9144" anchor="ctr"/>
                </a:tc>
                <a:tc>
                  <a:txBody>
                    <a:bodyPr/>
                    <a:lstStyle/>
                    <a:p>
                      <a:r>
                        <a:rPr sz="1000" b="0">
                          <a:solidFill>
                            <a:srgbClr val="44546A"/>
                          </a:solidFill>
                          <a:latin typeface="Times New Roman"/>
                        </a:rPr>
                        <a:t>0.9737</a:t>
                      </a:r>
                    </a:p>
                  </a:txBody>
                  <a:tcPr marL="45720" marR="45720" marT="9144" marB="9144" anchor="ctr"/>
                </a:tc>
                <a:extLst>
                  <a:ext uri="{0D108BD9-81ED-4DB2-BD59-A6C34878D82A}">
                    <a16:rowId xmlns:a16="http://schemas.microsoft.com/office/drawing/2014/main" val="10002"/>
                  </a:ext>
                </a:extLst>
              </a:tr>
              <a:tr h="274320">
                <a:tc>
                  <a:txBody>
                    <a:bodyPr/>
                    <a:lstStyle/>
                    <a:p>
                      <a:r>
                        <a:rPr sz="1000" b="0">
                          <a:solidFill>
                            <a:srgbClr val="44546A"/>
                          </a:solidFill>
                          <a:latin typeface="Times New Roman"/>
                        </a:rPr>
                        <a:t>− HSIC shared-private loss</a:t>
                      </a:r>
                    </a:p>
                  </a:txBody>
                  <a:tcPr marL="45720" marR="45720" marT="9144" marB="9144" anchor="ctr"/>
                </a:tc>
                <a:tc>
                  <a:txBody>
                    <a:bodyPr/>
                    <a:lstStyle/>
                    <a:p>
                      <a:r>
                        <a:rPr sz="1000" b="0">
                          <a:solidFill>
                            <a:srgbClr val="44546A"/>
                          </a:solidFill>
                          <a:latin typeface="Times New Roman"/>
                        </a:rPr>
                        <a:t>0.3130</a:t>
                      </a:r>
                    </a:p>
                  </a:txBody>
                  <a:tcPr marL="45720" marR="45720" marT="9144" marB="9144" anchor="ctr"/>
                </a:tc>
                <a:tc>
                  <a:txBody>
                    <a:bodyPr/>
                    <a:lstStyle/>
                    <a:p>
                      <a:r>
                        <a:rPr sz="1000" b="0">
                          <a:solidFill>
                            <a:srgbClr val="44546A"/>
                          </a:solidFill>
                          <a:latin typeface="Times New Roman"/>
                        </a:rPr>
                        <a:t>0.1481</a:t>
                      </a:r>
                    </a:p>
                  </a:txBody>
                  <a:tcPr marL="45720" marR="45720" marT="9144" marB="9144" anchor="ctr"/>
                </a:tc>
                <a:tc>
                  <a:txBody>
                    <a:bodyPr/>
                    <a:lstStyle/>
                    <a:p>
                      <a:r>
                        <a:rPr sz="1000" b="0">
                          <a:solidFill>
                            <a:srgbClr val="44546A"/>
                          </a:solidFill>
                          <a:latin typeface="Times New Roman"/>
                        </a:rPr>
                        <a:t>0.9786</a:t>
                      </a:r>
                    </a:p>
                  </a:txBody>
                  <a:tcPr marL="45720" marR="45720" marT="9144" marB="9144" anchor="ctr"/>
                </a:tc>
                <a:extLst>
                  <a:ext uri="{0D108BD9-81ED-4DB2-BD59-A6C34878D82A}">
                    <a16:rowId xmlns:a16="http://schemas.microsoft.com/office/drawing/2014/main" val="10003"/>
                  </a:ext>
                </a:extLst>
              </a:tr>
              <a:tr h="274320">
                <a:tc>
                  <a:txBody>
                    <a:bodyPr/>
                    <a:lstStyle/>
                    <a:p>
                      <a:r>
                        <a:rPr sz="1000" b="0">
                          <a:solidFill>
                            <a:srgbClr val="44546A"/>
                          </a:solidFill>
                          <a:latin typeface="Times New Roman"/>
                        </a:rPr>
                        <a:t>Centralized (1 client)</a:t>
                      </a:r>
                    </a:p>
                  </a:txBody>
                  <a:tcPr marL="45720" marR="45720" marT="9144" marB="9144" anchor="ctr"/>
                </a:tc>
                <a:tc>
                  <a:txBody>
                    <a:bodyPr/>
                    <a:lstStyle/>
                    <a:p>
                      <a:r>
                        <a:rPr sz="1000" b="0">
                          <a:solidFill>
                            <a:srgbClr val="44546A"/>
                          </a:solidFill>
                          <a:latin typeface="Times New Roman"/>
                        </a:rPr>
                        <a:t>0.3142</a:t>
                      </a:r>
                    </a:p>
                  </a:txBody>
                  <a:tcPr marL="45720" marR="45720" marT="9144" marB="9144" anchor="ctr"/>
                </a:tc>
                <a:tc>
                  <a:txBody>
                    <a:bodyPr/>
                    <a:lstStyle/>
                    <a:p>
                      <a:r>
                        <a:rPr sz="1000" b="0">
                          <a:solidFill>
                            <a:srgbClr val="44546A"/>
                          </a:solidFill>
                          <a:latin typeface="Times New Roman"/>
                        </a:rPr>
                        <a:t>0.1857</a:t>
                      </a:r>
                    </a:p>
                  </a:txBody>
                  <a:tcPr marL="45720" marR="45720" marT="9144" marB="9144" anchor="ctr"/>
                </a:tc>
                <a:tc>
                  <a:txBody>
                    <a:bodyPr/>
                    <a:lstStyle/>
                    <a:p>
                      <a:r>
                        <a:rPr sz="1000" b="0">
                          <a:solidFill>
                            <a:srgbClr val="44546A"/>
                          </a:solidFill>
                          <a:latin typeface="Times New Roman"/>
                        </a:rPr>
                        <a:t>0.9806</a:t>
                      </a:r>
                    </a:p>
                  </a:txBody>
                  <a:tcPr marL="45720" marR="45720" marT="9144" marB="9144" anchor="ctr"/>
                </a:tc>
                <a:extLst>
                  <a:ext uri="{0D108BD9-81ED-4DB2-BD59-A6C34878D82A}">
                    <a16:rowId xmlns:a16="http://schemas.microsoft.com/office/drawing/2014/main" val="10004"/>
                  </a:ext>
                </a:extLst>
              </a:tr>
              <a:tr h="274320">
                <a:tc>
                  <a:txBody>
                    <a:bodyPr/>
                    <a:lstStyle/>
                    <a:p>
                      <a:r>
                        <a:rPr sz="1000" b="0">
                          <a:solidFill>
                            <a:srgbClr val="44546A"/>
                          </a:solidFill>
                          <a:latin typeface="Times New Roman"/>
                        </a:rPr>
                        <a:t>− PET / DaTScan</a:t>
                      </a:r>
                    </a:p>
                  </a:txBody>
                  <a:tcPr marL="45720" marR="45720" marT="9144" marB="9144" anchor="ctr"/>
                </a:tc>
                <a:tc>
                  <a:txBody>
                    <a:bodyPr/>
                    <a:lstStyle/>
                    <a:p>
                      <a:r>
                        <a:rPr sz="1000" b="0">
                          <a:solidFill>
                            <a:srgbClr val="44546A"/>
                          </a:solidFill>
                          <a:latin typeface="Times New Roman"/>
                        </a:rPr>
                        <a:t>0.2833</a:t>
                      </a:r>
                    </a:p>
                  </a:txBody>
                  <a:tcPr marL="45720" marR="45720" marT="9144" marB="9144" anchor="ctr"/>
                </a:tc>
                <a:tc>
                  <a:txBody>
                    <a:bodyPr/>
                    <a:lstStyle/>
                    <a:p>
                      <a:r>
                        <a:rPr sz="1000" b="0">
                          <a:solidFill>
                            <a:srgbClr val="44546A"/>
                          </a:solidFill>
                          <a:latin typeface="Times New Roman"/>
                        </a:rPr>
                        <a:t>0.1303</a:t>
                      </a:r>
                    </a:p>
                  </a:txBody>
                  <a:tcPr marL="45720" marR="45720" marT="9144" marB="9144" anchor="ctr"/>
                </a:tc>
                <a:tc>
                  <a:txBody>
                    <a:bodyPr/>
                    <a:lstStyle/>
                    <a:p>
                      <a:r>
                        <a:rPr sz="1000" b="0">
                          <a:solidFill>
                            <a:srgbClr val="44546A"/>
                          </a:solidFill>
                          <a:latin typeface="Times New Roman"/>
                        </a:rPr>
                        <a:t>0.9513</a:t>
                      </a:r>
                    </a:p>
                  </a:txBody>
                  <a:tcPr marL="45720" marR="45720" marT="9144" marB="9144" anchor="ctr"/>
                </a:tc>
                <a:extLst>
                  <a:ext uri="{0D108BD9-81ED-4DB2-BD59-A6C34878D82A}">
                    <a16:rowId xmlns:a16="http://schemas.microsoft.com/office/drawing/2014/main" val="10005"/>
                  </a:ext>
                </a:extLst>
              </a:tr>
              <a:tr h="274320">
                <a:tc>
                  <a:txBody>
                    <a:bodyPr/>
                    <a:lstStyle/>
                    <a:p>
                      <a:r>
                        <a:rPr sz="1000" b="0">
                          <a:solidFill>
                            <a:srgbClr val="44546A"/>
                          </a:solidFill>
                          <a:latin typeface="Times New Roman"/>
                        </a:rPr>
                        <a:t>− Genetics</a:t>
                      </a:r>
                    </a:p>
                  </a:txBody>
                  <a:tcPr marL="45720" marR="45720" marT="9144" marB="9144" anchor="ctr"/>
                </a:tc>
                <a:tc>
                  <a:txBody>
                    <a:bodyPr/>
                    <a:lstStyle/>
                    <a:p>
                      <a:r>
                        <a:rPr sz="1000" b="0">
                          <a:solidFill>
                            <a:srgbClr val="44546A"/>
                          </a:solidFill>
                          <a:latin typeface="Times New Roman"/>
                        </a:rPr>
                        <a:t>0.3139</a:t>
                      </a:r>
                    </a:p>
                  </a:txBody>
                  <a:tcPr marL="45720" marR="45720" marT="9144" marB="9144" anchor="ctr"/>
                </a:tc>
                <a:tc>
                  <a:txBody>
                    <a:bodyPr/>
                    <a:lstStyle/>
                    <a:p>
                      <a:r>
                        <a:rPr sz="1000" b="0">
                          <a:solidFill>
                            <a:srgbClr val="44546A"/>
                          </a:solidFill>
                          <a:latin typeface="Times New Roman"/>
                        </a:rPr>
                        <a:t>0.1474</a:t>
                      </a:r>
                    </a:p>
                  </a:txBody>
                  <a:tcPr marL="45720" marR="45720" marT="9144" marB="9144" anchor="ctr"/>
                </a:tc>
                <a:tc>
                  <a:txBody>
                    <a:bodyPr/>
                    <a:lstStyle/>
                    <a:p>
                      <a:r>
                        <a:rPr sz="1000" b="0">
                          <a:solidFill>
                            <a:srgbClr val="44546A"/>
                          </a:solidFill>
                          <a:latin typeface="Times New Roman"/>
                        </a:rPr>
                        <a:t>0.9787</a:t>
                      </a:r>
                    </a:p>
                  </a:txBody>
                  <a:tcPr marL="45720" marR="45720" marT="9144" marB="9144" anchor="ctr"/>
                </a:tc>
                <a:extLst>
                  <a:ext uri="{0D108BD9-81ED-4DB2-BD59-A6C34878D82A}">
                    <a16:rowId xmlns:a16="http://schemas.microsoft.com/office/drawing/2014/main" val="10006"/>
                  </a:ext>
                </a:extLst>
              </a:tr>
              <a:tr h="274320">
                <a:tc>
                  <a:txBody>
                    <a:bodyPr/>
                    <a:lstStyle/>
                    <a:p>
                      <a:r>
                        <a:rPr sz="1000" b="0">
                          <a:solidFill>
                            <a:srgbClr val="44546A"/>
                          </a:solidFill>
                          <a:latin typeface="Times New Roman"/>
                        </a:rPr>
                        <a:t>− MRI (synthetic)</a:t>
                      </a:r>
                    </a:p>
                  </a:txBody>
                  <a:tcPr marL="45720" marR="45720" marT="9144" marB="9144" anchor="ctr"/>
                </a:tc>
                <a:tc>
                  <a:txBody>
                    <a:bodyPr/>
                    <a:lstStyle/>
                    <a:p>
                      <a:r>
                        <a:rPr sz="1000" b="0">
                          <a:solidFill>
                            <a:srgbClr val="44546A"/>
                          </a:solidFill>
                          <a:latin typeface="Times New Roman"/>
                        </a:rPr>
                        <a:t>0.3272</a:t>
                      </a:r>
                    </a:p>
                  </a:txBody>
                  <a:tcPr marL="45720" marR="45720" marT="9144" marB="9144" anchor="ctr"/>
                </a:tc>
                <a:tc>
                  <a:txBody>
                    <a:bodyPr/>
                    <a:lstStyle/>
                    <a:p>
                      <a:r>
                        <a:rPr sz="1000" b="0">
                          <a:solidFill>
                            <a:srgbClr val="44546A"/>
                          </a:solidFill>
                          <a:latin typeface="Times New Roman"/>
                        </a:rPr>
                        <a:t>0.2241</a:t>
                      </a:r>
                    </a:p>
                  </a:txBody>
                  <a:tcPr marL="45720" marR="45720" marT="9144" marB="9144" anchor="ctr"/>
                </a:tc>
                <a:tc>
                  <a:txBody>
                    <a:bodyPr/>
                    <a:lstStyle/>
                    <a:p>
                      <a:r>
                        <a:rPr sz="1000" b="0">
                          <a:solidFill>
                            <a:srgbClr val="44546A"/>
                          </a:solidFill>
                          <a:latin typeface="Times New Roman"/>
                        </a:rPr>
                        <a:t>0.9761</a:t>
                      </a:r>
                    </a:p>
                  </a:txBody>
                  <a:tcPr marL="45720" marR="45720" marT="9144" marB="9144" anchor="ctr"/>
                </a:tc>
                <a:extLst>
                  <a:ext uri="{0D108BD9-81ED-4DB2-BD59-A6C34878D82A}">
                    <a16:rowId xmlns:a16="http://schemas.microsoft.com/office/drawing/2014/main" val="10007"/>
                  </a:ext>
                </a:extLst>
              </a:tr>
              <a:tr h="274320">
                <a:tc>
                  <a:txBody>
                    <a:bodyPr/>
                    <a:lstStyle/>
                    <a:p>
                      <a:r>
                        <a:rPr sz="1000" b="0">
                          <a:solidFill>
                            <a:srgbClr val="44546A"/>
                          </a:solidFill>
                          <a:latin typeface="Times New Roman"/>
                        </a:rPr>
                        <a:t>Clinical only</a:t>
                      </a:r>
                    </a:p>
                  </a:txBody>
                  <a:tcPr marL="45720" marR="45720" marT="9144" marB="9144" anchor="ctr"/>
                </a:tc>
                <a:tc>
                  <a:txBody>
                    <a:bodyPr/>
                    <a:lstStyle/>
                    <a:p>
                      <a:r>
                        <a:rPr sz="1000" b="0">
                          <a:solidFill>
                            <a:srgbClr val="44546A"/>
                          </a:solidFill>
                          <a:latin typeface="Times New Roman"/>
                        </a:rPr>
                        <a:t>0.3072</a:t>
                      </a:r>
                    </a:p>
                  </a:txBody>
                  <a:tcPr marL="45720" marR="45720" marT="9144" marB="9144" anchor="ctr"/>
                </a:tc>
                <a:tc>
                  <a:txBody>
                    <a:bodyPr/>
                    <a:lstStyle/>
                    <a:p>
                      <a:r>
                        <a:rPr sz="1000" b="0">
                          <a:solidFill>
                            <a:srgbClr val="44546A"/>
                          </a:solidFill>
                          <a:latin typeface="Times New Roman"/>
                        </a:rPr>
                        <a:t>0.2055</a:t>
                      </a:r>
                    </a:p>
                  </a:txBody>
                  <a:tcPr marL="45720" marR="45720" marT="9144" marB="9144" anchor="ctr"/>
                </a:tc>
                <a:tc>
                  <a:txBody>
                    <a:bodyPr/>
                    <a:lstStyle/>
                    <a:p>
                      <a:r>
                        <a:rPr sz="1000" b="0">
                          <a:solidFill>
                            <a:srgbClr val="44546A"/>
                          </a:solidFill>
                          <a:latin typeface="Times New Roman"/>
                        </a:rPr>
                        <a:t>0.9554</a:t>
                      </a:r>
                    </a:p>
                  </a:txBody>
                  <a:tcPr marL="45720" marR="45720" marT="9144" marB="9144" anchor="ctr"/>
                </a:tc>
                <a:extLst>
                  <a:ext uri="{0D108BD9-81ED-4DB2-BD59-A6C34878D82A}">
                    <a16:rowId xmlns:a16="http://schemas.microsoft.com/office/drawing/2014/main" val="10008"/>
                  </a:ext>
                </a:extLst>
              </a:tr>
            </a:tbl>
          </a:graphicData>
        </a:graphic>
      </p:graphicFrame>
      <p:sp>
        <p:nvSpPr>
          <p:cNvPr id="9" name="TextBox 8"/>
          <p:cNvSpPr txBox="1"/>
          <p:nvPr/>
        </p:nvSpPr>
        <p:spPr>
          <a:xfrm>
            <a:off x="457200" y="4370832"/>
            <a:ext cx="5760720" cy="1691640"/>
          </a:xfrm>
          <a:prstGeom prst="rect">
            <a:avLst/>
          </a:prstGeom>
          <a:noFill/>
        </p:spPr>
        <p:txBody>
          <a:bodyPr wrap="square" lIns="36576" tIns="18288" rIns="36576" bIns="18288">
            <a:spAutoFit/>
          </a:bodyPr>
          <a:lstStyle/>
          <a:p>
            <a:pPr algn="l">
              <a:spcAft>
                <a:spcPts val="300"/>
              </a:spcAft>
            </a:pPr>
            <a:r>
              <a:rPr sz="950" b="1">
                <a:solidFill>
                  <a:srgbClr val="44546A"/>
                </a:solidFill>
                <a:latin typeface="Times New Roman"/>
              </a:rPr>
              <a:t>Explainability findings</a:t>
            </a:r>
          </a:p>
          <a:p>
            <a:pPr algn="l">
              <a:spcAft>
                <a:spcPts val="300"/>
              </a:spcAft>
            </a:pPr>
            <a:r>
              <a:rPr sz="950" b="0">
                <a:solidFill>
                  <a:srgbClr val="44546A"/>
                </a:solidFill>
                <a:latin typeface="Times New Roman"/>
              </a:rPr>
              <a:t>•  Integrated gradients — clinical 58.5%, DaTScan PET 21.6%, structural MRI 19.9%, genetics 0.0% (genetics is masked for 78% of subjects, so the mask token carries no gradient).</a:t>
            </a:r>
          </a:p>
          <a:p>
            <a:pPr algn="l">
              <a:spcAft>
                <a:spcPts val="300"/>
              </a:spcAft>
            </a:pPr>
            <a:r>
              <a:rPr sz="950" b="0">
                <a:solidFill>
                  <a:srgbClr val="44546A"/>
                </a:solidFill>
                <a:latin typeface="Times New Roman"/>
              </a:rPr>
              <a:t>•  Missing-modality stress test — RMSE 7.64 (full) → 6.96 (no MRI) / 7.54 (no PET) / 7.64 (no genetics) / 7.04 (clinical only): graceful degradation in every case.</a:t>
            </a:r>
          </a:p>
          <a:p>
            <a:pPr algn="l">
              <a:spcAft>
                <a:spcPts val="300"/>
              </a:spcAft>
            </a:pPr>
            <a:r>
              <a:rPr sz="950" b="0">
                <a:solidFill>
                  <a:srgbClr val="44546A"/>
                </a:solidFill>
                <a:latin typeface="Times New Roman"/>
              </a:rPr>
              <a:t>•  Counterfactual gene flips — predicted Δ UPDRS-III shifts of −0.29 (LRRK2) to −0.34 (GBA) points; demonstrates the mechanism, not a clinical claim.</a:t>
            </a:r>
          </a:p>
          <a:p>
            <a:pPr algn="l">
              <a:spcAft>
                <a:spcPts val="300"/>
              </a:spcAft>
            </a:pPr>
            <a:r>
              <a:rPr sz="950" b="0">
                <a:solidFill>
                  <a:srgbClr val="44546A"/>
                </a:solidFill>
                <a:latin typeface="Times New Roman"/>
              </a:rPr>
              <a:t>•  Key reading — removing the synthetic MRI branch RAISES test CCC 0.147 → 0.224, pricing the missing real T1w data at ≈ 0.077 CCC.</a:t>
            </a:r>
          </a:p>
        </p:txBody>
      </p:sp>
      <p:pic>
        <p:nvPicPr>
          <p:cNvPr id="10" name="Picture 9" descr="ablation_study.png"/>
          <p:cNvPicPr>
            <a:picLocks noChangeAspect="1"/>
          </p:cNvPicPr>
          <p:nvPr/>
        </p:nvPicPr>
        <p:blipFill>
          <a:blip r:embed="rId2"/>
          <a:stretch>
            <a:fillRect/>
          </a:stretch>
        </p:blipFill>
        <p:spPr>
          <a:xfrm>
            <a:off x="7279870" y="1353312"/>
            <a:ext cx="3591098" cy="2194560"/>
          </a:xfrm>
          <a:prstGeom prst="rect">
            <a:avLst/>
          </a:prstGeom>
        </p:spPr>
      </p:pic>
      <p:sp>
        <p:nvSpPr>
          <p:cNvPr id="11" name="TextBox 10"/>
          <p:cNvSpPr txBox="1"/>
          <p:nvPr/>
        </p:nvSpPr>
        <p:spPr>
          <a:xfrm>
            <a:off x="6400800" y="3584448"/>
            <a:ext cx="5349240" cy="182880"/>
          </a:xfrm>
          <a:prstGeom prst="rect">
            <a:avLst/>
          </a:prstGeom>
          <a:noFill/>
        </p:spPr>
        <p:txBody>
          <a:bodyPr wrap="square" lIns="36576" tIns="18288" rIns="36576" bIns="18288">
            <a:spAutoFit/>
          </a:bodyPr>
          <a:lstStyle/>
          <a:p>
            <a:pPr algn="ctr">
              <a:spcAft>
                <a:spcPts val="400"/>
              </a:spcAft>
            </a:pPr>
            <a:r>
              <a:rPr sz="850" b="0">
                <a:solidFill>
                  <a:srgbClr val="7F7F7F"/>
                </a:solidFill>
                <a:latin typeface="Times New Roman"/>
              </a:rPr>
              <a:t>Fig. 4  Ablation study — contribution of each component and modality</a:t>
            </a:r>
          </a:p>
        </p:txBody>
      </p:sp>
      <p:pic>
        <p:nvPicPr>
          <p:cNvPr id="12" name="Picture 11" descr="modality_robustness.png"/>
          <p:cNvPicPr>
            <a:picLocks noChangeAspect="1"/>
          </p:cNvPicPr>
          <p:nvPr/>
        </p:nvPicPr>
        <p:blipFill>
          <a:blip r:embed="rId3"/>
          <a:stretch>
            <a:fillRect/>
          </a:stretch>
        </p:blipFill>
        <p:spPr>
          <a:xfrm>
            <a:off x="7155179" y="3931920"/>
            <a:ext cx="3840480" cy="1920240"/>
          </a:xfrm>
          <a:prstGeom prst="rect">
            <a:avLst/>
          </a:prstGeom>
        </p:spPr>
      </p:pic>
      <p:sp>
        <p:nvSpPr>
          <p:cNvPr id="13" name="TextBox 12"/>
          <p:cNvSpPr txBox="1"/>
          <p:nvPr/>
        </p:nvSpPr>
        <p:spPr>
          <a:xfrm>
            <a:off x="6400800" y="5888736"/>
            <a:ext cx="5349240" cy="182880"/>
          </a:xfrm>
          <a:prstGeom prst="rect">
            <a:avLst/>
          </a:prstGeom>
          <a:noFill/>
        </p:spPr>
        <p:txBody>
          <a:bodyPr wrap="square" lIns="36576" tIns="18288" rIns="36576" bIns="18288">
            <a:spAutoFit/>
          </a:bodyPr>
          <a:lstStyle/>
          <a:p>
            <a:pPr algn="ctr">
              <a:spcAft>
                <a:spcPts val="400"/>
              </a:spcAft>
            </a:pPr>
            <a:r>
              <a:rPr sz="850" b="0">
                <a:solidFill>
                  <a:srgbClr val="7F7F7F"/>
                </a:solidFill>
                <a:latin typeface="Times New Roman"/>
              </a:rPr>
              <a:t>Fig. 5  Robustness to missing modalities (learned mask tokens)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49A39-F362-DB35-B5DF-7E322AB9CAE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4F33DD-84F0-A7F9-A1DC-A4DEA1A7D846}"/>
              </a:ext>
            </a:extLst>
          </p:cNvPr>
          <p:cNvSpPr>
            <a:spLocks noGrp="1"/>
          </p:cNvSpPr>
          <p:nvPr>
            <p:ph idx="1"/>
          </p:nvPr>
        </p:nvSpPr>
        <p:spPr/>
        <p:txBody>
          <a:bodyPr wrap="square">
            <a:normAutofit/>
          </a:bodyPr>
          <a:lstStyle/>
          <a:p>
            <a:pPr>
              <a:spcAft>
                <a:spcPts val="1000"/>
              </a:spcAft>
            </a:pPr>
            <a:r>
              <a:rPr sz="1400" b="0" dirty="0">
                <a:solidFill>
                  <a:srgbClr val="44546A"/>
                </a:solidFill>
                <a:latin typeface="Times New Roman"/>
              </a:rPr>
              <a:t>• Delivered an end-to-end federated multimodal framework running on real PPMI data (3,472 subjects) under a deliberately conservative, leak-free protocol.</a:t>
            </a:r>
          </a:p>
          <a:p>
            <a:pPr>
              <a:spcAft>
                <a:spcPts val="1000"/>
              </a:spcAft>
            </a:pPr>
            <a:r>
              <a:rPr sz="1400" b="0" dirty="0">
                <a:solidFill>
                  <a:srgbClr val="44546A"/>
                </a:solidFill>
                <a:latin typeface="Times New Roman"/>
              </a:rPr>
              <a:t>• Strong diagnostic result: ROC-AUC 0.982, accuracy 0.937, sensitivity 0.929 on a test set scored exactly once; a retrained centralized control confirms federation imposes no measurable accuracy cost — privacy is obtained for free.</a:t>
            </a:r>
          </a:p>
          <a:p>
            <a:pPr>
              <a:spcAft>
                <a:spcPts val="1000"/>
              </a:spcAft>
            </a:pPr>
            <a:r>
              <a:rPr sz="1400" b="0" dirty="0">
                <a:solidFill>
                  <a:srgbClr val="44546A"/>
                </a:solidFill>
                <a:latin typeface="Times New Roman"/>
              </a:rPr>
              <a:t>• Progression remains hard: CCC 0.147 [0.041–0.244], statistically indistinguishable from the strongest of 12 classical baselines (paired bootstrap p = 0.982). We report this honestly rather than tuning on the test set.</a:t>
            </a:r>
          </a:p>
          <a:p>
            <a:pPr>
              <a:spcAft>
                <a:spcPts val="1000"/>
              </a:spcAft>
            </a:pPr>
            <a:r>
              <a:rPr sz="1400" b="0" dirty="0">
                <a:solidFill>
                  <a:srgbClr val="44546A"/>
                </a:solidFill>
                <a:latin typeface="Times New Roman"/>
              </a:rPr>
              <a:t>• The 8-variant ablation </a:t>
            </a:r>
            <a:r>
              <a:rPr sz="1400" b="0" dirty="0" err="1">
                <a:solidFill>
                  <a:srgbClr val="44546A"/>
                </a:solidFill>
                <a:latin typeface="Times New Roman"/>
              </a:rPr>
              <a:t>localises</a:t>
            </a:r>
            <a:r>
              <a:rPr sz="1400" b="0" dirty="0">
                <a:solidFill>
                  <a:srgbClr val="44546A"/>
                </a:solidFill>
                <a:latin typeface="Times New Roman"/>
              </a:rPr>
              <a:t> the shortfall: attention and HSIC each contribute, </a:t>
            </a:r>
            <a:r>
              <a:rPr sz="1400" b="0" dirty="0" err="1">
                <a:solidFill>
                  <a:srgbClr val="44546A"/>
                </a:solidFill>
                <a:latin typeface="Times New Roman"/>
              </a:rPr>
              <a:t>DaTScan</a:t>
            </a:r>
            <a:r>
              <a:rPr sz="1400" b="0" dirty="0">
                <a:solidFill>
                  <a:srgbClr val="44546A"/>
                </a:solidFill>
                <a:latin typeface="Times New Roman"/>
              </a:rPr>
              <a:t> is the most valuable auxiliary modality, and the synthetic MRI placeholder costs about 0.077 CCC — a measured, actionable finding.</a:t>
            </a:r>
          </a:p>
          <a:p>
            <a:pPr>
              <a:spcAft>
                <a:spcPts val="1000"/>
              </a:spcAft>
            </a:pPr>
            <a:r>
              <a:rPr sz="1400" b="0" dirty="0">
                <a:solidFill>
                  <a:srgbClr val="44546A"/>
                </a:solidFill>
                <a:latin typeface="Times New Roman"/>
              </a:rPr>
              <a:t>• Future work: (</a:t>
            </a:r>
            <a:r>
              <a:rPr sz="1400" b="0" dirty="0" err="1">
                <a:solidFill>
                  <a:srgbClr val="44546A"/>
                </a:solidFill>
                <a:latin typeface="Times New Roman"/>
              </a:rPr>
              <a:t>i</a:t>
            </a:r>
            <a:r>
              <a:rPr sz="1400" b="0" dirty="0">
                <a:solidFill>
                  <a:srgbClr val="44546A"/>
                </a:solidFill>
                <a:latin typeface="Times New Roman"/>
              </a:rPr>
              <a:t>) real T1w Schaefer-100 parcellations, (ii) validation-only hyperparameter tuning, (iii) real-site federation via the PPMI Center-Subject list, (iv) DP-SGD for formal privacy guarantees, (v) longitudinal BL→V04→V06→V08 modelling.</a:t>
            </a:r>
          </a:p>
        </p:txBody>
      </p:sp>
      <p:sp>
        <p:nvSpPr>
          <p:cNvPr id="4" name="object 2">
            <a:extLst>
              <a:ext uri="{FF2B5EF4-FFF2-40B4-BE49-F238E27FC236}">
                <a16:creationId xmlns:a16="http://schemas.microsoft.com/office/drawing/2014/main" id="{3754A46F-4AC3-5AF1-0B78-C0B5112BD14C}"/>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sz="3000" b="1">
                <a:latin typeface="Times New Roman"/>
              </a:rPr>
              <a:t>Conclusion</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851BAA61-633E-E24B-7DEE-4B2A2B1FA9A4}"/>
              </a:ext>
            </a:extLst>
          </p:cNvPr>
          <p:cNvSpPr>
            <a:spLocks noGrp="1"/>
          </p:cNvSpPr>
          <p:nvPr>
            <p:ph type="dt" sz="half" idx="10"/>
          </p:nvPr>
        </p:nvSpPr>
        <p:spPr/>
        <p:txBody>
          <a:bodyPr/>
          <a:lstStyle/>
          <a:p>
            <a:r>
              <a:rPr lang="en-IN" dirty="0"/>
              <a:t>09-09-2026</a:t>
            </a:r>
          </a:p>
          <a:p>
            <a:endParaRPr lang="en-IN"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AB93C553-2D0C-5A0A-39DC-21C43BD88BF0}"/>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6BF7A7E9-45BE-62F4-D3A6-F19DC6ABEDE6}"/>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16</a:t>
            </a:fld>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174987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0E1A0-FA4A-8258-6E10-9F00EDC0BC8B}"/>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7CFC0C65-61CC-E657-43F7-99C8E5362448}"/>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sz="3000" b="1">
                <a:latin typeface="Times New Roman"/>
              </a:rPr>
              <a:t>References</a:t>
            </a:r>
            <a:endParaRPr sz="3000" b="1" dirty="0">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CC4F09CD-956A-B8B3-1183-9C28C80DDB9A}"/>
              </a:ext>
            </a:extLst>
          </p:cNvPr>
          <p:cNvSpPr>
            <a:spLocks noGrp="1" noChangeArrowheads="1"/>
          </p:cNvSpPr>
          <p:nvPr>
            <p:ph idx="1"/>
          </p:nvPr>
        </p:nvSpPr>
        <p:spPr bwMode="auto">
          <a:xfrm>
            <a:off x="545592" y="2025491"/>
            <a:ext cx="10515600" cy="3447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ts val="800"/>
              </a:spcAft>
              <a:buNone/>
            </a:pPr>
            <a:r>
              <a:rPr sz="1300" dirty="0">
                <a:solidFill>
                  <a:srgbClr val="44546A"/>
                </a:solidFill>
                <a:latin typeface="Times New Roman"/>
              </a:rPr>
              <a:t>[1] A. </a:t>
            </a:r>
            <a:r>
              <a:rPr sz="1300" dirty="0" err="1">
                <a:solidFill>
                  <a:srgbClr val="44546A"/>
                </a:solidFill>
                <a:latin typeface="Times New Roman"/>
              </a:rPr>
              <a:t>Vamvakas</a:t>
            </a:r>
            <a:r>
              <a:rPr sz="1300" dirty="0">
                <a:solidFill>
                  <a:srgbClr val="44546A"/>
                </a:solidFill>
                <a:latin typeface="Times New Roman"/>
              </a:rPr>
              <a:t>, T. Van </a:t>
            </a:r>
            <a:r>
              <a:rPr sz="1300" dirty="0" err="1">
                <a:solidFill>
                  <a:srgbClr val="44546A"/>
                </a:solidFill>
                <a:latin typeface="Times New Roman"/>
              </a:rPr>
              <a:t>Balkom</a:t>
            </a:r>
            <a:r>
              <a:rPr sz="1300" dirty="0">
                <a:solidFill>
                  <a:srgbClr val="44546A"/>
                </a:solidFill>
                <a:latin typeface="Times New Roman"/>
              </a:rPr>
              <a:t>, G. Van Wingen, et al., "Prediction of impulse control disorders in Parkinson's disease through a longitudinal machine learning study," </a:t>
            </a:r>
            <a:r>
              <a:rPr sz="1300" dirty="0" err="1">
                <a:solidFill>
                  <a:srgbClr val="44546A"/>
                </a:solidFill>
                <a:latin typeface="Times New Roman"/>
              </a:rPr>
              <a:t>npj</a:t>
            </a:r>
            <a:r>
              <a:rPr sz="1300" dirty="0">
                <a:solidFill>
                  <a:srgbClr val="44546A"/>
                </a:solidFill>
                <a:latin typeface="Times New Roman"/>
              </a:rPr>
              <a:t> Parkinson's Disease, vol. 12, p. 38, 2026.</a:t>
            </a:r>
          </a:p>
          <a:p>
            <a:pPr marL="0" indent="0">
              <a:spcAft>
                <a:spcPts val="800"/>
              </a:spcAft>
              <a:buNone/>
            </a:pPr>
            <a:r>
              <a:rPr sz="1300" dirty="0">
                <a:solidFill>
                  <a:srgbClr val="44546A"/>
                </a:solidFill>
                <a:latin typeface="Times New Roman"/>
              </a:rPr>
              <a:t>[2] S. W. Akram and C. K, "Enhancing Parkinson's Disease Staging: An Integrative Deep Learning Framework for Multimodal Feature Selection," Journal of Molecular Neuroscience, 2026.</a:t>
            </a:r>
          </a:p>
          <a:p>
            <a:pPr marL="0" indent="0">
              <a:spcAft>
                <a:spcPts val="800"/>
              </a:spcAft>
              <a:buNone/>
            </a:pPr>
            <a:r>
              <a:rPr sz="1300" dirty="0">
                <a:solidFill>
                  <a:srgbClr val="44546A"/>
                </a:solidFill>
                <a:latin typeface="Times New Roman"/>
              </a:rPr>
              <a:t>[3] V. Awasthi et al., "</a:t>
            </a:r>
            <a:r>
              <a:rPr sz="1300" dirty="0" err="1">
                <a:solidFill>
                  <a:srgbClr val="44546A"/>
                </a:solidFill>
                <a:latin typeface="Times New Roman"/>
              </a:rPr>
              <a:t>HyCoSwin</a:t>
            </a:r>
            <a:r>
              <a:rPr sz="1300" dirty="0">
                <a:solidFill>
                  <a:srgbClr val="44546A"/>
                </a:solidFill>
                <a:latin typeface="Times New Roman"/>
              </a:rPr>
              <a:t>-PD: An Explainable Hybrid ConvNeXtV2-Swin Transformer Framework for Parkinson's Disease Detection from Neuroimaging," </a:t>
            </a:r>
            <a:r>
              <a:rPr sz="1300" dirty="0" err="1">
                <a:solidFill>
                  <a:srgbClr val="44546A"/>
                </a:solidFill>
                <a:latin typeface="Times New Roman"/>
              </a:rPr>
              <a:t>MethodsX</a:t>
            </a:r>
            <a:r>
              <a:rPr sz="1300" dirty="0">
                <a:solidFill>
                  <a:srgbClr val="44546A"/>
                </a:solidFill>
                <a:latin typeface="Times New Roman"/>
              </a:rPr>
              <a:t>, vol. 16, 2026.</a:t>
            </a:r>
          </a:p>
          <a:p>
            <a:pPr marL="0" indent="0">
              <a:spcAft>
                <a:spcPts val="800"/>
              </a:spcAft>
              <a:buNone/>
            </a:pPr>
            <a:r>
              <a:rPr sz="1300" dirty="0">
                <a:solidFill>
                  <a:srgbClr val="44546A"/>
                </a:solidFill>
                <a:latin typeface="Times New Roman"/>
              </a:rPr>
              <a:t>[4] T. Zhi et al., "</a:t>
            </a:r>
            <a:r>
              <a:rPr sz="1300" dirty="0" err="1">
                <a:solidFill>
                  <a:srgbClr val="44546A"/>
                </a:solidFill>
                <a:latin typeface="Times New Roman"/>
              </a:rPr>
              <a:t>MultimodalCNN</a:t>
            </a:r>
            <a:r>
              <a:rPr sz="1300" dirty="0">
                <a:solidFill>
                  <a:srgbClr val="44546A"/>
                </a:solidFill>
                <a:latin typeface="Times New Roman"/>
              </a:rPr>
              <a:t>-PD: A Parkinson's Disease Diagnostics Framework Using Multimodal Convolutional Neural Network," Frontiers in Aging Neuroscience, vol. 18, 2026.</a:t>
            </a:r>
          </a:p>
          <a:p>
            <a:pPr marL="0" indent="0">
              <a:spcAft>
                <a:spcPts val="800"/>
              </a:spcAft>
              <a:buNone/>
            </a:pPr>
            <a:r>
              <a:rPr sz="1300" dirty="0">
                <a:solidFill>
                  <a:srgbClr val="44546A"/>
                </a:solidFill>
                <a:latin typeface="Times New Roman"/>
              </a:rPr>
              <a:t>[5] J. Qin, Y. Cai, Z. Wang, J. Jin, X. Huang, and L. Pei, "Design of a Parkinson's Rehabilitation Management System Based on Multimodal Learning and Digital Twin Technology," in Proc. IEEE Smart World Congress (SWC), Nadi, Fiji, 2024, pp. 2073-2080.</a:t>
            </a:r>
          </a:p>
          <a:p>
            <a:pPr marL="0" indent="0">
              <a:spcAft>
                <a:spcPts val="800"/>
              </a:spcAft>
              <a:buNone/>
            </a:pPr>
            <a:r>
              <a:rPr sz="1300" dirty="0">
                <a:solidFill>
                  <a:srgbClr val="44546A"/>
                </a:solidFill>
                <a:latin typeface="Times New Roman"/>
              </a:rPr>
              <a:t>[6] H. Kim, C. Park, J. Hoon Kim, S. Jang, and H. K. Lee, "Multimodal Reinforcement Learning for Embedding Networks and Medication Recommendation in Parkinson's Disease," IEEE Access, vol. 12, pp. 74251-74267, 2024.</a:t>
            </a:r>
          </a:p>
        </p:txBody>
      </p:sp>
      <p:sp>
        <p:nvSpPr>
          <p:cNvPr id="5" name="Date Placeholder 4">
            <a:extLst>
              <a:ext uri="{FF2B5EF4-FFF2-40B4-BE49-F238E27FC236}">
                <a16:creationId xmlns:a16="http://schemas.microsoft.com/office/drawing/2014/main" id="{B732D3DB-7149-E1E5-D5F9-4FC93A788894}"/>
              </a:ext>
            </a:extLst>
          </p:cNvPr>
          <p:cNvSpPr>
            <a:spLocks noGrp="1"/>
          </p:cNvSpPr>
          <p:nvPr>
            <p:ph type="dt" sz="half" idx="10"/>
          </p:nvPr>
        </p:nvSpPr>
        <p:spPr/>
        <p:txBody>
          <a:bodyPr/>
          <a:lstStyle/>
          <a:p>
            <a:r>
              <a:rPr lang="en-IN" dirty="0"/>
              <a:t>09-09-2026</a:t>
            </a:r>
          </a:p>
        </p:txBody>
      </p:sp>
      <p:sp>
        <p:nvSpPr>
          <p:cNvPr id="6" name="Footer Placeholder 5">
            <a:extLst>
              <a:ext uri="{FF2B5EF4-FFF2-40B4-BE49-F238E27FC236}">
                <a16:creationId xmlns:a16="http://schemas.microsoft.com/office/drawing/2014/main" id="{CEBCABB1-7C63-52E3-2815-3651AE7E9F7B}"/>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E431EAEC-BCE3-2979-69C6-273309B9FFA7}"/>
              </a:ext>
            </a:extLst>
          </p:cNvPr>
          <p:cNvSpPr>
            <a:spLocks noGrp="1"/>
          </p:cNvSpPr>
          <p:nvPr>
            <p:ph type="sldNum" sz="quarter" idx="12"/>
          </p:nvPr>
        </p:nvSpPr>
        <p:spPr/>
        <p:txBody>
          <a:bodyPr/>
          <a:lstStyle/>
          <a:p>
            <a:fld id="{65201FD4-9D8D-4491-815B-63C7BF4F0034}" type="slidenum">
              <a:rPr lang="en-IN" smtClean="0"/>
              <a:t>17</a:t>
            </a:fld>
            <a:endParaRPr lang="en-IN"/>
          </a:p>
        </p:txBody>
      </p:sp>
    </p:spTree>
    <p:extLst>
      <p:ext uri="{BB962C8B-B14F-4D97-AF65-F5344CB8AC3E}">
        <p14:creationId xmlns:p14="http://schemas.microsoft.com/office/powerpoint/2010/main" val="35105262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187</TotalTime>
  <Words>2853</Words>
  <Application>Microsoft Office PowerPoint</Application>
  <PresentationFormat>Widescreen</PresentationFormat>
  <Paragraphs>357</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Times New Roman</vt:lpstr>
      <vt:lpstr>Office Theme</vt:lpstr>
      <vt:lpstr>Programme B.Tech — BCSE497J · Project I Fed-PhenoGraft: Phenotype-Guided Asymmetric Cross-Modal Attention with Shared-Private Latent Decomposition for Federated Multi-Modal Parkinson's Disease Prediction</vt:lpstr>
      <vt:lpstr>Approval Mail From Guide</vt:lpstr>
      <vt:lpstr>Aim</vt:lpstr>
      <vt:lpstr>Abstract</vt:lpstr>
      <vt:lpstr>Literature Review</vt:lpstr>
      <vt:lpstr>PowerPoint Presentation</vt:lpstr>
      <vt:lpstr>Research Gap</vt:lpstr>
      <vt:lpstr>Objectives</vt:lpstr>
      <vt:lpstr>Identified: Sustainable Development Goals &amp; Outcomes </vt:lpstr>
      <vt:lpstr>Framework / Architecture / Block Diagram</vt:lpstr>
      <vt:lpstr>Functional Requirements</vt:lpstr>
      <vt:lpstr>Modules</vt:lpstr>
      <vt:lpstr>Experiments and Results  (1/3)  —  Setup &amp; Held-out Performance</vt:lpstr>
      <vt:lpstr>Experiments and Results  (2/3)  —  Baseline Comparison</vt:lpstr>
      <vt:lpstr>Experiments and Results  (3/3)  —  Ablation &amp; Explainability</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Parthasarathy G</dc:creator>
  <cp:lastModifiedBy>Saurav Gupta</cp:lastModifiedBy>
  <cp:revision>7</cp:revision>
  <dcterms:created xsi:type="dcterms:W3CDTF">2026-07-14T06:00:41Z</dcterms:created>
  <dcterms:modified xsi:type="dcterms:W3CDTF">2026-09-09T05:45:08Z</dcterms:modified>
</cp:coreProperties>
</file>
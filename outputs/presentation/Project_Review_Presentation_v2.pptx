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3" d="100"/>
          <a:sy n="93" d="100"/>
        </p:scale>
        <p:origin x="97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3400" y="633046"/>
            <a:ext cx="7954108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endParaRPr lang="en-US" dirty="0"/>
          </a:p>
          <a:p>
            <a:pPr algn="ctr">
              <a:defRPr sz="1800"/>
            </a:pPr>
            <a:endParaRPr lang="en-US" dirty="0"/>
          </a:p>
          <a:p>
            <a:pPr algn="ctr">
              <a:defRPr sz="1800"/>
            </a:pPr>
            <a:endParaRPr lang="en-US" dirty="0"/>
          </a:p>
          <a:p>
            <a:pPr algn="ctr">
              <a:defRPr sz="1800"/>
            </a:pPr>
            <a:r>
              <a:rPr dirty="0" err="1"/>
              <a:t>Programme</a:t>
            </a:r>
            <a:r>
              <a:rPr dirty="0"/>
              <a:t> </a:t>
            </a:r>
            <a:r>
              <a:rPr dirty="0" err="1"/>
              <a:t>B.Tech</a:t>
            </a:r>
            <a:br>
              <a:rPr dirty="0"/>
            </a:br>
            <a:r>
              <a:rPr lang="en-US" dirty="0"/>
              <a:t>BCSE497J – Project I</a:t>
            </a:r>
            <a:endParaRPr dirty="0"/>
          </a:p>
          <a:p>
            <a:br>
              <a:rPr dirty="0"/>
            </a:br>
            <a:r>
              <a:rPr dirty="0"/>
              <a:t>Fed-</a:t>
            </a:r>
            <a:r>
              <a:rPr dirty="0" err="1"/>
              <a:t>PhenoGraft</a:t>
            </a:r>
            <a:r>
              <a:rPr dirty="0"/>
              <a:t>: Phenotype-Guided Asymmetric Cross-Modal Attention with Shared-Private Latent Decomposition for Federated Multi-Modal Parkinson's Disease Prediction</a:t>
            </a:r>
            <a:br>
              <a:rPr dirty="0"/>
            </a:br>
            <a:endParaRPr dirty="0"/>
          </a:p>
          <a:p>
            <a:pPr>
              <a:defRPr sz="1600" b="1"/>
            </a:pPr>
            <a:r>
              <a:rPr dirty="0"/>
              <a:t>Team members:</a:t>
            </a:r>
            <a:br>
              <a:rPr dirty="0"/>
            </a:br>
            <a:endParaRPr dirty="0"/>
          </a:p>
          <a:p>
            <a:pPr>
              <a:defRPr sz="1600"/>
            </a:pPr>
            <a:r>
              <a:rPr dirty="0"/>
              <a:t>Saurav</a:t>
            </a:r>
            <a:r>
              <a:rPr lang="en-US" dirty="0"/>
              <a:t> Kumar Gupta (23BCE2336)</a:t>
            </a:r>
            <a:br>
              <a:rPr dirty="0"/>
            </a:br>
            <a:r>
              <a:rPr dirty="0"/>
              <a:t>Amit</a:t>
            </a:r>
            <a:r>
              <a:rPr lang="en-US" dirty="0"/>
              <a:t> Adhikari (23BCE2327)</a:t>
            </a:r>
            <a:br>
              <a:rPr dirty="0"/>
            </a:br>
            <a:r>
              <a:rPr dirty="0" err="1"/>
              <a:t>Shreeyam</a:t>
            </a:r>
            <a:r>
              <a:rPr lang="en-US" dirty="0"/>
              <a:t> Acharya (23BCE2330)</a:t>
            </a:r>
            <a:br>
              <a:rPr dirty="0"/>
            </a:br>
            <a:endParaRPr dirty="0"/>
          </a:p>
          <a:p>
            <a:pPr>
              <a:defRPr sz="1600" b="1"/>
            </a:pPr>
            <a:r>
              <a:rPr dirty="0"/>
              <a:t>Faculty guide:</a:t>
            </a:r>
            <a:br>
              <a:rPr dirty="0"/>
            </a:br>
            <a:endParaRPr dirty="0"/>
          </a:p>
          <a:p>
            <a:pPr>
              <a:defRPr sz="1600"/>
            </a:pPr>
            <a:r>
              <a:rPr lang="en-US" dirty="0"/>
              <a:t>Dhivyaa CR</a:t>
            </a:r>
            <a:br>
              <a:rPr dirty="0"/>
            </a:br>
            <a:r>
              <a:rPr lang="en-US" dirty="0"/>
              <a:t>20701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5E4996-42FB-3E72-7088-12FF4B2CA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8249" y="633046"/>
            <a:ext cx="3064409" cy="7348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42900" y="182880"/>
            <a:ext cx="9060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dirty="0"/>
              <a:t>2</a:t>
            </a:r>
            <a:r>
              <a:rPr lang="en-US" dirty="0"/>
              <a:t>9</a:t>
            </a:r>
            <a:r>
              <a:rPr dirty="0"/>
              <a:t>-07-2026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To develop a federated, phenotype-guided multimodal representation learning framework (Fed-PhenoGraft) that improves the prediction of Parkinson's Disease (PD) diagnosis and severity. </a:t>
            </a:r>
            <a:br/>
            <a:br/>
            <a:r>
              <a:t>It achieves this by asymmetrically querying imaging and genetic modalities based on clinical phenotypes, while simultaneously preserving data privacy across multiple clinical sites without centralizing raw patient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9060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dirty="0"/>
              <a:t>2</a:t>
            </a:r>
            <a:r>
              <a:rPr lang="en-US" dirty="0"/>
              <a:t>9</a:t>
            </a:r>
            <a:r>
              <a:rPr dirty="0"/>
              <a:t>-07-2026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Abstract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dirty="0"/>
              <a:t>Parkinson’s Disease (PD) diagnosis benefits significantly from multimodal data (clinical, genetics, MRI, PET). However, existing methods treat modalities symmetrically and require centralized data.</a:t>
            </a:r>
            <a:br>
              <a:rPr dirty="0"/>
            </a:br>
            <a:br>
              <a:rPr dirty="0"/>
            </a:br>
            <a:r>
              <a:rPr dirty="0"/>
              <a:t>We propose Fed-</a:t>
            </a:r>
            <a:r>
              <a:rPr dirty="0" err="1"/>
              <a:t>PhenoGraft</a:t>
            </a:r>
            <a:r>
              <a:rPr dirty="0"/>
              <a:t>, a novel federated learning framework featuring:</a:t>
            </a:r>
            <a:br>
              <a:rPr dirty="0"/>
            </a:br>
            <a:r>
              <a:rPr dirty="0"/>
              <a:t>1. Phenotype-Guided Asymmetric Attention: Clinical phenotypes query relevant structural and genetic features.</a:t>
            </a:r>
            <a:br>
              <a:rPr dirty="0"/>
            </a:br>
            <a:r>
              <a:rPr dirty="0"/>
              <a:t>2. Shared-Private Latent Decomposition: Uses HSIC orthogonality to disentangle disease-relevant info from modality noise.</a:t>
            </a:r>
            <a:br>
              <a:rPr dirty="0"/>
            </a:br>
            <a:br>
              <a:rPr dirty="0"/>
            </a:br>
            <a:r>
              <a:rPr dirty="0"/>
              <a:t>Evaluated on the PPMI cohort, Fed-</a:t>
            </a:r>
            <a:r>
              <a:rPr dirty="0" err="1"/>
              <a:t>PhenoGraft</a:t>
            </a:r>
            <a:r>
              <a:rPr dirty="0"/>
              <a:t> aims to achieve superior prognostic accuracy and patient-specific interpretable biomarkers, all while maintaining privacy via Federated Learning.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9060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dirty="0"/>
              <a:t>2</a:t>
            </a:r>
            <a:r>
              <a:rPr lang="en-US" dirty="0"/>
              <a:t>9</a:t>
            </a:r>
            <a:r>
              <a:rPr dirty="0"/>
              <a:t>-07-2026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739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dirty="0"/>
              <a:t>• Modality Fusion: Combining heterogeneous data (MRI, PET, UPDRS, genetics) from the PPMI database consistently outperforms unimodal approaches for PD progression tracking [1].</a:t>
            </a:r>
            <a:br>
              <a:rPr dirty="0"/>
            </a:br>
            <a:br>
              <a:rPr dirty="0"/>
            </a:br>
            <a:r>
              <a:rPr dirty="0"/>
              <a:t>• Architectural Innovations: Recent models utilize cross-attention modules to align different data modalities and dynamically weight their importance, extracting more informative features [2].</a:t>
            </a:r>
            <a:br>
              <a:rPr dirty="0"/>
            </a:br>
            <a:br>
              <a:rPr dirty="0"/>
            </a:br>
            <a:r>
              <a:rPr dirty="0"/>
              <a:t>• Explainability (XAI): There is an increasing demand for explainable AI frameworks in PD diagnosis to identify affected brain regions and relevant genetic variants, moving away from "black-box" deep learning [3].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B6B190-3903-AA71-CB94-9A7E25FF5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53" y="1463040"/>
            <a:ext cx="8683894" cy="40726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5E0A35A-0C49-B431-4FAC-DD92E18CF2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8" y="855785"/>
            <a:ext cx="8983023" cy="439890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8BA1E5-9F24-FDD8-FABA-0DB3162182C9}"/>
              </a:ext>
            </a:extLst>
          </p:cNvPr>
          <p:cNvSpPr txBox="1"/>
          <p:nvPr/>
        </p:nvSpPr>
        <p:spPr>
          <a:xfrm>
            <a:off x="457200" y="182880"/>
            <a:ext cx="9060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dirty="0"/>
              <a:t>2</a:t>
            </a:r>
            <a:r>
              <a:rPr lang="en-US" dirty="0"/>
              <a:t>9</a:t>
            </a:r>
            <a:r>
              <a:rPr dirty="0"/>
              <a:t>-07-2026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E1AAA9-7A70-FA95-2D6C-48FB8205585B}"/>
              </a:ext>
            </a:extLst>
          </p:cNvPr>
          <p:cNvSpPr txBox="1"/>
          <p:nvPr/>
        </p:nvSpPr>
        <p:spPr>
          <a:xfrm>
            <a:off x="3745523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rPr dirty="0"/>
              <a:t>SCOPE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7C81D5-978F-11DF-0D04-02DEC851B5F1}"/>
              </a:ext>
            </a:extLst>
          </p:cNvPr>
          <p:cNvSpPr txBox="1"/>
          <p:nvPr/>
        </p:nvSpPr>
        <p:spPr>
          <a:xfrm>
            <a:off x="8235462" y="182880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lang="en-US" dirty="0"/>
              <a:t>5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6001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9060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dirty="0"/>
              <a:t>2</a:t>
            </a:r>
            <a:r>
              <a:rPr lang="en-US" dirty="0"/>
              <a:t>9</a:t>
            </a:r>
            <a:r>
              <a:rPr dirty="0"/>
              <a:t>-07-2026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lang="en-US" dirty="0"/>
              <a:t>6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Research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Limited Integration of Multimodal Data</a:t>
            </a:r>
          </a:p>
          <a:p>
            <a:r>
              <a:rPr lang="en-US" sz="1600" dirty="0"/>
              <a:t>Most existing works utilize only one or two modalities (MRI, clinical, or imaging), failing to fully exploit complementary information from MRI, PET, clinical, and genetic data.</a:t>
            </a:r>
          </a:p>
          <a:p>
            <a:endParaRPr lang="en-US" sz="1600" dirty="0"/>
          </a:p>
          <a:p>
            <a:r>
              <a:rPr lang="en-US" dirty="0"/>
              <a:t>•</a:t>
            </a:r>
            <a:r>
              <a:rPr lang="en-US" b="1" dirty="0"/>
              <a:t> </a:t>
            </a:r>
            <a:r>
              <a:rPr lang="en-US" dirty="0"/>
              <a:t>Poor Handling of Incomplete Multimodal Data</a:t>
            </a:r>
          </a:p>
          <a:p>
            <a:r>
              <a:rPr lang="en-US" sz="1600" dirty="0"/>
              <a:t>Most multimodal models assume complete patient records, whereas real-world clinical datasets frequently contain missing imaging or clinical modalities, reducing model applicability.</a:t>
            </a:r>
          </a:p>
          <a:p>
            <a:endParaRPr lang="en-US" sz="1600" dirty="0"/>
          </a:p>
          <a:p>
            <a:r>
              <a:rPr lang="en-US" dirty="0"/>
              <a:t>• Lack of Longitudinal Disease Progression Modeling</a:t>
            </a:r>
          </a:p>
          <a:p>
            <a:r>
              <a:rPr lang="en-US" sz="1600" dirty="0"/>
              <a:t>Current studies primarily focus on diagnosis, staging, or medication recommendation, with limited emphasis on modeling the temporal progression of Parkinson's disease.</a:t>
            </a:r>
          </a:p>
          <a:p>
            <a:endParaRPr lang="en-US" sz="1600" dirty="0"/>
          </a:p>
          <a:p>
            <a:r>
              <a:rPr lang="en-US" sz="1600" dirty="0"/>
              <a:t>• </a:t>
            </a:r>
            <a:r>
              <a:rPr lang="en-US" dirty="0"/>
              <a:t>Limited Use of Digital Twin Technology</a:t>
            </a:r>
          </a:p>
          <a:p>
            <a:r>
              <a:rPr lang="en-US" sz="1600" dirty="0"/>
              <a:t>Digital Twin approaches have mainly been applied to rehabilitation management, with little integration into predictive disease progression or personalized clinical decision support.</a:t>
            </a:r>
          </a:p>
          <a:p>
            <a:br>
              <a:rPr lang="en-US" dirty="0"/>
            </a:b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9060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dirty="0"/>
              <a:t>2</a:t>
            </a:r>
            <a:r>
              <a:rPr lang="en-US" dirty="0"/>
              <a:t>9</a:t>
            </a:r>
            <a:r>
              <a:rPr dirty="0"/>
              <a:t>-07-2026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lang="en-US" dirty="0"/>
              <a:t>7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rPr dirty="0"/>
              <a:t>1. To design a Phenotype-Guided Asymmetric Attention mechanism where clinical features selectively query MRI, PET, and genetics.</a:t>
            </a:r>
            <a:br>
              <a:rPr dirty="0"/>
            </a:br>
            <a:br>
              <a:rPr dirty="0"/>
            </a:br>
            <a:r>
              <a:rPr dirty="0"/>
              <a:t>2. To implement a Shared-Private Latent Decomposition using HSIC orthogonality to disentangle disease biomarkers from noise.</a:t>
            </a:r>
            <a:br>
              <a:rPr dirty="0"/>
            </a:br>
            <a:br>
              <a:rPr dirty="0"/>
            </a:br>
            <a:r>
              <a:rPr dirty="0"/>
              <a:t>3. To build a federated learning pipeline (</a:t>
            </a:r>
            <a:r>
              <a:rPr dirty="0" err="1"/>
              <a:t>FedAvg</a:t>
            </a:r>
            <a:r>
              <a:rPr dirty="0"/>
              <a:t>) that trains across multiple clinical sites without centralizing raw data.</a:t>
            </a:r>
            <a:br>
              <a:rPr dirty="0"/>
            </a:br>
            <a:br>
              <a:rPr dirty="0"/>
            </a:br>
            <a:r>
              <a:rPr dirty="0"/>
              <a:t>4. To incorporate robustness features (learned mask tokens for missing modalities, Monte Carlo Dropout for uncertainty).</a:t>
            </a:r>
            <a:br>
              <a:rPr dirty="0"/>
            </a:br>
            <a:br>
              <a:rPr dirty="0"/>
            </a:br>
            <a:r>
              <a:rPr dirty="0"/>
              <a:t>5. To provide a multi-level explainability suite (Attention Maps, Integrated Gradients, Counterfactuals).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9060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dirty="0"/>
              <a:t>2</a:t>
            </a:r>
            <a:r>
              <a:rPr lang="en-US" dirty="0"/>
              <a:t>9</a:t>
            </a:r>
            <a:r>
              <a:rPr dirty="0"/>
              <a:t>-07-2026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lang="en-US" dirty="0"/>
              <a:t>8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77724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rPr dirty="0"/>
              <a:t>Identified: Sustainable Development Goals &amp;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rPr dirty="0"/>
              <a:t>Identified: Sustainable Development Goals</a:t>
            </a:r>
          </a:p>
          <a:p>
            <a:pPr>
              <a:defRPr sz="1800"/>
            </a:pPr>
            <a:r>
              <a:rPr dirty="0"/>
              <a:t>• SDG 3: Good Health and Well-being (Improving diagnostic accuracy and personalized treatment for Parkinson's Disease)</a:t>
            </a:r>
            <a:br>
              <a:rPr dirty="0"/>
            </a:br>
            <a:r>
              <a:rPr dirty="0"/>
              <a:t>• SDG 9: Industry, Innovation, and Infrastructure (Developing advanced, privacy-preserving AI infrastructure for healthcare)</a:t>
            </a:r>
            <a:br>
              <a:rPr dirty="0"/>
            </a:br>
            <a:endParaRPr dirty="0"/>
          </a:p>
          <a:p>
            <a:pPr>
              <a:defRPr sz="2000" b="1"/>
            </a:pPr>
            <a:r>
              <a:rPr dirty="0"/>
              <a:t>Outcomes</a:t>
            </a:r>
          </a:p>
          <a:p>
            <a:pPr>
              <a:defRPr sz="1800"/>
            </a:pPr>
            <a:r>
              <a:rPr dirty="0"/>
              <a:t>• Journal (Scopus): Target publication in high-impact Q1 journals (e.g., IEEE JBHI, Elsevier Computers in Biology and Medicine).</a:t>
            </a:r>
            <a:br>
              <a:rPr dirty="0"/>
            </a:br>
            <a:r>
              <a:rPr dirty="0"/>
              <a:t>• Product/Others: A robust, federated AI framework applicable to other multimodal neurodegenerative datasets.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90601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dirty="0"/>
              <a:t>2</a:t>
            </a:r>
            <a:r>
              <a:rPr lang="en-US" dirty="0"/>
              <a:t>9</a:t>
            </a:r>
            <a:r>
              <a:rPr dirty="0"/>
              <a:t>-07-2026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0" y="1828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82880"/>
            <a:ext cx="26321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/>
            </a:pPr>
            <a:r>
              <a:rPr lang="en-US" dirty="0"/>
              <a:t>9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22385" y="555088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2385" y="1201615"/>
            <a:ext cx="8053753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[1] A. </a:t>
            </a:r>
            <a:r>
              <a:rPr lang="en-US" sz="1600" dirty="0" err="1"/>
              <a:t>Vamvakas</a:t>
            </a:r>
            <a:r>
              <a:rPr lang="en-US" sz="1600" dirty="0"/>
              <a:t>, T. Van </a:t>
            </a:r>
            <a:r>
              <a:rPr lang="en-US" sz="1600" dirty="0" err="1"/>
              <a:t>Balkom</a:t>
            </a:r>
            <a:r>
              <a:rPr lang="en-US" sz="1600" dirty="0"/>
              <a:t>, G. Van Wingen, et al., "Prediction of impulse control disorders in Parkinson's disease through a longitudinal machine learning study," </a:t>
            </a:r>
            <a:r>
              <a:rPr lang="en-US" sz="1600" dirty="0" err="1"/>
              <a:t>npj</a:t>
            </a:r>
            <a:r>
              <a:rPr lang="en-US" sz="1600" dirty="0"/>
              <a:t> Parkinson's Disease, vol. 12, p. 38, 2026.</a:t>
            </a:r>
          </a:p>
          <a:p>
            <a:endParaRPr lang="en-US" sz="1600" dirty="0"/>
          </a:p>
          <a:p>
            <a:r>
              <a:rPr lang="en-US" sz="1600" dirty="0"/>
              <a:t>[2] S. W. Akram and C. K, "Enhancing Parkinson's Disease Staging: An Integrative Deep Learning Framework for Multimodal Feature Selection," Journal of Molecular Neuroscience, 2026.</a:t>
            </a:r>
          </a:p>
          <a:p>
            <a:endParaRPr lang="en-US" sz="1600" dirty="0"/>
          </a:p>
          <a:p>
            <a:r>
              <a:rPr lang="en-US" sz="1600" dirty="0"/>
              <a:t>[3] V. Awasthi et al., "</a:t>
            </a:r>
            <a:r>
              <a:rPr lang="en-US" sz="1600" dirty="0" err="1"/>
              <a:t>HyCoSwin</a:t>
            </a:r>
            <a:r>
              <a:rPr lang="en-US" sz="1600" dirty="0"/>
              <a:t>-PD: An Explainable Hybrid ConvNeXtV2-Swin Transformer Framework for Parkinson's Disease Detection from Neuroimaging," </a:t>
            </a:r>
            <a:r>
              <a:rPr lang="en-US" sz="1600" dirty="0" err="1"/>
              <a:t>MethodsX</a:t>
            </a:r>
            <a:r>
              <a:rPr lang="en-US" sz="1600" dirty="0"/>
              <a:t>, vol. 16, 2026.</a:t>
            </a:r>
          </a:p>
          <a:p>
            <a:endParaRPr lang="en-US" sz="1600" dirty="0"/>
          </a:p>
          <a:p>
            <a:r>
              <a:rPr lang="en-US" sz="1600" dirty="0"/>
              <a:t>[4] T. Zhi et al., "</a:t>
            </a:r>
            <a:r>
              <a:rPr lang="en-US" sz="1600" dirty="0" err="1"/>
              <a:t>MultimodalCNN</a:t>
            </a:r>
            <a:r>
              <a:rPr lang="en-US" sz="1600" dirty="0"/>
              <a:t>-PD: A Parkinson's Disease Diagnostics Framework Using Multimodal Convolutional Neural Network," Frontiers in Aging Neuroscience, vol. 18, 2026.</a:t>
            </a:r>
          </a:p>
          <a:p>
            <a:endParaRPr lang="en-US" sz="1600" dirty="0"/>
          </a:p>
          <a:p>
            <a:r>
              <a:rPr lang="en-US" sz="1600" dirty="0"/>
              <a:t>[5] J. Qin, Y. Cai, Z. Wang, J. Jin, X. Huang, and L. Pei, "Design of a Parkinson's Rehabilitation Management System Based on Multimodal Learning and Digital Twin Technology," in Proc. IEEE Smart World Congress (SWC), Nadi, Fiji, 2024, pp. 2073-2080.</a:t>
            </a:r>
          </a:p>
          <a:p>
            <a:endParaRPr lang="en-US" sz="1600" dirty="0"/>
          </a:p>
          <a:p>
            <a:r>
              <a:rPr lang="en-US" sz="1600" dirty="0"/>
              <a:t>[6] H. Kim, C. Park, J. Hoon Kim, S. Jang, and H. K. Lee, "Multimodal Reinforcement Learning for Embedding Networks and Medication Recommendation in Parkinson's Disease," IEEE Access, vol. 12, pp. 74251-74267, 2024.</a:t>
            </a:r>
          </a:p>
          <a:p>
            <a:br>
              <a:rPr lang="en-US" sz="1600" dirty="0"/>
            </a:br>
            <a:endParaRPr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985</Words>
  <Application>Microsoft Office PowerPoint</Application>
  <PresentationFormat>On-screen Show (4:3)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Saurav Gupta</cp:lastModifiedBy>
  <cp:revision>6</cp:revision>
  <dcterms:created xsi:type="dcterms:W3CDTF">2013-01-27T09:14:16Z</dcterms:created>
  <dcterms:modified xsi:type="dcterms:W3CDTF">2026-09-08T17:40:43Z</dcterms:modified>
  <cp:category/>
</cp:coreProperties>
</file>
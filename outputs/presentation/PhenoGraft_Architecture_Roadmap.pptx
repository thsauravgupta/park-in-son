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7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645920"/>
            <a:ext cx="73152" cy="3291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9601200" cy="23801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4800" b="1">
                <a:solidFill>
                  <a:srgbClr val="D97706"/>
                </a:solidFill>
                <a:latin typeface="Trebuchet MS"/>
              </a:defRPr>
            </a:pPr>
            <a:r>
              <a:rPr lang="en-US" dirty="0"/>
              <a:t>Fed-</a:t>
            </a:r>
            <a:r>
              <a:rPr dirty="0" err="1"/>
              <a:t>PhenoGraft</a:t>
            </a:r>
            <a:endParaRPr dirty="0"/>
          </a:p>
          <a:p>
            <a:pPr>
              <a:spcAft>
                <a:spcPts val="2000"/>
              </a:spcAft>
              <a:defRPr sz="2000" b="0">
                <a:solidFill>
                  <a:srgbClr val="F1F5F9"/>
                </a:solidFill>
                <a:latin typeface="Arial"/>
              </a:defRPr>
            </a:pPr>
            <a:r>
              <a:rPr lang="en-US" dirty="0"/>
              <a:t>Fed-</a:t>
            </a:r>
            <a:r>
              <a:rPr lang="en-US" dirty="0" err="1"/>
              <a:t>PhenoGraft</a:t>
            </a:r>
            <a:r>
              <a:rPr lang="en-US" dirty="0"/>
              <a:t>: Phenotype-Guided Asymmetric Cross-Modal Attention with Shared-Private Latent Decomposition for Federated Multi-Modal Parkinson's Disease Prediction			</a:t>
            </a:r>
            <a:br>
              <a:rPr lang="en-US" dirty="0"/>
            </a:br>
            <a:r>
              <a:rPr dirty="0"/>
              <a:t>Target Journals: IEEE JBHI  ·  Elsevier Computers in Biology and Medicine  ·  IEEE TMI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5303520"/>
            <a:ext cx="20116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534924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D97706"/>
                </a:solidFill>
                <a:latin typeface="Trebuchet MS"/>
              </a:defRPr>
            </a:pPr>
            <a:r>
              <a:t>3,551</a:t>
            </a:r>
          </a:p>
          <a:p>
            <a:pPr>
              <a:spcAft>
                <a:spcPts val="600"/>
              </a:spcAft>
              <a:defRPr sz="1100" b="0">
                <a:solidFill>
                  <a:srgbClr val="94A3B8"/>
                </a:solidFill>
                <a:latin typeface="Arial"/>
              </a:defRPr>
            </a:pPr>
            <a:r>
              <a:t>Patients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5303520"/>
            <a:ext cx="20116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0" y="534924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D97706"/>
                </a:solidFill>
                <a:latin typeface="Trebuchet MS"/>
              </a:defRPr>
            </a:pPr>
            <a:r>
              <a:t>4</a:t>
            </a:r>
          </a:p>
          <a:p>
            <a:pPr>
              <a:spcAft>
                <a:spcPts val="600"/>
              </a:spcAft>
              <a:defRPr sz="1100" b="0">
                <a:solidFill>
                  <a:srgbClr val="94A3B8"/>
                </a:solidFill>
                <a:latin typeface="Arial"/>
              </a:defRPr>
            </a:pPr>
            <a:r>
              <a:t>Modalities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5303520"/>
            <a:ext cx="20116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0" y="539496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D97706"/>
                </a:solidFill>
                <a:latin typeface="Trebuchet MS"/>
              </a:defRPr>
            </a:pPr>
            <a:r>
              <a:t>14+1</a:t>
            </a:r>
          </a:p>
          <a:p>
            <a:pPr>
              <a:spcAft>
                <a:spcPts val="600"/>
              </a:spcAft>
              <a:defRPr sz="1100" b="0">
                <a:solidFill>
                  <a:srgbClr val="94A3B8"/>
                </a:solidFill>
                <a:latin typeface="Arial"/>
              </a:defRPr>
            </a:pPr>
            <a:r>
              <a:t>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5303520"/>
            <a:ext cx="20116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534924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D97706"/>
                </a:solidFill>
                <a:latin typeface="Trebuchet MS"/>
              </a:defRPr>
            </a:pPr>
            <a:r>
              <a:t>9</a:t>
            </a:r>
          </a:p>
          <a:p>
            <a:pPr>
              <a:spcAft>
                <a:spcPts val="600"/>
              </a:spcAft>
              <a:defRPr sz="1100" b="0">
                <a:solidFill>
                  <a:srgbClr val="94A3B8"/>
                </a:solidFill>
                <a:latin typeface="Arial"/>
              </a:defRPr>
            </a:pPr>
            <a:r>
              <a:t>Ablations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Central Scientific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rPr dirty="0"/>
              <a:t>The testable claim that drives every architectural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10820095" cy="1463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102412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Trebuchet MS"/>
              </a:defRPr>
            </a:pPr>
            <a:r>
              <a:rPr dirty="0"/>
              <a:t>"Clinical phenotypes selectively determine which structural brain regions and genetic variants are diagnostically relevant."</a:t>
            </a:r>
          </a:p>
          <a:p>
            <a:pPr>
              <a:spcAft>
                <a:spcPts val="600"/>
              </a:spcAft>
              <a:defRPr sz="1200" b="0">
                <a:solidFill>
                  <a:srgbClr val="475569"/>
                </a:solidFill>
                <a:latin typeface="Arial"/>
              </a:defRPr>
            </a:pPr>
            <a:r>
              <a:rPr dirty="0"/>
              <a:t>Rather than treating all modalities symmetrically, the clinical presentation of a patient should guide and query the imaging and genetic modalities to extract patient-specific, phenotype-relevant features.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3383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384048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794760"/>
            <a:ext cx="288036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D9488"/>
                </a:solidFill>
                <a:latin typeface="Trebuchet MS"/>
              </a:defRPr>
            </a:pPr>
            <a:r>
              <a:t>Biologically Grounded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t>Mirrors how neurologists reason: symptoms guide which brain regions to examine in imaging. A patient with tremor → putamen focus. A patient with cognitive decline → hippocampus focus.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657600"/>
            <a:ext cx="3383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0" y="3840480"/>
            <a:ext cx="54864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79" y="3794760"/>
            <a:ext cx="288036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7706"/>
                </a:solidFill>
                <a:latin typeface="Trebuchet MS"/>
              </a:defRPr>
            </a:pPr>
            <a:r>
              <a:t>Testable via Ablation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t>We can directly test this by replacing the phenotype-guided asymmetric attention with symmetric self-attention (Ablation A1). If accuracy drops, the hypothesis is validated.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3657600"/>
            <a:ext cx="3383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21040" y="3840480"/>
            <a:ext cx="54864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19" y="3794760"/>
            <a:ext cx="288036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6366F1"/>
                </a:solidFill>
                <a:latin typeface="Trebuchet MS"/>
              </a:defRPr>
            </a:pPr>
            <a:r>
              <a:t>Novel in Literature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t>Existing multimodal transformers (ViLT, MMTM, etc.) treat all modalities as equal peers. No prior work on PD uses directed phenotype-to-brain attention querying.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9272" y="342900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PhenoGraft — Full Architecture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6 stages from raw inputs to uncertainty-calibrated predictions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66420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664208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57276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1481328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  <a:latin typeface="Trebuchet MS"/>
              </a:defRPr>
            </a:pPr>
            <a:r>
              <a:rPr dirty="0"/>
              <a:t>Pluggable</a:t>
            </a:r>
            <a:br>
              <a:rPr dirty="0"/>
            </a:br>
            <a:r>
              <a:rPr dirty="0"/>
              <a:t>Modality</a:t>
            </a:r>
            <a:br>
              <a:rPr dirty="0"/>
            </a:br>
            <a:r>
              <a:rPr dirty="0"/>
              <a:t>Encoders</a:t>
            </a:r>
          </a:p>
          <a:p>
            <a:pPr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rPr dirty="0"/>
              <a:t>MLP / GCN / GAT</a:t>
            </a:r>
            <a:br>
              <a:rPr dirty="0"/>
            </a:br>
            <a:r>
              <a:rPr dirty="0"/>
              <a:t>each → 64-dim</a:t>
            </a:r>
            <a:br>
              <a:rPr dirty="0"/>
            </a:br>
            <a:r>
              <a:rPr dirty="0"/>
              <a:t>(Swappable for</a:t>
            </a:r>
            <a:br>
              <a:rPr dirty="0"/>
            </a:br>
            <a:r>
              <a:rPr dirty="0"/>
              <a:t>3D-CNN later)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85416" y="3657600"/>
            <a:ext cx="1645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475569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828800"/>
            <a:ext cx="166420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331720" y="1828800"/>
            <a:ext cx="1664208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77439" y="1874519"/>
            <a:ext cx="157276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Stage 1b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468880"/>
            <a:ext cx="1481328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59669"/>
                </a:solidFill>
                <a:latin typeface="Trebuchet MS"/>
              </a:defRPr>
            </a:pPr>
            <a:r>
              <a:t>Missing</a:t>
            </a:r>
            <a:br/>
            <a:r>
              <a:t>Modality</a:t>
            </a:r>
            <a:br/>
            <a:r>
              <a:t>Handler</a:t>
            </a:r>
          </a:p>
          <a:p>
            <a:pPr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Learned Mask</a:t>
            </a:r>
            <a:br/>
            <a:r>
              <a:t>Tokens +</a:t>
            </a:r>
            <a:br/>
            <a:r>
              <a:t>Reliability Gate</a:t>
            </a:r>
            <a:br/>
            <a:r>
              <a:t>α_m ∈ [0,1]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4215" y="3657600"/>
            <a:ext cx="1645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475569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828800"/>
            <a:ext cx="166420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60520" y="1828800"/>
            <a:ext cx="1664208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06240" y="1874519"/>
            <a:ext cx="157276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Stage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59" y="2468880"/>
            <a:ext cx="1481328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  <a:latin typeface="Trebuchet MS"/>
              </a:defRPr>
            </a:pPr>
            <a:r>
              <a:t>Phenotype-</a:t>
            </a:r>
            <a:br/>
            <a:r>
              <a:t>Guided</a:t>
            </a:r>
            <a:br/>
            <a:r>
              <a:t>Attention</a:t>
            </a:r>
          </a:p>
          <a:p>
            <a:pPr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Clinical → Queries</a:t>
            </a:r>
            <a:br/>
            <a:r>
              <a:t>MRI/PET/Gen →</a:t>
            </a:r>
            <a:br/>
            <a:r>
              <a:t>Keys &amp; Values</a:t>
            </a:r>
            <a:br/>
            <a:r>
              <a:t>(CORE NOVELTY)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3016" y="3657600"/>
            <a:ext cx="1645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475569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1828800"/>
            <a:ext cx="166420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89320" y="1828800"/>
            <a:ext cx="1664208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40" y="1874519"/>
            <a:ext cx="157276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Stage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2468880"/>
            <a:ext cx="1481328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6366F1"/>
                </a:solidFill>
                <a:latin typeface="Trebuchet MS"/>
              </a:defRPr>
            </a:pPr>
            <a:r>
              <a:rPr dirty="0"/>
              <a:t>Pairwise</a:t>
            </a:r>
            <a:br>
              <a:rPr dirty="0"/>
            </a:br>
            <a:r>
              <a:rPr dirty="0"/>
              <a:t>Cross-Modal</a:t>
            </a:r>
            <a:br>
              <a:rPr dirty="0"/>
            </a:br>
            <a:r>
              <a:rPr dirty="0"/>
              <a:t>Interaction</a:t>
            </a:r>
          </a:p>
          <a:p>
            <a:pPr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rPr dirty="0" err="1"/>
              <a:t>Clin↔MRI</a:t>
            </a:r>
            <a:br>
              <a:rPr dirty="0"/>
            </a:br>
            <a:r>
              <a:rPr dirty="0" err="1"/>
              <a:t>Clin↔Gen</a:t>
            </a:r>
            <a:br>
              <a:rPr dirty="0"/>
            </a:br>
            <a:r>
              <a:rPr dirty="0"/>
              <a:t>MRI↔PET</a:t>
            </a:r>
            <a:br>
              <a:rPr dirty="0"/>
            </a:br>
            <a:r>
              <a:rPr dirty="0"/>
              <a:t>(3 modules)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1815" y="3657600"/>
            <a:ext cx="1645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475569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1828800"/>
            <a:ext cx="166420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818120" y="1828800"/>
            <a:ext cx="1664208" cy="5029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0" y="1874519"/>
            <a:ext cx="157276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Stage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2468880"/>
            <a:ext cx="1481328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11D48"/>
                </a:solidFill>
                <a:latin typeface="Trebuchet MS"/>
              </a:defRPr>
            </a:pPr>
            <a:r>
              <a:rPr dirty="0"/>
              <a:t>Shared-Private</a:t>
            </a:r>
            <a:br>
              <a:rPr dirty="0"/>
            </a:br>
            <a:r>
              <a:rPr dirty="0"/>
              <a:t>Latent</a:t>
            </a:r>
            <a:br>
              <a:rPr dirty="0"/>
            </a:br>
            <a:r>
              <a:rPr dirty="0"/>
              <a:t>Decomposition</a:t>
            </a:r>
          </a:p>
          <a:p>
            <a:pPr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rPr dirty="0" err="1"/>
              <a:t>z_shared</a:t>
            </a:r>
            <a:r>
              <a:rPr dirty="0"/>
              <a:t> ⊥ </a:t>
            </a:r>
            <a:r>
              <a:rPr dirty="0" err="1"/>
              <a:t>z_priv</a:t>
            </a:r>
            <a:br>
              <a:rPr dirty="0"/>
            </a:br>
            <a:r>
              <a:rPr dirty="0"/>
              <a:t>HSIC Loss</a:t>
            </a:r>
            <a:br>
              <a:rPr dirty="0"/>
            </a:br>
            <a:r>
              <a:rPr dirty="0"/>
              <a:t>(Dual-Twin</a:t>
            </a:r>
            <a:br>
              <a:rPr dirty="0"/>
            </a:br>
            <a:r>
              <a:rPr dirty="0"/>
              <a:t>Meaning)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6" y="3657600"/>
            <a:ext cx="1645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475569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46920" y="1828800"/>
            <a:ext cx="166420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646920" y="1828800"/>
            <a:ext cx="1664208" cy="50292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92640" y="1874519"/>
            <a:ext cx="157276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Stage 5+6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2468880"/>
            <a:ext cx="1481328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75569"/>
                </a:solidFill>
                <a:latin typeface="Trebuchet MS"/>
              </a:defRPr>
            </a:pPr>
            <a:r>
              <a:t>Pretraining</a:t>
            </a:r>
            <a:br/>
            <a:r>
              <a:t>+ Multi-Task</a:t>
            </a:r>
            <a:br/>
            <a:r>
              <a:t>Prediction</a:t>
            </a:r>
          </a:p>
          <a:p>
            <a:pPr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Cross-Modal</a:t>
            </a:r>
            <a:br/>
            <a:r>
              <a:t>Masked Pred.</a:t>
            </a:r>
            <a:br/>
            <a:r>
              <a:t>PD/HC + UPDRS</a:t>
            </a:r>
            <a:br/>
            <a:r>
              <a:t>+ Uncertainty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Stage 2: Phenotype-Guided Attention — The Core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Asymmetric, directed attention that mirrors clinical reasoning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64323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11D48"/>
                </a:solidFill>
                <a:latin typeface="Trebuchet MS"/>
              </a:defRPr>
            </a:pPr>
            <a:r>
              <a:t>Standard Symmetric Approach</a:t>
            </a:r>
          </a:p>
          <a:p>
            <a:pPr>
              <a:spcAft>
                <a:spcPts val="16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t>Clinical ↔ MRI ↔ Genetics ↔ PET</a:t>
            </a:r>
            <a:br/>
            <a:br/>
            <a:r>
              <a:t>All modalities attend to each other equally.</a:t>
            </a:r>
            <a:br/>
            <a:r>
              <a:t>No direction, no clinical reasoning hierarchy.</a:t>
            </a:r>
            <a:br/>
            <a:r>
              <a:t>Every modality is a peer.</a:t>
            </a:r>
          </a:p>
          <a:p>
            <a:pPr>
              <a:spcAft>
                <a:spcPts val="800"/>
              </a:spcAft>
              <a:defRPr sz="1500" b="1">
                <a:solidFill>
                  <a:srgbClr val="059669"/>
                </a:solidFill>
                <a:latin typeface="Trebuchet MS"/>
              </a:defRPr>
            </a:pPr>
            <a:r>
              <a:t>Our Phenotype-Guided Approach</a:t>
            </a:r>
          </a:p>
          <a:p>
            <a:pPr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Clinical Phenotype</a:t>
            </a:r>
            <a:br/>
            <a:r>
              <a:t>        │</a:t>
            </a:r>
            <a:br/>
            <a:r>
              <a:t>        ▼</a:t>
            </a:r>
            <a:br/>
            <a:r>
              <a:t>Query Generator: Q = W_q · h_clinical</a:t>
            </a:r>
            <a:br/>
            <a:r>
              <a:t>        │</a:t>
            </a:r>
            <a:br/>
            <a:r>
              <a:t>        ▼</a:t>
            </a:r>
            <a:br/>
            <a:r>
              <a:t>MRI → Keys/Values</a:t>
            </a:r>
            <a:br/>
            <a:r>
              <a:t>PET → Keys/Values</a:t>
            </a:r>
            <a:br/>
            <a:r>
              <a:t>Genetics → Keys/Values</a:t>
            </a:r>
            <a:br/>
            <a:r>
              <a:t>        │</a:t>
            </a:r>
            <a:br/>
            <a:r>
              <a:t>        ▼</a:t>
            </a:r>
            <a:br/>
            <a:r>
              <a:t>Patient-Specific Phenotype-Guided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82880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5080" y="1965960"/>
            <a:ext cx="49377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D9488"/>
                </a:solidFill>
                <a:latin typeface="Trebuchet MS"/>
              </a:defRPr>
            </a:pPr>
            <a:r>
              <a:rPr dirty="0"/>
              <a:t>Why This Is Novel &amp; Powerful</a:t>
            </a:r>
          </a:p>
          <a:p>
            <a:pPr>
              <a:spcAft>
                <a:spcPts val="200"/>
              </a:spcAft>
              <a:defRPr sz="1200" b="1">
                <a:solidFill>
                  <a:srgbClr val="D97706"/>
                </a:solidFill>
                <a:latin typeface="Arial"/>
              </a:defRPr>
            </a:pPr>
            <a:r>
              <a:rPr dirty="0"/>
              <a:t>★ Mirrors Clinical Reasoning</a:t>
            </a:r>
          </a:p>
          <a:p>
            <a:pPr>
              <a:spcAft>
                <a:spcPts val="8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rPr dirty="0"/>
              <a:t>Neurologists use symptom presentation to decide which brain regions to examine. Our model does the same computationally.</a:t>
            </a:r>
          </a:p>
          <a:p>
            <a:pPr>
              <a:spcAft>
                <a:spcPts val="200"/>
              </a:spcAft>
              <a:defRPr sz="1200" b="1">
                <a:solidFill>
                  <a:srgbClr val="D97706"/>
                </a:solidFill>
                <a:latin typeface="Arial"/>
              </a:defRPr>
            </a:pPr>
            <a:r>
              <a:rPr dirty="0"/>
              <a:t>★ Patient-Specific Focus</a:t>
            </a:r>
          </a:p>
          <a:p>
            <a:pPr>
              <a:spcAft>
                <a:spcPts val="8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rPr dirty="0"/>
              <a:t>A tremor-dominant patient's queries will attend heavily to putamen (PET) and motor cortex (MRI). A cognitively impaired patient queries hippocampus and temporal lobe.</a:t>
            </a:r>
          </a:p>
          <a:p>
            <a:pPr>
              <a:spcAft>
                <a:spcPts val="200"/>
              </a:spcAft>
              <a:defRPr sz="1200" b="1">
                <a:solidFill>
                  <a:srgbClr val="D97706"/>
                </a:solidFill>
                <a:latin typeface="Arial"/>
              </a:defRPr>
            </a:pPr>
            <a:r>
              <a:rPr dirty="0"/>
              <a:t>★ Built-In Explainability</a:t>
            </a:r>
          </a:p>
          <a:p>
            <a:pPr>
              <a:spcAft>
                <a:spcPts val="8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rPr dirty="0"/>
              <a:t>The attention weights ARE the explanation. No post-hoc SHAP needed — the model directly shows which brain region was queried for each symptom.</a:t>
            </a:r>
          </a:p>
          <a:p>
            <a:pPr>
              <a:spcAft>
                <a:spcPts val="200"/>
              </a:spcAft>
              <a:defRPr sz="1200" b="1">
                <a:solidFill>
                  <a:srgbClr val="D97706"/>
                </a:solidFill>
                <a:latin typeface="Arial"/>
              </a:defRPr>
            </a:pPr>
            <a:r>
              <a:rPr dirty="0"/>
              <a:t>★ Testable Hypothesis</a:t>
            </a:r>
          </a:p>
          <a:p>
            <a:pPr>
              <a:spcAft>
                <a:spcPts val="8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rPr dirty="0"/>
              <a:t>Ablation A1: Replace with symmetric attention. If accuracy drops → hypothesis validated → reviewers satisfied.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Stage 4: Shared-Private Latent Decomposition — "Dual-Twin" with Meaning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Two mathematically orthogonal latent spaces enforced via HSIC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383280" cy="43891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3017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D9488"/>
                </a:solidFill>
                <a:latin typeface="Trebuchet MS"/>
              </a:defRPr>
            </a:pPr>
            <a:r>
              <a:t>Shared Disease Space</a:t>
            </a:r>
          </a:p>
          <a:p>
            <a:pPr>
              <a:spcAft>
                <a:spcPts val="10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z_shared = g_shared(x_fused)</a:t>
            </a:r>
          </a:p>
          <a:p>
            <a:pPr>
              <a:spcAft>
                <a:spcPts val="8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t>Captures information COMMON across all modalities relevant to disease: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Diagnosis (PD vs HC)</a:t>
            </a:r>
            <a:br/>
            <a:r>
              <a:t>• Disease severity (UPDRS-III)</a:t>
            </a:r>
            <a:br/>
            <a:r>
              <a:t>• Progression trajectory</a:t>
            </a:r>
            <a:br/>
            <a:br/>
            <a:r>
              <a:t>This is where classification and regression heads operate.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1965960"/>
            <a:ext cx="31089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11D48"/>
                </a:solidFill>
                <a:latin typeface="Trebuchet MS"/>
              </a:defRPr>
            </a:pPr>
            <a:r>
              <a:t>Orthogonality Constraint</a:t>
            </a:r>
          </a:p>
          <a:p>
            <a:pPr>
              <a:spcAft>
                <a:spcPts val="1200"/>
              </a:spcAft>
              <a:defRPr sz="1800" b="1">
                <a:solidFill>
                  <a:srgbClr val="E11D48"/>
                </a:solidFill>
                <a:latin typeface="Trebuchet MS"/>
              </a:defRPr>
            </a:pPr>
            <a:r>
              <a:t>z_shared  ⊥  z_private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Enforced via HSIC Loss:</a:t>
            </a:r>
          </a:p>
          <a:p>
            <a:pPr>
              <a:spcAft>
                <a:spcPts val="10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L_orth = Σ_m HSIC(z_shared, z_private^(m))</a:t>
            </a:r>
          </a:p>
          <a:p>
            <a:pPr>
              <a:spcAft>
                <a:spcPts val="8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t>Minimizing L_orth forces the shared space to contain ONLY disease-relevant features, while private spaces capture modality-specific biology.</a:t>
            </a:r>
          </a:p>
          <a:p>
            <a:pPr>
              <a:spcAft>
                <a:spcPts val="400"/>
              </a:spcAft>
              <a:defRPr sz="1100" b="0">
                <a:solidFill>
                  <a:srgbClr val="475569"/>
                </a:solidFill>
                <a:latin typeface="Arial"/>
              </a:defRPr>
            </a:pPr>
            <a:r>
              <a:t>This gives "Dual-Twin" genuine mathematical meaning: the two twins are Shared and Private projections of the same patient.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828800"/>
            <a:ext cx="3383280" cy="4389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1965960"/>
            <a:ext cx="3017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97706"/>
                </a:solidFill>
                <a:latin typeface="Trebuchet MS"/>
              </a:defRPr>
            </a:pPr>
            <a:r>
              <a:t>Modality-Private Spaces</a:t>
            </a:r>
          </a:p>
          <a:p>
            <a:pPr>
              <a:spcAft>
                <a:spcPts val="10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z_private^(m) = g_priv^(m)(h_m)</a:t>
            </a:r>
          </a:p>
          <a:p>
            <a:pPr>
              <a:spcAft>
                <a:spcPts val="8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t>Captures modality-specific biology that should NOT leak: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z_priv^MRI: Brain morphology unrelated to PD (e.g., head size)</a:t>
            </a:r>
            <a:br/>
            <a:r>
              <a:t>• z_priv^PET: Scanner-specific noise</a:t>
            </a:r>
            <a:br/>
            <a:r>
              <a:t>• z_priv^Gen: Population-specific variants</a:t>
            </a:r>
            <a:br/>
            <a:r>
              <a:t>• z_priv^Clin: Reporting bias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Robustness Features: Missing Data, Uncertainty &amp; Self-Supervised Pretraining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Three features that elevate the paper from engineering to science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  <a:latin typeface="Trebuchet MS"/>
              </a:defRPr>
            </a:pPr>
            <a:r>
              <a:t>Missing Modality Handler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Arial"/>
              </a:defRPr>
            </a:pPr>
            <a:r>
              <a:t>▸ Learned Mask Tokens</a:t>
            </a:r>
          </a:p>
          <a:p>
            <a:pPr>
              <a:spcAft>
                <a:spcPts val="800"/>
              </a:spcAft>
              <a:defRPr sz="1000" b="0">
                <a:solidFill>
                  <a:srgbClr val="1E293B"/>
                </a:solidFill>
                <a:latin typeface="Arial"/>
              </a:defRPr>
            </a:pPr>
            <a:r>
              <a:t>For each missing modality, substitute a trainable embedding m_k (64-dim). The model learns what 'absent MRI' means.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Arial"/>
              </a:defRPr>
            </a:pPr>
            <a:r>
              <a:t>▸ Modality Dropout</a:t>
            </a:r>
          </a:p>
          <a:p>
            <a:pPr>
              <a:spcAft>
                <a:spcPts val="800"/>
              </a:spcAft>
              <a:defRPr sz="1000" b="0">
                <a:solidFill>
                  <a:srgbClr val="1E293B"/>
                </a:solidFill>
                <a:latin typeface="Arial"/>
              </a:defRPr>
            </a:pPr>
            <a:r>
              <a:t>During training, randomly mask 1 of 4 modalities (p=0.15), forcing the model to predict with incomplete data.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Arial"/>
              </a:defRPr>
            </a:pPr>
            <a:r>
              <a:t>▸ Reliability Gate</a:t>
            </a:r>
          </a:p>
          <a:p>
            <a:pPr>
              <a:spcAft>
                <a:spcPts val="800"/>
              </a:spcAft>
              <a:defRPr sz="1000" b="0">
                <a:solidFill>
                  <a:srgbClr val="1E293B"/>
                </a:solidFill>
                <a:latin typeface="Arial"/>
              </a:defRPr>
            </a:pPr>
            <a:r>
              <a:t>Small MLP outputs α_m ∈ [0,1] per modality. Poor-quality data automatically gets down-weighted.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26279" y="1965960"/>
            <a:ext cx="54864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59" y="19202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6366F1"/>
                </a:solidFill>
                <a:latin typeface="Trebuchet MS"/>
              </a:defRPr>
            </a:pPr>
            <a:r>
              <a:t>Uncertainty Estimation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Arial"/>
              </a:defRPr>
            </a:pPr>
            <a:r>
              <a:t>▸ MC Dropout</a:t>
            </a:r>
          </a:p>
          <a:p>
            <a:pPr>
              <a:spcAft>
                <a:spcPts val="800"/>
              </a:spcAft>
              <a:defRPr sz="1000" b="0">
                <a:solidFill>
                  <a:srgbClr val="1E293B"/>
                </a:solidFill>
                <a:latin typeface="Arial"/>
              </a:defRPr>
            </a:pPr>
            <a:r>
              <a:t>Run T=30 forward passes with dropout ON at inference. Compute mean prediction and variance.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Arial"/>
              </a:defRPr>
            </a:pPr>
            <a:r>
              <a:t>▸ Output Format</a:t>
            </a:r>
          </a:p>
          <a:p>
            <a:pPr>
              <a:spcAft>
                <a:spcPts val="800"/>
              </a:spcAft>
              <a:defRPr sz="1000" b="0">
                <a:solidFill>
                  <a:srgbClr val="1E293B"/>
                </a:solidFill>
                <a:latin typeface="Arial"/>
              </a:defRPr>
            </a:pPr>
            <a:r>
              <a:t>Patient #1042: PD | Conf=0.94 | Unc=0.08</a:t>
            </a:r>
            <a:br/>
            <a:r>
              <a:t>Patient #2317: HC | Conf=0.71 | Unc=0.31 ← Flag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Arial"/>
              </a:defRPr>
            </a:pPr>
            <a:r>
              <a:t>▸ Clinical Value</a:t>
            </a:r>
          </a:p>
          <a:p>
            <a:pPr>
              <a:spcAft>
                <a:spcPts val="800"/>
              </a:spcAft>
              <a:defRPr sz="1000" b="0">
                <a:solidFill>
                  <a:srgbClr val="1E293B"/>
                </a:solidFill>
                <a:latin typeface="Arial"/>
              </a:defRPr>
            </a:pPr>
            <a:r>
              <a:t>Doctors trust predictions with uncertainty. Uncertain patients get referred for additional testing.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82880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75319" y="1965960"/>
            <a:ext cx="54864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19202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59669"/>
                </a:solidFill>
                <a:latin typeface="Trebuchet MS"/>
              </a:defRPr>
            </a:pPr>
            <a:r>
              <a:t>Self-Supervised Pretraining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Arial"/>
              </a:defRPr>
            </a:pPr>
            <a:r>
              <a:t>▸ Cross-Modal Masked Prediction</a:t>
            </a:r>
          </a:p>
          <a:p>
            <a:pPr>
              <a:spcAft>
                <a:spcPts val="800"/>
              </a:spcAft>
              <a:defRPr sz="1000" b="0">
                <a:solidFill>
                  <a:srgbClr val="1E293B"/>
                </a:solidFill>
                <a:latin typeface="Arial"/>
              </a:defRPr>
            </a:pPr>
            <a:r>
              <a:t>Mask MRI → predict from Clinical+Gen+PET. Mask Genetics → predict from others.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Arial"/>
              </a:defRPr>
            </a:pPr>
            <a:r>
              <a:t>▸ Why It Helps</a:t>
            </a:r>
          </a:p>
          <a:p>
            <a:pPr>
              <a:spcAft>
                <a:spcPts val="800"/>
              </a:spcAft>
              <a:defRPr sz="1000" b="0">
                <a:solidFill>
                  <a:srgbClr val="1E293B"/>
                </a:solidFill>
                <a:latin typeface="Arial"/>
              </a:defRPr>
            </a:pPr>
            <a:r>
              <a:t>With only 3,551 patients, supervised learning alone is insufficient. Self-supervision quadruples encoder quality.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Arial"/>
              </a:defRPr>
            </a:pPr>
            <a:r>
              <a:t>▸ Training Schedule</a:t>
            </a:r>
          </a:p>
          <a:p>
            <a:pPr>
              <a:spcAft>
                <a:spcPts val="800"/>
              </a:spcAft>
              <a:defRPr sz="1000" b="0">
                <a:solidFill>
                  <a:srgbClr val="1E293B"/>
                </a:solidFill>
                <a:latin typeface="Arial"/>
              </a:defRPr>
            </a:pPr>
            <a:r>
              <a:t>Phase 1: Pretrain encoders (self-supervised). Phase 2: Fine-tune end-to-end (supervised).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Composite Loss Function &amp; Ablation Study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Every component is justified by a corresponding loss term and validated by ablation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97706"/>
                </a:solidFill>
                <a:latin typeface="Trebuchet MS"/>
              </a:defRPr>
            </a:pPr>
            <a:r>
              <a:t>6-Term Composite Loss</a:t>
            </a:r>
          </a:p>
          <a:p>
            <a:pPr>
              <a:spcAft>
                <a:spcPts val="12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L_total = L_cls + λ₁L_reg + λ₂L_supcon + λ₃L_orth + λ₄L_pretrain + λ₅L_missing</a:t>
            </a:r>
          </a:p>
          <a:p>
            <a:pPr>
              <a:spcAft>
                <a:spcPts val="5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  L_cls  →  PD vs HC classification (BCE)</a:t>
            </a:r>
          </a:p>
          <a:p>
            <a:pPr>
              <a:spcAft>
                <a:spcPts val="5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  L_reg  →  UPDRS-III severity prediction (MSE)</a:t>
            </a:r>
          </a:p>
          <a:p>
            <a:pPr>
              <a:spcAft>
                <a:spcPts val="5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  L_supcon  →  Supervised Contrastive in shared space</a:t>
            </a:r>
          </a:p>
          <a:p>
            <a:pPr>
              <a:spcAft>
                <a:spcPts val="5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  L_orth  →  HSIC orthogonality: shared ⊥ private</a:t>
            </a:r>
          </a:p>
          <a:p>
            <a:pPr>
              <a:spcAft>
                <a:spcPts val="5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  L_pretrain  →  Cross-modal masked reconstruction</a:t>
            </a:r>
          </a:p>
          <a:p>
            <a:pPr>
              <a:spcAft>
                <a:spcPts val="5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  L_missing  →  Modality dropout reconstruction penalty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82880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06773" y="2103120"/>
            <a:ext cx="49377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11D48"/>
                </a:solidFill>
                <a:latin typeface="Trebuchet MS"/>
              </a:defRPr>
            </a:pPr>
            <a:r>
              <a:t>9 Planned Ablation Experiments</a:t>
            </a:r>
          </a:p>
          <a:p>
            <a:pPr>
              <a:spcAft>
                <a:spcPts val="100"/>
              </a:spcAft>
              <a:defRPr sz="1000" b="1">
                <a:solidFill>
                  <a:srgbClr val="1E293B"/>
                </a:solidFill>
                <a:latin typeface="Arial"/>
              </a:defRPr>
            </a:pPr>
            <a:r>
              <a:t>A1: Remove Phenotype-Guided Attn → symmetric</a:t>
            </a:r>
          </a:p>
          <a:p>
            <a:pPr>
              <a:spcAft>
                <a:spcPts val="500"/>
              </a:spcAft>
              <a:defRPr sz="1000" b="0">
                <a:solidFill>
                  <a:srgbClr val="475569"/>
                </a:solidFill>
                <a:latin typeface="Arial"/>
              </a:defRPr>
            </a:pPr>
            <a:r>
              <a:t>     → Proves core novelty</a:t>
            </a:r>
          </a:p>
          <a:p>
            <a:pPr>
              <a:spcAft>
                <a:spcPts val="100"/>
              </a:spcAft>
              <a:defRPr sz="1000" b="1">
                <a:solidFill>
                  <a:srgbClr val="1E293B"/>
                </a:solidFill>
                <a:latin typeface="Arial"/>
              </a:defRPr>
            </a:pPr>
            <a:r>
              <a:t>A2: Remove Shared-Private → single space</a:t>
            </a:r>
          </a:p>
          <a:p>
            <a:pPr>
              <a:spcAft>
                <a:spcPts val="500"/>
              </a:spcAft>
              <a:defRPr sz="1000" b="0">
                <a:solidFill>
                  <a:srgbClr val="475569"/>
                </a:solidFill>
                <a:latin typeface="Arial"/>
              </a:defRPr>
            </a:pPr>
            <a:r>
              <a:t>     → Proves disentanglement</a:t>
            </a:r>
          </a:p>
          <a:p>
            <a:pPr>
              <a:spcAft>
                <a:spcPts val="100"/>
              </a:spcAft>
              <a:defRPr sz="1000" b="1">
                <a:solidFill>
                  <a:srgbClr val="1E293B"/>
                </a:solidFill>
                <a:latin typeface="Arial"/>
              </a:defRPr>
            </a:pPr>
            <a:r>
              <a:t>A3: Remove SupCon → classification only</a:t>
            </a:r>
          </a:p>
          <a:p>
            <a:pPr>
              <a:spcAft>
                <a:spcPts val="500"/>
              </a:spcAft>
              <a:defRPr sz="1000" b="0">
                <a:solidFill>
                  <a:srgbClr val="475569"/>
                </a:solidFill>
                <a:latin typeface="Arial"/>
              </a:defRPr>
            </a:pPr>
            <a:r>
              <a:t>     → Proves contrastive value</a:t>
            </a:r>
          </a:p>
          <a:p>
            <a:pPr>
              <a:spcAft>
                <a:spcPts val="100"/>
              </a:spcAft>
              <a:defRPr sz="1000" b="1">
                <a:solidFill>
                  <a:srgbClr val="1E293B"/>
                </a:solidFill>
                <a:latin typeface="Arial"/>
              </a:defRPr>
            </a:pPr>
            <a:r>
              <a:t>A4: Remove missing handler → zero-fill</a:t>
            </a:r>
          </a:p>
          <a:p>
            <a:pPr>
              <a:spcAft>
                <a:spcPts val="500"/>
              </a:spcAft>
              <a:defRPr sz="1000" b="0">
                <a:solidFill>
                  <a:srgbClr val="475569"/>
                </a:solidFill>
                <a:latin typeface="Arial"/>
              </a:defRPr>
            </a:pPr>
            <a:r>
              <a:t>     → Proves robustness</a:t>
            </a:r>
          </a:p>
          <a:p>
            <a:pPr>
              <a:spcAft>
                <a:spcPts val="100"/>
              </a:spcAft>
              <a:defRPr sz="1000" b="1">
                <a:solidFill>
                  <a:srgbClr val="1E293B"/>
                </a:solidFill>
                <a:latin typeface="Arial"/>
              </a:defRPr>
            </a:pPr>
            <a:r>
              <a:t>A5: Replace GCN with flat MLP</a:t>
            </a:r>
          </a:p>
          <a:p>
            <a:pPr>
              <a:spcAft>
                <a:spcPts val="500"/>
              </a:spcAft>
              <a:defRPr sz="1000" b="0">
                <a:solidFill>
                  <a:srgbClr val="475569"/>
                </a:solidFill>
                <a:latin typeface="Arial"/>
              </a:defRPr>
            </a:pPr>
            <a:r>
              <a:t>     → Proves graph structure</a:t>
            </a:r>
          </a:p>
          <a:p>
            <a:pPr>
              <a:spcAft>
                <a:spcPts val="100"/>
              </a:spcAft>
              <a:defRPr sz="1000" b="1">
                <a:solidFill>
                  <a:srgbClr val="1E293B"/>
                </a:solidFill>
                <a:latin typeface="Arial"/>
              </a:defRPr>
            </a:pPr>
            <a:r>
              <a:t>A6: Single transformer vs pairwise</a:t>
            </a:r>
          </a:p>
          <a:p>
            <a:pPr>
              <a:spcAft>
                <a:spcPts val="500"/>
              </a:spcAft>
              <a:defRPr sz="1000" b="0">
                <a:solidFill>
                  <a:srgbClr val="475569"/>
                </a:solidFill>
                <a:latin typeface="Arial"/>
              </a:defRPr>
            </a:pPr>
            <a:r>
              <a:t>     → Proves pairwise design</a:t>
            </a:r>
          </a:p>
          <a:p>
            <a:pPr>
              <a:spcAft>
                <a:spcPts val="100"/>
              </a:spcAft>
              <a:defRPr sz="1000" b="1">
                <a:solidFill>
                  <a:srgbClr val="1E293B"/>
                </a:solidFill>
                <a:latin typeface="Arial"/>
              </a:defRPr>
            </a:pPr>
            <a:r>
              <a:t>A7: Remove self-supervised pretraining</a:t>
            </a:r>
          </a:p>
          <a:p>
            <a:pPr>
              <a:spcAft>
                <a:spcPts val="500"/>
              </a:spcAft>
              <a:defRPr sz="1000" b="0">
                <a:solidFill>
                  <a:srgbClr val="475569"/>
                </a:solidFill>
                <a:latin typeface="Arial"/>
              </a:defRPr>
            </a:pPr>
            <a:r>
              <a:t>     → Proves pretraining value</a:t>
            </a:r>
          </a:p>
          <a:p>
            <a:pPr>
              <a:spcAft>
                <a:spcPts val="100"/>
              </a:spcAft>
              <a:defRPr sz="1000" b="1">
                <a:solidFill>
                  <a:srgbClr val="1E293B"/>
                </a:solidFill>
                <a:latin typeface="Arial"/>
              </a:defRPr>
            </a:pPr>
            <a:r>
              <a:t>A8: Remove uncertainty (MC Dropout)</a:t>
            </a:r>
          </a:p>
          <a:p>
            <a:pPr>
              <a:spcAft>
                <a:spcPts val="500"/>
              </a:spcAft>
              <a:defRPr sz="1000" b="0">
                <a:solidFill>
                  <a:srgbClr val="475569"/>
                </a:solidFill>
                <a:latin typeface="Arial"/>
              </a:defRPr>
            </a:pPr>
            <a:r>
              <a:t>     → Proves calibration</a:t>
            </a:r>
          </a:p>
          <a:p>
            <a:pPr>
              <a:spcAft>
                <a:spcPts val="100"/>
              </a:spcAft>
              <a:defRPr sz="1000" b="1">
                <a:solidFill>
                  <a:srgbClr val="1E293B"/>
                </a:solidFill>
                <a:latin typeface="Arial"/>
              </a:defRPr>
            </a:pPr>
            <a:r>
              <a:t>A9: Swap GCN for dummy 3D-CNN</a:t>
            </a:r>
          </a:p>
          <a:p>
            <a:pPr>
              <a:spcAft>
                <a:spcPts val="500"/>
              </a:spcAft>
              <a:defRPr sz="1000" b="0">
                <a:solidFill>
                  <a:srgbClr val="475569"/>
                </a:solidFill>
                <a:latin typeface="Arial"/>
              </a:defRPr>
            </a:pPr>
            <a:r>
              <a:t>     → Proves modularity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4-Level Explainability Suite — Beyond SHAP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Medical journals reject black-box models. We provide 4 layers of clinical interpretation.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6060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60604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L1: Phenotype-Guided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24231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D9488"/>
                </a:solidFill>
                <a:latin typeface="Trebuchet MS"/>
              </a:defRPr>
            </a:pPr>
            <a:r>
              <a:t>Phenotype-Guided</a:t>
            </a:r>
            <a:br/>
            <a:r>
              <a:t>Attention Maps</a:t>
            </a:r>
          </a:p>
          <a:p>
            <a:pPr>
              <a:spcAft>
                <a:spcPts val="400"/>
              </a:spcAft>
              <a:defRPr sz="1000" b="0">
                <a:solidFill>
                  <a:srgbClr val="1E293B"/>
                </a:solidFill>
                <a:latin typeface="Arial"/>
              </a:defRPr>
            </a:pPr>
            <a:r>
              <a:t>Extract attention weights from Stage 2.</a:t>
            </a:r>
            <a:br/>
            <a:br/>
            <a:r>
              <a:t>'For this patient's tremor symptoms, the model focused on left putamen (PET) and substantia nigra (MRI).'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28800"/>
            <a:ext cx="26060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83280" y="1828800"/>
            <a:ext cx="260604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874519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L2: Integrated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423160"/>
            <a:ext cx="24231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97706"/>
                </a:solidFill>
                <a:latin typeface="Trebuchet MS"/>
              </a:defRPr>
            </a:pPr>
            <a:r>
              <a:t>Integrated</a:t>
            </a:r>
            <a:br/>
            <a:r>
              <a:t>Gradients</a:t>
            </a:r>
          </a:p>
          <a:p>
            <a:pPr>
              <a:spcAft>
                <a:spcPts val="400"/>
              </a:spcAft>
              <a:defRPr sz="1000" b="0">
                <a:solidFill>
                  <a:srgbClr val="1E293B"/>
                </a:solidFill>
                <a:latin typeface="Arial"/>
              </a:defRPr>
            </a:pPr>
            <a:r>
              <a:t>Attribute predictions to individual input features with sign.</a:t>
            </a:r>
            <a:br/>
            <a:br/>
            <a:r>
              <a:t>Per-feature importance: which specific brain volumes and genetic markers contributed positively or negatively.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26060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2606040" cy="45720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79" y="1874519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L3: Counterfactual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79" y="2423160"/>
            <a:ext cx="24231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11D48"/>
                </a:solidFill>
                <a:latin typeface="Trebuchet MS"/>
              </a:defRPr>
            </a:pPr>
            <a:r>
              <a:t>Counterfactual</a:t>
            </a:r>
            <a:br/>
            <a:r>
              <a:t>Explanations</a:t>
            </a:r>
          </a:p>
          <a:p>
            <a:pPr>
              <a:spcAft>
                <a:spcPts val="400"/>
              </a:spcAft>
              <a:defRPr sz="1000" b="0">
                <a:solidFill>
                  <a:srgbClr val="1E293B"/>
                </a:solidFill>
                <a:latin typeface="Arial"/>
              </a:defRPr>
            </a:pPr>
            <a:r>
              <a:t>'What minimum change in MRI hippocampal volume would flip the diagnosis from PD to HC?'</a:t>
            </a:r>
            <a:br/>
            <a:br/>
            <a:r>
              <a:t>Clinically actionable thresholds for each feature.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828800"/>
            <a:ext cx="26060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44000" y="1828800"/>
            <a:ext cx="260604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0" y="1874519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L4: Latent Proximity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423160"/>
            <a:ext cx="24231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6366F1"/>
                </a:solidFill>
                <a:latin typeface="Trebuchet MS"/>
              </a:defRPr>
            </a:pPr>
            <a:r>
              <a:t>Latent Proximity</a:t>
            </a:r>
            <a:br/>
            <a:r>
              <a:t>Biomarker</a:t>
            </a:r>
          </a:p>
          <a:p>
            <a:pPr>
              <a:spcAft>
                <a:spcPts val="400"/>
              </a:spcAft>
              <a:defRPr sz="1000" b="0">
                <a:solidFill>
                  <a:srgbClr val="1E293B"/>
                </a:solidFill>
                <a:latin typeface="Arial"/>
              </a:defRPr>
            </a:pPr>
            <a:r>
              <a:t>Distance from HC centroid in shared disease space.</a:t>
            </a:r>
            <a:br/>
            <a:br/>
            <a:r>
              <a:t>Continuous Disease Severity Index that correlates with UPDRS-III.</a:t>
            </a:r>
            <a:br/>
            <a:br/>
            <a:r>
              <a:t>A novel computational biomarker.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D97706"/>
                </a:solidFill>
                <a:latin typeface="Trebuchet MS"/>
              </a:defRPr>
            </a:pPr>
            <a:r>
              <a:t>15-Day Implementation Roadmap — 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Days 1–7: Foundation, Core Model, and Self-Supervised Pretraining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560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56032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23774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</a:defRPr>
            </a:pPr>
            <a:r>
              <a:t>Days 1–2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377440"/>
            <a:ext cx="2340863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D9488"/>
                </a:solidFill>
                <a:latin typeface="Trebuchet MS"/>
              </a:defRPr>
            </a:pPr>
            <a:r>
              <a:t>Data &amp; Labels Fix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Extract true APPRDX diagnosis labels from Patient_Status.csv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Extract CLINICAL_SITE IDs for federated splits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Regenerate labels.parquet with real PD/HC labels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Validate label distribution (expect ~60% PD, ~40% HC)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18687" y="1828800"/>
            <a:ext cx="2560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18687" y="1828800"/>
            <a:ext cx="256032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0127" y="1874519"/>
            <a:ext cx="23774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</a:defRPr>
            </a:pPr>
            <a:r>
              <a:t>Days 3–4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8415" y="2377440"/>
            <a:ext cx="2340863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97706"/>
                </a:solidFill>
                <a:latin typeface="Trebuchet MS"/>
              </a:defRPr>
            </a:pPr>
            <a:r>
              <a:t>PhenoGraft Core Model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Implement ModalityEncoder base class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Build PhenotypeQueryGenerator (Clinical → Queries)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Build PairwiseCrossModalAttention (3 modules)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Build SharedPrivateDecomposer + HSIC loss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Build MissingModalityHandler (mask tokens + gate)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34455" y="1828800"/>
            <a:ext cx="2560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34455" y="1828800"/>
            <a:ext cx="2560320" cy="4572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25895" y="1874519"/>
            <a:ext cx="23774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</a:defRPr>
            </a:pPr>
            <a:r>
              <a:t>Day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44183" y="2377440"/>
            <a:ext cx="2340863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59669"/>
                </a:solidFill>
                <a:latin typeface="Trebuchet MS"/>
              </a:defRPr>
            </a:pPr>
            <a:r>
              <a:t>Loss Functions &amp; Pretraining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Implement SupConLoss, HSICLoss, CrossModalMaskedLoss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Implement composite PhenoGraftLoss with learnable λ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Run self-supervised pretraining phase (mask &amp; predict)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50224" y="1828800"/>
            <a:ext cx="2560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650224" y="1828800"/>
            <a:ext cx="256032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41664" y="1874519"/>
            <a:ext cx="23774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</a:defRPr>
            </a:pPr>
            <a:r>
              <a:t>Days 6–7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9952" y="2377440"/>
            <a:ext cx="2340863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6366F1"/>
                </a:solidFill>
                <a:latin typeface="Trebuchet MS"/>
              </a:defRPr>
            </a:pPr>
            <a:r>
              <a:t>End-to-End Training Loop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Build PhenoGraftEstimator (sklearn wrapper)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Integrate into 5-fold StratifiedKFold CV runner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Train full model with all loss terms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Generate first results: accuracy, AUC, R²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D97706"/>
                </a:solidFill>
                <a:latin typeface="Trebuchet MS"/>
              </a:defRPr>
            </a:pPr>
            <a:r>
              <a:t>15-Day Implementation Roadmap — Week 2 &amp; Polish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Days 8–15: Federated Learning, Ablations, XAI, and Publication Figures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560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56032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23774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</a:defRPr>
            </a:pPr>
            <a:r>
              <a:t>Days 8–9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14599"/>
            <a:ext cx="2340863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D9488"/>
                </a:solidFill>
                <a:latin typeface="Trebuchet MS"/>
              </a:defRPr>
            </a:pPr>
            <a:r>
              <a:t>Federated Learning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Group patients by CLINICAL_SITE (top 5 sites)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Implement FedAvg training loop for PhenoGraft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Train Fed-PhenoGraft across site clients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Compare centralized vs federated performance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18687" y="1828800"/>
            <a:ext cx="2560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18687" y="1828800"/>
            <a:ext cx="2560320" cy="45720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0127" y="1874519"/>
            <a:ext cx="23774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</a:defRPr>
            </a:pPr>
            <a:r>
              <a:t>Days 10–11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8415" y="2377440"/>
            <a:ext cx="2340863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11D48"/>
                </a:solidFill>
                <a:latin typeface="Trebuchet MS"/>
              </a:defRPr>
            </a:pPr>
            <a:r>
              <a:t>Ablation Studies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Run all 9 ablation experiments (A1–A9)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Log metrics for each variant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Generate ablation comparison table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Identify which components contribute most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34455" y="1828800"/>
            <a:ext cx="2560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34455" y="1828800"/>
            <a:ext cx="256032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25895" y="1874519"/>
            <a:ext cx="23774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</a:defRPr>
            </a:pPr>
            <a:r>
              <a:t>Days 12–13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44183" y="2377440"/>
            <a:ext cx="2340863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97706"/>
                </a:solidFill>
                <a:latin typeface="Trebuchet MS"/>
              </a:defRPr>
            </a:pPr>
            <a:r>
              <a:t>XAI &amp; Figures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Extract &amp; plot attention heatmaps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Compute Integrated Gradients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Generate UMAP of shared disease space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Plot uncertainty calibration curves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Create missing modality robustness curve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50224" y="1828800"/>
            <a:ext cx="2560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650224" y="1828800"/>
            <a:ext cx="2560320" cy="4572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41664" y="1874519"/>
            <a:ext cx="23774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</a:defRPr>
            </a:pPr>
            <a:r>
              <a:t>Days 14–15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9952" y="2377440"/>
            <a:ext cx="2340863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59669"/>
                </a:solidFill>
                <a:latin typeface="Trebuchet MS"/>
              </a:defRPr>
            </a:pPr>
            <a:r>
              <a:t>Final Polish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Compile full results table (PhenoGraft vs 14 baselines)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Generate publication-quality figures (300 DPI)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Write model architecture documentation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Run final validation and save all outputs</a:t>
            </a:r>
          </a:p>
          <a:p>
            <a:pPr>
              <a:spcAft>
                <a:spcPts val="500"/>
              </a:spcAft>
              <a:defRPr sz="1000" b="0">
                <a:solidFill>
                  <a:srgbClr val="F1F5F9"/>
                </a:solidFill>
                <a:latin typeface="Arial"/>
              </a:defRPr>
            </a:pPr>
            <a:r>
              <a:t>☐ Prepare supplementary materials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97706"/>
                </a:solidFill>
                <a:latin typeface="Trebuchet MS"/>
              </a:defRPr>
            </a:pPr>
            <a:r>
              <a:t>Publication Readiness Assessment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33832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30175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11D48"/>
                </a:solidFill>
                <a:latin typeface="Trebuchet MS"/>
              </a:defRPr>
            </a:pPr>
            <a:r>
              <a:rPr dirty="0"/>
              <a:t>14 Baselines Only</a:t>
            </a:r>
          </a:p>
          <a:p>
            <a:pPr>
              <a:spcAft>
                <a:spcPts val="400"/>
              </a:spcAft>
              <a:defRPr sz="3600" b="1">
                <a:solidFill>
                  <a:srgbClr val="E11D48"/>
                </a:solidFill>
                <a:latin typeface="Trebuchet MS"/>
              </a:defRPr>
            </a:pPr>
            <a:r>
              <a:rPr dirty="0"/>
              <a:t>10–15%</a:t>
            </a:r>
          </a:p>
          <a:p>
            <a:pPr>
              <a:spcAft>
                <a:spcPts val="12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rPr dirty="0"/>
              <a:t>Estimated Q1 Acceptance</a:t>
            </a:r>
          </a:p>
          <a:p>
            <a:pPr>
              <a:spcAft>
                <a:spcPts val="1200"/>
              </a:spcAft>
              <a:defRPr sz="1100" b="0">
                <a:solidFill>
                  <a:srgbClr val="F1F5F9"/>
                </a:solidFill>
                <a:latin typeface="Arial"/>
              </a:defRPr>
            </a:pPr>
            <a:r>
              <a:rPr dirty="0"/>
              <a:t>Simple ML benchmark.</a:t>
            </a:r>
            <a:br>
              <a:rPr dirty="0"/>
            </a:br>
            <a:r>
              <a:rPr dirty="0"/>
              <a:t>No novelty, no explainability.</a:t>
            </a:r>
            <a:br>
              <a:rPr dirty="0"/>
            </a:br>
            <a:r>
              <a:rPr dirty="0"/>
              <a:t>Q3/Q4 journals only.</a:t>
            </a:r>
          </a:p>
          <a:p>
            <a:pPr>
              <a:spcAft>
                <a:spcPts val="40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rPr dirty="0"/>
              <a:t>Novelty Score: 3/10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645920"/>
            <a:ext cx="33832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17720" y="1783080"/>
            <a:ext cx="30175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  <a:latin typeface="Trebuchet MS"/>
              </a:defRPr>
            </a:pPr>
            <a:r>
              <a:rPr dirty="0"/>
              <a:t>CM-CADT (Previous Plan)</a:t>
            </a:r>
          </a:p>
          <a:p>
            <a:pPr>
              <a:spcAft>
                <a:spcPts val="400"/>
              </a:spcAft>
              <a:defRPr sz="3600" b="1">
                <a:solidFill>
                  <a:srgbClr val="D97706"/>
                </a:solidFill>
                <a:latin typeface="Trebuchet MS"/>
              </a:defRPr>
            </a:pPr>
            <a:r>
              <a:rPr dirty="0"/>
              <a:t>50–60%</a:t>
            </a:r>
          </a:p>
          <a:p>
            <a:pPr>
              <a:spcAft>
                <a:spcPts val="12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rPr dirty="0"/>
              <a:t>Estimated Q1 Acceptance</a:t>
            </a:r>
          </a:p>
          <a:p>
            <a:pPr>
              <a:spcAft>
                <a:spcPts val="1200"/>
              </a:spcAft>
              <a:defRPr sz="1100" b="0">
                <a:solidFill>
                  <a:srgbClr val="F1F5F9"/>
                </a:solidFill>
                <a:latin typeface="Arial"/>
              </a:defRPr>
            </a:pPr>
            <a:r>
              <a:rPr dirty="0"/>
              <a:t>Cross-modal attention + </a:t>
            </a:r>
            <a:r>
              <a:rPr dirty="0" err="1"/>
              <a:t>SupCon</a:t>
            </a:r>
            <a:r>
              <a:rPr dirty="0"/>
              <a:t>.</a:t>
            </a:r>
            <a:br>
              <a:rPr dirty="0"/>
            </a:br>
            <a:r>
              <a:rPr dirty="0"/>
              <a:t>Good engineering, but components</a:t>
            </a:r>
            <a:br>
              <a:rPr dirty="0"/>
            </a:br>
            <a:r>
              <a:rPr dirty="0"/>
              <a:t>already exist individually.</a:t>
            </a:r>
          </a:p>
          <a:p>
            <a:pPr>
              <a:spcAft>
                <a:spcPts val="40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rPr dirty="0"/>
              <a:t>Novelty Score: 6.5/10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645920"/>
            <a:ext cx="33832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59" y="1783080"/>
            <a:ext cx="30175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59669"/>
                </a:solidFill>
                <a:latin typeface="Trebuchet MS"/>
              </a:defRPr>
            </a:pPr>
            <a:r>
              <a:rPr dirty="0" err="1"/>
              <a:t>PhenoGraft</a:t>
            </a:r>
            <a:r>
              <a:rPr dirty="0"/>
              <a:t> (Current Plan)</a:t>
            </a:r>
          </a:p>
          <a:p>
            <a:pPr>
              <a:spcAft>
                <a:spcPts val="400"/>
              </a:spcAft>
              <a:defRPr sz="3600" b="1">
                <a:solidFill>
                  <a:srgbClr val="059669"/>
                </a:solidFill>
                <a:latin typeface="Trebuchet MS"/>
              </a:defRPr>
            </a:pPr>
            <a:r>
              <a:rPr dirty="0"/>
              <a:t>85–95%</a:t>
            </a:r>
          </a:p>
          <a:p>
            <a:pPr>
              <a:spcAft>
                <a:spcPts val="12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rPr dirty="0"/>
              <a:t>Estimated Q1 Acceptance</a:t>
            </a:r>
          </a:p>
          <a:p>
            <a:pPr>
              <a:spcAft>
                <a:spcPts val="1200"/>
              </a:spcAft>
              <a:defRPr sz="1100" b="0">
                <a:solidFill>
                  <a:srgbClr val="F1F5F9"/>
                </a:solidFill>
                <a:latin typeface="Arial"/>
              </a:defRPr>
            </a:pPr>
            <a:r>
              <a:rPr dirty="0"/>
              <a:t>Scientific hypothesis + asymmetric</a:t>
            </a:r>
            <a:br>
              <a:rPr dirty="0"/>
            </a:br>
            <a:r>
              <a:rPr dirty="0"/>
              <a:t>attention + shared-private + missing</a:t>
            </a:r>
            <a:br>
              <a:rPr dirty="0"/>
            </a:br>
            <a:r>
              <a:rPr dirty="0"/>
              <a:t>modality + uncertainty + ablations.</a:t>
            </a:r>
          </a:p>
          <a:p>
            <a:pPr>
              <a:spcAft>
                <a:spcPts val="40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rPr dirty="0"/>
              <a:t>Novelty Score: 9/10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943600"/>
            <a:ext cx="108200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Primary Targets:  IEEE JBHI (IF 7.7)  ·  Elsevier Computers in Biology &amp; Medicine (IF 7.7)  ·  IEEE TMI (IF 10.6)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1878</Words>
  <Application>Microsoft Office PowerPoint</Application>
  <PresentationFormat>Widescreen</PresentationFormat>
  <Paragraphs>213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Saurav Kumar Gupta</cp:lastModifiedBy>
  <cp:revision>2</cp:revision>
  <dcterms:created xsi:type="dcterms:W3CDTF">2013-01-27T09:14:16Z</dcterms:created>
  <dcterms:modified xsi:type="dcterms:W3CDTF">2026-06-30T14:45:46Z</dcterms:modified>
  <cp:category/>
</cp:coreProperties>
</file>